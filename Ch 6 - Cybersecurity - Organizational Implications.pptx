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88"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8965596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 name="Google Shape;13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1940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0" name="Google Shape;310;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447800" y="2514600"/>
            <a:ext cx="70866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a:t>CA 501 : CYBER SECURITY</a:t>
            </a:r>
            <a:endParaRPr/>
          </a:p>
        </p:txBody>
      </p:sp>
      <p:sp>
        <p:nvSpPr>
          <p:cNvPr id="89" name="Google Shape;89;p13"/>
          <p:cNvSpPr txBox="1">
            <a:spLocks noGrp="1"/>
          </p:cNvSpPr>
          <p:nvPr>
            <p:ph type="subTitle" idx="1"/>
          </p:nvPr>
        </p:nvSpPr>
        <p:spPr>
          <a:xfrm>
            <a:off x="1371600" y="4419600"/>
            <a:ext cx="6953534" cy="12192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3600"/>
              <a:buNone/>
            </a:pPr>
            <a:r>
              <a:rPr lang="en-US" sz="3600">
                <a:solidFill>
                  <a:schemeClr val="dk1"/>
                </a:solidFill>
              </a:rPr>
              <a:t>Chapter 6 – Cyber Security: Organizational Implications</a:t>
            </a:r>
            <a:endParaRPr/>
          </a:p>
        </p:txBody>
      </p:sp>
      <p:sp>
        <p:nvSpPr>
          <p:cNvPr id="90" name="Google Shape;9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91" name="Google Shape;91;p13" descr="Types of Operating systems | Instrumentation and Control Engineerin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3">
            <a:alphaModFix/>
          </a:blip>
          <a:srcRect/>
          <a:stretch/>
        </p:blipFill>
        <p:spPr>
          <a:xfrm>
            <a:off x="5362575" y="160338"/>
            <a:ext cx="3609438" cy="1636712"/>
          </a:xfrm>
          <a:prstGeom prst="rect">
            <a:avLst/>
          </a:prstGeom>
          <a:noFill/>
          <a:ln>
            <a:noFill/>
          </a:ln>
        </p:spPr>
      </p:pic>
      <p:pic>
        <p:nvPicPr>
          <p:cNvPr id="93" name="Google Shape;93;p13"/>
          <p:cNvPicPr preferRelativeResize="0"/>
          <p:nvPr/>
        </p:nvPicPr>
        <p:blipFill rotWithShape="1">
          <a:blip r:embed="rId4">
            <a:alphaModFix/>
          </a:blip>
          <a:srcRect/>
          <a:stretch/>
        </p:blipFill>
        <p:spPr>
          <a:xfrm>
            <a:off x="155575" y="207169"/>
            <a:ext cx="2971800" cy="1543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457200" y="179104"/>
            <a:ext cx="8229600" cy="8581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4400"/>
              <a:buFont typeface="Calibri"/>
              <a:buNone/>
            </a:pPr>
            <a:r>
              <a:rPr lang="en-US"/>
              <a:t>Let’s Start</a:t>
            </a:r>
            <a:endParaRPr/>
          </a:p>
        </p:txBody>
      </p:sp>
      <p:sp>
        <p:nvSpPr>
          <p:cNvPr id="99" name="Google Shape;99;p14"/>
          <p:cNvSpPr txBox="1">
            <a:spLocks noGrp="1"/>
          </p:cNvSpPr>
          <p:nvPr>
            <p:ph type="body" idx="1"/>
          </p:nvPr>
        </p:nvSpPr>
        <p:spPr>
          <a:xfrm>
            <a:off x="457200" y="1037230"/>
            <a:ext cx="8371112" cy="568424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31859B"/>
              </a:buClr>
              <a:buSzPts val="3200"/>
              <a:buNone/>
            </a:pPr>
            <a:r>
              <a:rPr lang="en-US">
                <a:solidFill>
                  <a:srgbClr val="538CD5"/>
                </a:solidFill>
              </a:rPr>
              <a:t>Topics:</a:t>
            </a:r>
            <a:endParaRPr>
              <a:solidFill>
                <a:srgbClr val="538CD5"/>
              </a:solidFill>
            </a:endParaRPr>
          </a:p>
          <a:p>
            <a:pPr marL="114300" lvl="0" indent="0" algn="l" rtl="0">
              <a:lnSpc>
                <a:spcPct val="100000"/>
              </a:lnSpc>
              <a:spcBef>
                <a:spcPts val="360"/>
              </a:spcBef>
              <a:spcAft>
                <a:spcPts val="0"/>
              </a:spcAft>
              <a:buSzPts val="1800"/>
              <a:buNone/>
            </a:pPr>
            <a:endParaRPr sz="2000">
              <a:solidFill>
                <a:srgbClr val="538CD5"/>
              </a:solidFill>
            </a:endParaRPr>
          </a:p>
          <a:p>
            <a:pPr marL="114300" lvl="0" indent="0" algn="l" rtl="0">
              <a:lnSpc>
                <a:spcPct val="100000"/>
              </a:lnSpc>
              <a:spcBef>
                <a:spcPts val="360"/>
              </a:spcBef>
              <a:spcAft>
                <a:spcPts val="0"/>
              </a:spcAft>
              <a:buSzPts val="1800"/>
              <a:buNone/>
            </a:pPr>
            <a:endParaRPr sz="2000">
              <a:solidFill>
                <a:srgbClr val="538CD5"/>
              </a:solidFill>
            </a:endParaRPr>
          </a:p>
          <a:p>
            <a:pPr marL="114300" lvl="0" indent="0" algn="l" rtl="0">
              <a:lnSpc>
                <a:spcPct val="100000"/>
              </a:lnSpc>
              <a:spcBef>
                <a:spcPts val="360"/>
              </a:spcBef>
              <a:spcAft>
                <a:spcPts val="0"/>
              </a:spcAft>
              <a:buSzPts val="1800"/>
              <a:buNone/>
            </a:pPr>
            <a:endParaRPr sz="2000">
              <a:solidFill>
                <a:srgbClr val="538CD5"/>
              </a:solidFill>
            </a:endParaRPr>
          </a:p>
          <a:p>
            <a:pPr marL="114300" lvl="0" indent="0" algn="l" rtl="0">
              <a:lnSpc>
                <a:spcPct val="100000"/>
              </a:lnSpc>
              <a:spcBef>
                <a:spcPts val="360"/>
              </a:spcBef>
              <a:spcAft>
                <a:spcPts val="0"/>
              </a:spcAft>
              <a:buSzPts val="1800"/>
              <a:buNone/>
            </a:pPr>
            <a:r>
              <a:rPr lang="en-US" sz="2000">
                <a:solidFill>
                  <a:srgbClr val="538CD5"/>
                </a:solidFill>
              </a:rPr>
              <a:t>6.1 Organizational Implications: Cost of cybercrimes and IPR issues</a:t>
            </a:r>
            <a:endParaRPr/>
          </a:p>
          <a:p>
            <a:pPr marL="114300" lvl="0" indent="0" algn="l" rtl="0">
              <a:lnSpc>
                <a:spcPct val="100000"/>
              </a:lnSpc>
              <a:spcBef>
                <a:spcPts val="360"/>
              </a:spcBef>
              <a:spcAft>
                <a:spcPts val="0"/>
              </a:spcAft>
              <a:buSzPts val="1800"/>
              <a:buNone/>
            </a:pPr>
            <a:r>
              <a:rPr lang="en-US" sz="2000">
                <a:solidFill>
                  <a:srgbClr val="538CD5"/>
                </a:solidFill>
              </a:rPr>
              <a:t>6.2 Web threats for organizations</a:t>
            </a:r>
            <a:endParaRPr/>
          </a:p>
          <a:p>
            <a:pPr marL="114300" lvl="0" indent="0" algn="l" rtl="0">
              <a:lnSpc>
                <a:spcPct val="100000"/>
              </a:lnSpc>
              <a:spcBef>
                <a:spcPts val="360"/>
              </a:spcBef>
              <a:spcAft>
                <a:spcPts val="0"/>
              </a:spcAft>
              <a:buSzPts val="1800"/>
              <a:buNone/>
            </a:pPr>
            <a:r>
              <a:rPr lang="en-US" sz="2000">
                <a:solidFill>
                  <a:srgbClr val="538CD5"/>
                </a:solidFill>
              </a:rPr>
              <a:t>6.3 Security and Privacy Implications from Cloud Computing</a:t>
            </a:r>
            <a:endParaRPr/>
          </a:p>
          <a:p>
            <a:pPr marL="114300" lvl="0" indent="0" algn="l" rtl="0">
              <a:lnSpc>
                <a:spcPct val="100000"/>
              </a:lnSpc>
              <a:spcBef>
                <a:spcPts val="360"/>
              </a:spcBef>
              <a:spcAft>
                <a:spcPts val="0"/>
              </a:spcAft>
              <a:buSzPts val="1800"/>
              <a:buNone/>
            </a:pPr>
            <a:r>
              <a:rPr lang="en-US" sz="2000">
                <a:solidFill>
                  <a:srgbClr val="538CD5"/>
                </a:solidFill>
              </a:rPr>
              <a:t>6.4 Social media marketing</a:t>
            </a:r>
            <a:endParaRPr/>
          </a:p>
          <a:p>
            <a:pPr marL="114300" lvl="0" indent="0" algn="l" rtl="0">
              <a:lnSpc>
                <a:spcPct val="100000"/>
              </a:lnSpc>
              <a:spcBef>
                <a:spcPts val="360"/>
              </a:spcBef>
              <a:spcAft>
                <a:spcPts val="0"/>
              </a:spcAft>
              <a:buSzPts val="1800"/>
              <a:buNone/>
            </a:pPr>
            <a:r>
              <a:rPr lang="en-US" sz="2000">
                <a:solidFill>
                  <a:srgbClr val="538CD5"/>
                </a:solidFill>
              </a:rPr>
              <a:t>6.5 Social computing and the associated challenges for organizations, Protecting people’s privacy in the organization</a:t>
            </a:r>
            <a:endParaRPr/>
          </a:p>
          <a:p>
            <a:pPr marL="114300" lvl="0" indent="0" algn="l" rtl="0">
              <a:lnSpc>
                <a:spcPct val="100000"/>
              </a:lnSpc>
              <a:spcBef>
                <a:spcPts val="360"/>
              </a:spcBef>
              <a:spcAft>
                <a:spcPts val="0"/>
              </a:spcAft>
              <a:buSzPts val="1800"/>
              <a:buNone/>
            </a:pPr>
            <a:r>
              <a:rPr lang="en-US" sz="2000">
                <a:solidFill>
                  <a:srgbClr val="538CD5"/>
                </a:solidFill>
              </a:rPr>
              <a:t>6.6 Organizational guidelines for Internet usage and safe computing guidelines and computer usage policy</a:t>
            </a:r>
            <a:endParaRPr/>
          </a:p>
          <a:p>
            <a:pPr marL="114300" lvl="0" indent="0" algn="l" rtl="0">
              <a:lnSpc>
                <a:spcPct val="100000"/>
              </a:lnSpc>
              <a:spcBef>
                <a:spcPts val="360"/>
              </a:spcBef>
              <a:spcAft>
                <a:spcPts val="0"/>
              </a:spcAft>
              <a:buSzPts val="1800"/>
              <a:buNone/>
            </a:pPr>
            <a:r>
              <a:rPr lang="en-US" sz="2000">
                <a:solidFill>
                  <a:srgbClr val="538CD5"/>
                </a:solidFill>
              </a:rPr>
              <a:t>6.7 Incident handling</a:t>
            </a:r>
            <a:endParaRPr sz="2000">
              <a:solidFill>
                <a:srgbClr val="538CD5"/>
              </a:solidFill>
            </a:endParaRPr>
          </a:p>
        </p:txBody>
      </p:sp>
      <p:sp>
        <p:nvSpPr>
          <p:cNvPr id="100" name="Google Shape;10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pic>
        <p:nvPicPr>
          <p:cNvPr id="101" name="Google Shape;101;p14" descr="QA Software Testing | WebGreedy Technologies"/>
          <p:cNvPicPr preferRelativeResize="0"/>
          <p:nvPr/>
        </p:nvPicPr>
        <p:blipFill rotWithShape="1">
          <a:blip r:embed="rId3">
            <a:alphaModFix/>
          </a:blip>
          <a:srcRect/>
          <a:stretch/>
        </p:blipFill>
        <p:spPr>
          <a:xfrm>
            <a:off x="5347504" y="101601"/>
            <a:ext cx="3672319" cy="229435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600"/>
              <a:t>Organizational Implications: Cost of cybercrimes and IPR issues</a:t>
            </a:r>
            <a:endParaRPr sz="2600"/>
          </a:p>
        </p:txBody>
      </p:sp>
      <p:sp>
        <p:nvSpPr>
          <p:cNvPr id="107" name="Google Shape;107;p1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Businesses around the world have faced a lot of challenges in terms of cyber-attacks especially this past year.</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COVID-19 forced many to shutter their doors, while others required a transition to have their employees work from home. On top of that, cybercrime increased in both sophistication and frequency.</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It's predicted that in 2022, 2 out of 3 cyber-attacks will be undetectable without human involvement. </a:t>
            </a:r>
            <a:r>
              <a:rPr lang="en-US" sz="2000" dirty="0">
                <a:solidFill>
                  <a:srgbClr val="538CD5"/>
                </a:solidFill>
              </a:rPr>
              <a:t>Ransomware will continue to rise in volume, and cloud configuration will remain a top threat vector.</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However, the cost of cybercrime isn't limited to information vulnerability. These attacks are losing businesses billions of dollars each and every year.</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advancement in e-commerce and e-business has led to an important concern to the companies and organizations to protect their intellectual property rights online. Nowadays, cybercrimes do not only confine itself to fraud, cyber bullying, identity thefts but also infringement of copyrights and trademarks of various business and other organizations.</a:t>
            </a:r>
            <a:endParaRPr sz="2000" dirty="0">
              <a:solidFill>
                <a:srgbClr val="538CD5"/>
              </a:solidFill>
            </a:endParaRPr>
          </a:p>
          <a:p>
            <a:pPr marL="0" lvl="0" indent="0" algn="l" rtl="0">
              <a:lnSpc>
                <a:spcPct val="100000"/>
              </a:lnSpc>
              <a:spcBef>
                <a:spcPts val="0"/>
              </a:spcBef>
              <a:spcAft>
                <a:spcPts val="0"/>
              </a:spcAft>
              <a:buSzPts val="2000"/>
              <a:buNone/>
            </a:pPr>
            <a:endParaRPr sz="2000" dirty="0"/>
          </a:p>
        </p:txBody>
      </p:sp>
      <p:sp>
        <p:nvSpPr>
          <p:cNvPr id="108" name="Google Shape;108;p1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600"/>
              <a:t>Organizational Implications: Cost of cybercrimes and IPR issues</a:t>
            </a:r>
            <a:endParaRPr sz="2600"/>
          </a:p>
        </p:txBody>
      </p:sp>
      <p:sp>
        <p:nvSpPr>
          <p:cNvPr id="114" name="Google Shape;114;p1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Intellectual Property Rights (IPR) and Cyber Laws cannot be separated, and online content must be protected.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Intellectual property (IP) is a category of property that includes intangible creations of the human intellect. There are many types of intellectual property, and some countries recognize more than others. The most well-known types are copyrights, patents, trademarks, and trade secrets.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Intellectual property is the product of the human intellect including creativity concepts, inventions, industrial models, trademarks, songs, literature, symbols, names, brands etc. Intellectual Property Rights do not differ from other property rights. They allow their owner to completely benefit from his/her product which was initially an idea that developed and crystallized. They also entitle him/her to prevent others from using, dealing or tampering with his/her product without prior permission from him/her. He/she can in fact legally sue them and force them to stop and compensate for any damages.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15" name="Google Shape;115;p1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600"/>
              <a:t>Organizational Implications: Cost of cybercrimes and IPR issues</a:t>
            </a:r>
            <a:endParaRPr sz="2600"/>
          </a:p>
        </p:txBody>
      </p:sp>
      <p:sp>
        <p:nvSpPr>
          <p:cNvPr id="121" name="Google Shape;121;p1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Cyber space is becoming a core area for intellectual property rights infringement. Various practices by the cyber site operators resulted in violation of intellectual property rights.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There are various rules and guidelines provided by international conventions and treaties to protect infringement of IPRs online which are helping e-commerce and e-businesses to expand.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A new study has revealed a dramatic increase in the overall cost of cyber-crime. The results also revealed the average time it takes to resolve a cyber-attack – 46 days – has increased by nearly 30 percent, with the average cost incurred to resolve a single attack totaling more than $1.9 million.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results also revealed the average time it takes to resolve a cyber-attack – 46 days – has increased by nearly 30 percent during this same six-year period, with the average cost incurred to resolve a single attack totaling more than $1.9 million.</a:t>
            </a: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22" name="Google Shape;122;p1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600"/>
              <a:t>Organizational Implications: Cost of cybercrimes and IPR issues</a:t>
            </a:r>
            <a:endParaRPr sz="2600"/>
          </a:p>
        </p:txBody>
      </p:sp>
      <p:sp>
        <p:nvSpPr>
          <p:cNvPr id="128" name="Google Shape;128;p1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To address this challenging dynamic, we must first understand the threats that pose the most risk and then prioritize the security strategies that can make a difference in minimizing the impact.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As organizations strive to embrace new technologies while protecting their expanded environments, there is a need to shift security strategies from traditional network control and perimeter management to an advanced focus on protecting interactions among users, applications and data.</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29" name="Google Shape;129;p1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pic>
        <p:nvPicPr>
          <p:cNvPr id="130" name="Google Shape;130;p18"/>
          <p:cNvPicPr preferRelativeResize="0"/>
          <p:nvPr/>
        </p:nvPicPr>
        <p:blipFill rotWithShape="1">
          <a:blip r:embed="rId3">
            <a:alphaModFix/>
          </a:blip>
          <a:srcRect/>
          <a:stretch/>
        </p:blipFill>
        <p:spPr>
          <a:xfrm>
            <a:off x="1405719" y="3521122"/>
            <a:ext cx="6045959" cy="32448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600"/>
              <a:t>Organizational Implications: Cost of cybercrimes and IPR issues</a:t>
            </a:r>
            <a:endParaRPr sz="2600"/>
          </a:p>
        </p:txBody>
      </p:sp>
      <p:sp>
        <p:nvSpPr>
          <p:cNvPr id="136" name="Google Shape;136;p1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A study revealed a positive relationship between organizational size (as measured by enterprise seats) and cybercrime cost. The average annualized cost of cybercrime incurred was $15 million, with a range from $1.9 million to $65 million each year per company. The net increase in the cost of cybercrime over the six year span of the study was 82 percent.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most costly cybercrimes are caused by denial of service, malicious insiders and malicious code. These accounted for more than 50 percent of all cybercrime costs per organization on an annual basis.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37" name="Google Shape;137;p1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Web threats for organizations</a:t>
            </a:r>
            <a:endParaRPr/>
          </a:p>
        </p:txBody>
      </p:sp>
      <p:sp>
        <p:nvSpPr>
          <p:cNvPr id="143" name="Google Shape;143;p2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Cyber attackers are day by day changing their attacking techniques and gaining access of an organizations system. An organization must be hyper-aware of all the possible types of cyber-attacks to their network and business.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This has always been one of the most difficult parts of the job, considering the ingenuity and perseverance of the criminals we must guard against, and how frequently cyber-attacks can multiply as our systems (and the technology we rely on) evolve and expand.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There are different types of security threats to organizations which can affect business continuity of an organization, business improvement and reputation. So, there is no way to be completely sure that an organization is free from cyber security threats or attacks.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44" name="Google Shape;144;p2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Web threats for organizations</a:t>
            </a:r>
            <a:endParaRPr/>
          </a:p>
        </p:txBody>
      </p:sp>
      <p:sp>
        <p:nvSpPr>
          <p:cNvPr id="150" name="Google Shape;150;p2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Types of Security Threats to Organizations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1. Computer Viruses</a:t>
            </a:r>
            <a:endParaRPr dirty="0"/>
          </a:p>
          <a:p>
            <a:pPr marL="0" lvl="0" indent="0" algn="l" rtl="0">
              <a:lnSpc>
                <a:spcPct val="100000"/>
              </a:lnSpc>
              <a:spcBef>
                <a:spcPts val="0"/>
              </a:spcBef>
              <a:spcAft>
                <a:spcPts val="0"/>
              </a:spcAft>
              <a:buSzPts val="2000"/>
              <a:buNone/>
            </a:pPr>
            <a:r>
              <a:rPr lang="en-US" sz="2000" dirty="0">
                <a:solidFill>
                  <a:srgbClr val="538CD5"/>
                </a:solidFill>
              </a:rPr>
              <a:t>2. Trojans Horse</a:t>
            </a:r>
            <a:endParaRPr dirty="0"/>
          </a:p>
          <a:p>
            <a:pPr marL="0" lvl="0" indent="0" algn="l" rtl="0">
              <a:lnSpc>
                <a:spcPct val="100000"/>
              </a:lnSpc>
              <a:spcBef>
                <a:spcPts val="0"/>
              </a:spcBef>
              <a:spcAft>
                <a:spcPts val="0"/>
              </a:spcAft>
              <a:buSzPts val="2000"/>
              <a:buNone/>
            </a:pPr>
            <a:r>
              <a:rPr lang="en-US" sz="2000" dirty="0">
                <a:solidFill>
                  <a:srgbClr val="538CD5"/>
                </a:solidFill>
              </a:rPr>
              <a:t>3. Adware</a:t>
            </a:r>
            <a:endParaRPr dirty="0"/>
          </a:p>
          <a:p>
            <a:pPr marL="0" lvl="0" indent="0" algn="l" rtl="0">
              <a:lnSpc>
                <a:spcPct val="100000"/>
              </a:lnSpc>
              <a:spcBef>
                <a:spcPts val="0"/>
              </a:spcBef>
              <a:spcAft>
                <a:spcPts val="0"/>
              </a:spcAft>
              <a:buSzPts val="2000"/>
              <a:buNone/>
            </a:pPr>
            <a:r>
              <a:rPr lang="en-US" sz="2000" dirty="0">
                <a:solidFill>
                  <a:srgbClr val="538CD5"/>
                </a:solidFill>
              </a:rPr>
              <a:t>4. Spyware</a:t>
            </a:r>
            <a:endParaRPr dirty="0"/>
          </a:p>
          <a:p>
            <a:pPr marL="0" lvl="0" indent="0" algn="l" rtl="0">
              <a:lnSpc>
                <a:spcPct val="100000"/>
              </a:lnSpc>
              <a:spcBef>
                <a:spcPts val="0"/>
              </a:spcBef>
              <a:spcAft>
                <a:spcPts val="0"/>
              </a:spcAft>
              <a:buSzPts val="2000"/>
              <a:buNone/>
            </a:pPr>
            <a:r>
              <a:rPr lang="en-US" sz="2000" dirty="0">
                <a:solidFill>
                  <a:srgbClr val="538CD5"/>
                </a:solidFill>
              </a:rPr>
              <a:t>5. Worm</a:t>
            </a:r>
            <a:endParaRPr dirty="0"/>
          </a:p>
          <a:p>
            <a:pPr marL="0" lvl="0" indent="0" algn="l" rtl="0">
              <a:lnSpc>
                <a:spcPct val="100000"/>
              </a:lnSpc>
              <a:spcBef>
                <a:spcPts val="0"/>
              </a:spcBef>
              <a:spcAft>
                <a:spcPts val="0"/>
              </a:spcAft>
              <a:buSzPts val="2000"/>
              <a:buNone/>
            </a:pPr>
            <a:r>
              <a:rPr lang="en-US" sz="2000" dirty="0">
                <a:solidFill>
                  <a:srgbClr val="538CD5"/>
                </a:solidFill>
              </a:rPr>
              <a:t>6. Denial-of-Service (DoS) Attacks</a:t>
            </a:r>
            <a:endParaRPr dirty="0"/>
          </a:p>
          <a:p>
            <a:pPr marL="0" lvl="0" indent="0" algn="l" rtl="0">
              <a:lnSpc>
                <a:spcPct val="100000"/>
              </a:lnSpc>
              <a:spcBef>
                <a:spcPts val="0"/>
              </a:spcBef>
              <a:spcAft>
                <a:spcPts val="0"/>
              </a:spcAft>
              <a:buSzPts val="2000"/>
              <a:buNone/>
            </a:pPr>
            <a:r>
              <a:rPr lang="en-US" sz="2000" dirty="0">
                <a:solidFill>
                  <a:srgbClr val="538CD5"/>
                </a:solidFill>
              </a:rPr>
              <a:t>7. Phishing</a:t>
            </a:r>
            <a:endParaRPr dirty="0"/>
          </a:p>
          <a:p>
            <a:pPr marL="0" lvl="0" indent="0" algn="l" rtl="0">
              <a:lnSpc>
                <a:spcPct val="100000"/>
              </a:lnSpc>
              <a:spcBef>
                <a:spcPts val="0"/>
              </a:spcBef>
              <a:spcAft>
                <a:spcPts val="0"/>
              </a:spcAft>
              <a:buSzPts val="2000"/>
              <a:buNone/>
            </a:pPr>
            <a:r>
              <a:rPr lang="en-US" sz="2000" dirty="0">
                <a:solidFill>
                  <a:srgbClr val="538CD5"/>
                </a:solidFill>
              </a:rPr>
              <a:t>8. SQL Injection</a:t>
            </a:r>
            <a:endParaRPr dirty="0"/>
          </a:p>
          <a:p>
            <a:pPr marL="0" lvl="0" indent="0" algn="l" rtl="0">
              <a:lnSpc>
                <a:spcPct val="100000"/>
              </a:lnSpc>
              <a:spcBef>
                <a:spcPts val="0"/>
              </a:spcBef>
              <a:spcAft>
                <a:spcPts val="0"/>
              </a:spcAft>
              <a:buSzPts val="2000"/>
              <a:buNone/>
            </a:pPr>
            <a:r>
              <a:rPr lang="en-US" sz="2000" dirty="0">
                <a:solidFill>
                  <a:srgbClr val="538CD5"/>
                </a:solidFill>
              </a:rPr>
              <a:t>9. Rootkit</a:t>
            </a:r>
            <a:endParaRPr dirty="0"/>
          </a:p>
          <a:p>
            <a:pPr marL="0" lvl="0" indent="0" algn="l" rtl="0">
              <a:lnSpc>
                <a:spcPct val="100000"/>
              </a:lnSpc>
              <a:spcBef>
                <a:spcPts val="0"/>
              </a:spcBef>
              <a:spcAft>
                <a:spcPts val="0"/>
              </a:spcAft>
              <a:buSzPts val="2000"/>
              <a:buNone/>
            </a:pPr>
            <a:r>
              <a:rPr lang="en-US" sz="2000" dirty="0">
                <a:solidFill>
                  <a:srgbClr val="538CD5"/>
                </a:solidFill>
              </a:rPr>
              <a:t>10. Malware</a:t>
            </a:r>
            <a:endParaRPr dirty="0"/>
          </a:p>
          <a:p>
            <a:pPr marL="0" lvl="0" indent="0" algn="l" rtl="0">
              <a:lnSpc>
                <a:spcPct val="100000"/>
              </a:lnSpc>
              <a:spcBef>
                <a:spcPts val="0"/>
              </a:spcBef>
              <a:spcAft>
                <a:spcPts val="0"/>
              </a:spcAft>
              <a:buSzPts val="2000"/>
              <a:buNone/>
            </a:pPr>
            <a:r>
              <a:rPr lang="en-US" sz="2000" dirty="0">
                <a:solidFill>
                  <a:srgbClr val="538CD5"/>
                </a:solidFill>
              </a:rPr>
              <a:t>11. Ransomware</a:t>
            </a: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12. Data breach</a:t>
            </a:r>
            <a:endParaRPr dirty="0"/>
          </a:p>
          <a:p>
            <a:pPr marL="0" lvl="0" indent="0" algn="l" rtl="0">
              <a:lnSpc>
                <a:spcPct val="100000"/>
              </a:lnSpc>
              <a:spcBef>
                <a:spcPts val="0"/>
              </a:spcBef>
              <a:spcAft>
                <a:spcPts val="0"/>
              </a:spcAft>
              <a:buSzPts val="2000"/>
              <a:buNone/>
            </a:pPr>
            <a:r>
              <a:rPr lang="en-US" sz="2000" dirty="0">
                <a:solidFill>
                  <a:srgbClr val="538CD5"/>
                </a:solidFill>
              </a:rPr>
              <a:t>13. Zero day attack</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p>
        </p:txBody>
      </p:sp>
      <p:sp>
        <p:nvSpPr>
          <p:cNvPr id="151" name="Google Shape;151;p2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Web threats for organizations</a:t>
            </a:r>
            <a:endParaRPr/>
          </a:p>
        </p:txBody>
      </p:sp>
      <p:sp>
        <p:nvSpPr>
          <p:cNvPr id="150" name="Google Shape;150;p2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 Zero day attack:</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term "zero-day" (or 0-day) is used for a software exploit or hack referring to the fact that the developer or creator of the at-risk program has only just become aware of it - so they literally have zero days to fix it.</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 zero day vulnerability refers to a hole in software that is unknown to the vendor. This security hole is then exploited by hackers before the vendor becomes aware and hurries to fix it—this exploit is called a zero day attack.</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Example:</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Sony zero-day attack: Sony Pictures was the victim of a zero-day exploit in late 2014. The attack crippled Sony’s network and led to the release of sensitive corporate data on file-sharing sites. The compromised data included details of forthcoming movies, business plans, and the personal email addresses of senior Sony executives. The details of the exact vulnerability exploited in the Sony attack remains unknown.</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p>
        </p:txBody>
      </p:sp>
      <p:sp>
        <p:nvSpPr>
          <p:cNvPr id="151" name="Google Shape;151;p2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Tree>
    <p:extLst>
      <p:ext uri="{BB962C8B-B14F-4D97-AF65-F5344CB8AC3E}">
        <p14:creationId xmlns:p14="http://schemas.microsoft.com/office/powerpoint/2010/main" val="3368505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Security and Privacy Implications from Cloud Computing</a:t>
            </a:r>
            <a:endParaRPr sz="2800"/>
          </a:p>
        </p:txBody>
      </p:sp>
      <p:sp>
        <p:nvSpPr>
          <p:cNvPr id="157" name="Google Shape;157;p2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The need to search and meet ever increasing IT demands has often been seen and based on purely an economical base, transforming computing into a utility where performance and efficiency have become a part of the product. Internet was just the tool, the infrastructure that provided the platform for utilization of new services. Cloud computing has already proved that it can reduce infrastructure costs and offer the ability to pay for services only when requested. Some experts even argue that services delivered via cloud computing should be used as a public utility.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cloud computing has been on the market for years but it was analyzed in details by professionals the last two years ago and it took some time until a common definition emerged. One of the very recent working definitions is brought up by the United States National Standards for Information Technology that defines cloud computing as a model for enabling convenient, on-demand network access to a shared pool of configurable resources that can be rapidly provisioned and released with minimal management effort or service provider interaction.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58" name="Google Shape;158;p2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Security and Privacy Implications from Cloud Computing</a:t>
            </a:r>
            <a:endParaRPr sz="2800"/>
          </a:p>
        </p:txBody>
      </p:sp>
      <p:sp>
        <p:nvSpPr>
          <p:cNvPr id="164" name="Google Shape;164;p2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To understand the scale of cloud computing, one should look at analysis that estimate that within the next five years, the global market will grow to 95 billion dollars and that 12% of the worldwide software will move to the cloud.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It’s a bit easier to understand the concept of cloud computing by providing examples. Google operates several well-known cloud computing services. It offers its user’s applications such as e-mail, word processing, spreadsheets and storage, and hosts them "in the cloud" in other words, on its own servers, not yours. So, for example, you can type a document without maintaining any word processing software on your computer. You can use Google’s software "in the cloud." All you need is an Internet-capable device. It doesn’t even need to be a computer.</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Some of the other major players in cloud computing include: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Google		Salesforce</a:t>
            </a: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Yahoo		Sun Microsystems</a:t>
            </a:r>
            <a:endParaRPr/>
          </a:p>
          <a:p>
            <a:pPr marL="0" lvl="0" indent="0" algn="l" rtl="0">
              <a:lnSpc>
                <a:spcPct val="100000"/>
              </a:lnSpc>
              <a:spcBef>
                <a:spcPts val="0"/>
              </a:spcBef>
              <a:spcAft>
                <a:spcPts val="0"/>
              </a:spcAft>
              <a:buSzPts val="2000"/>
              <a:buNone/>
            </a:pPr>
            <a:r>
              <a:rPr lang="en-US" sz="2000">
                <a:solidFill>
                  <a:srgbClr val="538CD5"/>
                </a:solidFill>
              </a:rPr>
              <a:t>Microsoft	Oracle</a:t>
            </a:r>
            <a:endParaRPr/>
          </a:p>
          <a:p>
            <a:pPr marL="0" lvl="0" indent="0" algn="l" rtl="0">
              <a:lnSpc>
                <a:spcPct val="100000"/>
              </a:lnSpc>
              <a:spcBef>
                <a:spcPts val="0"/>
              </a:spcBef>
              <a:spcAft>
                <a:spcPts val="0"/>
              </a:spcAft>
              <a:buSzPts val="2000"/>
              <a:buNone/>
            </a:pPr>
            <a:r>
              <a:rPr lang="en-US" sz="2000">
                <a:solidFill>
                  <a:srgbClr val="538CD5"/>
                </a:solidFill>
              </a:rPr>
              <a:t>IBM		EMC</a:t>
            </a:r>
            <a:endParaRPr/>
          </a:p>
          <a:p>
            <a:pPr marL="0" lvl="0" indent="0" algn="l" rtl="0">
              <a:lnSpc>
                <a:spcPct val="100000"/>
              </a:lnSpc>
              <a:spcBef>
                <a:spcPts val="0"/>
              </a:spcBef>
              <a:spcAft>
                <a:spcPts val="0"/>
              </a:spcAft>
              <a:buSzPts val="2000"/>
              <a:buNone/>
            </a:pPr>
            <a:r>
              <a:rPr lang="en-US" sz="2000">
                <a:solidFill>
                  <a:srgbClr val="538CD5"/>
                </a:solidFill>
              </a:rPr>
              <a:t>Amazon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65" name="Google Shape;165;p2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4"/>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Security and Privacy Implications from Cloud Computing</a:t>
            </a:r>
            <a:endParaRPr sz="2800"/>
          </a:p>
        </p:txBody>
      </p:sp>
      <p:sp>
        <p:nvSpPr>
          <p:cNvPr id="171" name="Google Shape;171;p24"/>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When users store their data with programs hosted on someone else's hardware, they lose a degree of control over their sensitive information. The responsibility for protecting that information from hackers and internal data breaches then falls into the hands of the hosting company rather than the individual user. There are hidden costs and these are reputation, security and privacy.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Some companies could even willingly share sensitive data with marketing firms. So there is a privacy risk in putting your data in someone else's hands. Obviously, the safest approach is to maintain your data under your own control.</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There are various security and privacy challenges encountered in cloud computing:</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1. Data Confidentiality Issues: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Confidentiality of the user’s data is an important issue to be considered when externalizing and outsourcing extremely delicate and sensitive data to the cloud service provider. </a:t>
            </a: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72" name="Google Shape;172;p24"/>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Security and Privacy Implications from Cloud Computing</a:t>
            </a:r>
            <a:endParaRPr sz="2800"/>
          </a:p>
        </p:txBody>
      </p:sp>
      <p:sp>
        <p:nvSpPr>
          <p:cNvPr id="178" name="Google Shape;178;p2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Personal data should be made unreachable to users who do not have proper authorization to access it and one way of making sure that confidentiality is by the usage of severe access control policies and regulations. The lack of trust between the users and cloud service providers or the cloud database service provider regarding the data is a major security concern and holds back a lot of people from using cloud services.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2. Data Loss Issues: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Data loss or data theft is one of the major security challenges that the cloud providers face. If a cloud vendor has reported data loss or data theft of critical or sensitive material data in the past, more than sixty percent of the users would decline to use the cloud services provided by the vendor. Outages of the cloud services are very frequently visible even from firms such as Dropbox, Microsoft, Amazon, etc., which in turn results in an absence of trust in these services during a critical time. Also, it is quite easy for an attacker to gain access to multiple storage units even if a single one is compromised.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79" name="Google Shape;179;p2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Security and Privacy Implications from Cloud Computing</a:t>
            </a:r>
            <a:endParaRPr sz="2800"/>
          </a:p>
        </p:txBody>
      </p:sp>
      <p:sp>
        <p:nvSpPr>
          <p:cNvPr id="185" name="Google Shape;185;p2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3. Geographical Data Storage Issues: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Since the cloud infrastructure is distributed across different geographical locations spread throughout the world, it is often possible that the user’s data is stored in a location that is out of the legal jurisdiction which leads to the user’s concerns about the legal accessibility of local law enforcement and regulations on data that is stored out of their region. Moreover, the user fears that local laws can be violated due to the dynamic nature of the cloud makes it very difficult to delegate a specific server that is to be used for trans-border data transmission.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4. Multi-Tenancy Security Issues: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Multi-tenancy is a paradigm that follows the concept of sharing computational resources, data storage, applications, and services among different tenants. This is then hosted by the same logical or physical platform at the cloud service provider’s premises. While following this approach, the provider can maximize profits but puts the customer at a risk. Attackers can take undue advantage of the multi-residence opportunities and can launch various attacks against their co-tenants which can result in several privacy challenges.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86" name="Google Shape;186;p2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800"/>
              <a:t>Security and Privacy Implications from Cloud Computing</a:t>
            </a:r>
            <a:endParaRPr sz="2800"/>
          </a:p>
        </p:txBody>
      </p:sp>
      <p:sp>
        <p:nvSpPr>
          <p:cNvPr id="192" name="Google Shape;192;p2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5. Transparency Issues: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In cloud computing security, transparency means the willingness of a cloud service provider to reveal different details and characteristics on its security preparedness. Some of these details compromise policies and regulations on security, privacy, and service level. In addition to the willingness and disposition, when calculating transparency, it is important to notice how reachable the security readiness data and information actually are. It will not matter the extent to which the security facts about an organization are at hand if they are not presented in an organized and easily understandable way for cloud service users and auditors, the transparency of the organization can then also be rated relatively small.</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193" name="Google Shape;193;p2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Social media marketing</a:t>
            </a:r>
            <a:endParaRPr/>
          </a:p>
        </p:txBody>
      </p:sp>
      <p:sp>
        <p:nvSpPr>
          <p:cNvPr id="199" name="Google Shape;199;p2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Social media marketing is the use of social media platforms and websites to promote a product or service. Although the terms e-marketing and digital marketing are still dominant in academia, social media marketing is becoming more popular for both practitioners and researchers. </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Social media marketing is the use of social media platforms to connect with your audience to build your brand, increase sales, and drive website traffic. This involves publishing great content on your social media profiles, listening to and engaging your followers, analyzing your results, and running social media advertisements.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major social media platforms (at the moment) are Facebook, Instagram, Twitter, LinkedIn, Pinterest, YouTube, and Snapchat.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It first started with publishing. Businesses were sharing their content on social media to generate traffic to their websites and, hopefully, sales. But social media has matured far beyond being just a place to broadcast content.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200" name="Google Shape;200;p2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Social media marketing</a:t>
            </a:r>
            <a:endParaRPr/>
          </a:p>
        </p:txBody>
      </p:sp>
      <p:sp>
        <p:nvSpPr>
          <p:cNvPr id="206" name="Google Shape;206;p2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 Most social media platforms have built-in data analytics tools, enabling companies to track the progress, success, and engagement of ad campaigns. Companies address a range of stakeholders through social media marketing, including current and potential customers, current and potential employees, journalists, bloggers, and the general public. On a strategic level, social media marketing includes the management of a marketing campaign, governance, setting the scope (e.g. more active or passive use) and the establishment of a firm's desired social media "culture" and "tone."</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When using social media marketing, firms can allow customers and Internet users to post user-generated content (e.g., online comments, product reviews, etc.) also known as "earned media,” </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p>
        </p:txBody>
      </p:sp>
      <p:sp>
        <p:nvSpPr>
          <p:cNvPr id="207" name="Google Shape;207;p2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18</a:t>
            </a:fld>
            <a:endParaRPr/>
          </a:p>
        </p:txBody>
      </p:sp>
      <p:pic>
        <p:nvPicPr>
          <p:cNvPr id="208" name="Google Shape;208;p29"/>
          <p:cNvPicPr preferRelativeResize="0"/>
          <p:nvPr/>
        </p:nvPicPr>
        <p:blipFill rotWithShape="1">
          <a:blip r:embed="rId3">
            <a:alphaModFix/>
          </a:blip>
          <a:srcRect/>
          <a:stretch/>
        </p:blipFill>
        <p:spPr>
          <a:xfrm>
            <a:off x="3014663" y="4733925"/>
            <a:ext cx="3222364" cy="20319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Social media marketing</a:t>
            </a:r>
            <a:endParaRPr/>
          </a:p>
        </p:txBody>
      </p:sp>
      <p:sp>
        <p:nvSpPr>
          <p:cNvPr id="214" name="Google Shape;214;p3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The term social media marketing (SMM) refers to the use of social media and social networks to market a company’s products and services. Social media marketing provides companies with a way to engage with existing customers and reach new ones while allowing them to promote their desired culture, mission, or tone. Social media marketing has purpose-built data analytics tools that allow marketers to track the success of their efforts.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Social media has changed the way we function as a society, including the way we connect with one another. As platforms like Facebook, Twitter, and Instagram took off, businesses also took notice. They began to use these sites to further their interests through social media marketing. That's because these sites are able to change consumer behavior.</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Social media websites allow marketers to employ a broad range of tactics and strategies to promote content and have people engage with it. Many social networks allow users to provide detailed geographical, demographic, and personal information, which enables marketers to tailor their messages to what is most likely to resonate with users.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215" name="Google Shape;215;p3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dirty="0"/>
              <a:t>Social media marketing</a:t>
            </a:r>
            <a:endParaRPr dirty="0"/>
          </a:p>
        </p:txBody>
      </p:sp>
      <p:sp>
        <p:nvSpPr>
          <p:cNvPr id="221" name="Google Shape;221;p3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Pillars of social media marketing:</a:t>
            </a:r>
            <a:endParaRPr sz="2000" b="1" dirty="0">
              <a:solidFill>
                <a:srgbClr val="538CD5"/>
              </a:solidFill>
            </a:endParaRPr>
          </a:p>
          <a:p>
            <a:pPr marL="0" lvl="0" indent="0" algn="l" rtl="0">
              <a:lnSpc>
                <a:spcPct val="100000"/>
              </a:lnSpc>
              <a:spcBef>
                <a:spcPts val="0"/>
              </a:spcBef>
              <a:spcAft>
                <a:spcPts val="0"/>
              </a:spcAft>
              <a:buSzPts val="2000"/>
              <a:buNone/>
            </a:pPr>
            <a:endParaRPr sz="2000" dirty="0"/>
          </a:p>
          <a:p>
            <a:pPr marL="0" lvl="0" indent="0" algn="l" rtl="0">
              <a:lnSpc>
                <a:spcPct val="100000"/>
              </a:lnSpc>
              <a:spcBef>
                <a:spcPts val="0"/>
              </a:spcBef>
              <a:spcAft>
                <a:spcPts val="0"/>
              </a:spcAft>
              <a:buSzPts val="2000"/>
              <a:buNone/>
            </a:pPr>
            <a:endParaRPr sz="2000" dirty="0"/>
          </a:p>
          <a:p>
            <a:pPr marL="0" lvl="0" indent="0" algn="l" rtl="0">
              <a:lnSpc>
                <a:spcPct val="100000"/>
              </a:lnSpc>
              <a:spcBef>
                <a:spcPts val="0"/>
              </a:spcBef>
              <a:spcAft>
                <a:spcPts val="0"/>
              </a:spcAft>
              <a:buSzPts val="2000"/>
              <a:buNone/>
            </a:pPr>
            <a:endParaRPr sz="2000" dirty="0"/>
          </a:p>
          <a:p>
            <a:pPr marL="0" lvl="0" indent="0" algn="l" rtl="0">
              <a:lnSpc>
                <a:spcPct val="100000"/>
              </a:lnSpc>
              <a:spcBef>
                <a:spcPts val="0"/>
              </a:spcBef>
              <a:spcAft>
                <a:spcPts val="0"/>
              </a:spcAft>
              <a:buSzPts val="2000"/>
              <a:buNone/>
            </a:pPr>
            <a:endParaRPr sz="2000" dirty="0"/>
          </a:p>
          <a:p>
            <a:pPr marL="0" lvl="0" indent="0" algn="l" rtl="0">
              <a:lnSpc>
                <a:spcPct val="100000"/>
              </a:lnSpc>
              <a:spcBef>
                <a:spcPts val="0"/>
              </a:spcBef>
              <a:spcAft>
                <a:spcPts val="0"/>
              </a:spcAft>
              <a:buSzPts val="2000"/>
              <a:buNone/>
            </a:pPr>
            <a:endParaRPr sz="2000" dirty="0"/>
          </a:p>
          <a:p>
            <a:pPr marL="0" lvl="0" indent="0" algn="l" rtl="0">
              <a:lnSpc>
                <a:spcPct val="100000"/>
              </a:lnSpc>
              <a:spcBef>
                <a:spcPts val="0"/>
              </a:spcBef>
              <a:spcAft>
                <a:spcPts val="0"/>
              </a:spcAft>
              <a:buSzPts val="2000"/>
              <a:buNone/>
            </a:pPr>
            <a:endParaRPr sz="2000" dirty="0"/>
          </a:p>
          <a:p>
            <a:pPr marL="0" lvl="0" indent="0" algn="l" rtl="0">
              <a:lnSpc>
                <a:spcPct val="100000"/>
              </a:lnSpc>
              <a:spcBef>
                <a:spcPts val="0"/>
              </a:spcBef>
              <a:spcAft>
                <a:spcPts val="0"/>
              </a:spcAft>
              <a:buSzPts val="2000"/>
              <a:buNone/>
            </a:pPr>
            <a:endParaRPr sz="2000" dirty="0"/>
          </a:p>
          <a:p>
            <a:pPr marL="0" lvl="0" indent="0" algn="l" rtl="0">
              <a:lnSpc>
                <a:spcPct val="100000"/>
              </a:lnSpc>
              <a:spcBef>
                <a:spcPts val="0"/>
              </a:spcBef>
              <a:spcAft>
                <a:spcPts val="0"/>
              </a:spcAft>
              <a:buSzPts val="2000"/>
              <a:buNone/>
            </a:pPr>
            <a:endParaRPr sz="2000" dirty="0"/>
          </a:p>
          <a:p>
            <a:pPr marL="0" lvl="0" indent="0" algn="l" rtl="0">
              <a:lnSpc>
                <a:spcPct val="100000"/>
              </a:lnSpc>
              <a:spcBef>
                <a:spcPts val="0"/>
              </a:spcBef>
              <a:spcAft>
                <a:spcPts val="0"/>
              </a:spcAft>
              <a:buSzPts val="2000"/>
              <a:buNone/>
            </a:pPr>
            <a:endParaRPr sz="2000" dirty="0"/>
          </a:p>
          <a:p>
            <a:pPr marL="0" lvl="0" indent="0" algn="l" rtl="0">
              <a:lnSpc>
                <a:spcPct val="100000"/>
              </a:lnSpc>
              <a:spcBef>
                <a:spcPts val="0"/>
              </a:spcBef>
              <a:spcAft>
                <a:spcPts val="0"/>
              </a:spcAft>
              <a:buSzPts val="2000"/>
              <a:buNone/>
            </a:pPr>
            <a:endParaRPr sz="2000" dirty="0"/>
          </a:p>
          <a:p>
            <a:pPr marL="0" lvl="0" indent="0" algn="l" rtl="0">
              <a:lnSpc>
                <a:spcPct val="100000"/>
              </a:lnSpc>
              <a:spcBef>
                <a:spcPts val="0"/>
              </a:spcBef>
              <a:spcAft>
                <a:spcPts val="0"/>
              </a:spcAft>
              <a:buSzPts val="2000"/>
              <a:buNone/>
            </a:pPr>
            <a:r>
              <a:rPr lang="en-US" sz="2000" b="1" dirty="0">
                <a:solidFill>
                  <a:srgbClr val="538CD5"/>
                </a:solidFill>
              </a:rPr>
              <a:t>- Strategy: </a:t>
            </a:r>
            <a:endParaRPr sz="2000" b="1"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This step involves determining goals, the social media channels to be used, and the type of content that will be shared.</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p:txBody>
      </p:sp>
      <p:sp>
        <p:nvSpPr>
          <p:cNvPr id="222" name="Google Shape;222;p3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20</a:t>
            </a:fld>
            <a:endParaRPr/>
          </a:p>
        </p:txBody>
      </p:sp>
      <p:pic>
        <p:nvPicPr>
          <p:cNvPr id="223" name="Google Shape;223;p31"/>
          <p:cNvPicPr preferRelativeResize="0"/>
          <p:nvPr/>
        </p:nvPicPr>
        <p:blipFill rotWithShape="1">
          <a:blip r:embed="rId3">
            <a:alphaModFix/>
          </a:blip>
          <a:srcRect/>
          <a:stretch/>
        </p:blipFill>
        <p:spPr>
          <a:xfrm>
            <a:off x="955344" y="1665310"/>
            <a:ext cx="6714698" cy="233348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Social media marketing</a:t>
            </a:r>
            <a:endParaRPr/>
          </a:p>
        </p:txBody>
      </p:sp>
      <p:sp>
        <p:nvSpPr>
          <p:cNvPr id="229" name="Google Shape;229;p3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 Planning and Publishing: </a:t>
            </a:r>
            <a:endParaRPr sz="2000" b="1">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Businesses should draft plans of what their content will look like (i.e. will there be videos? Photos? How much script?) and decide when it will be put out on the platform.</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 Listening and Engagement: </a:t>
            </a:r>
            <a:endParaRPr sz="2000" b="1">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Monitoring what users, customers, and others are saying about the posts, brands, and any other business assets. This may require the adoption of a social media engagement tool.</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 Analytics and Reporting: </a:t>
            </a:r>
            <a:endParaRPr sz="2000" b="1">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Part of being on social media knows how far posts are going, so reports of engagement and reach are very important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b="1">
                <a:solidFill>
                  <a:srgbClr val="538CD5"/>
                </a:solidFill>
              </a:rPr>
              <a:t>- Advertising: </a:t>
            </a:r>
            <a:endParaRPr sz="2000" b="1">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Purchasing ads on social media is a great way to promote and further develop a brand.</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230" name="Google Shape;230;p3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400" dirty="0"/>
              <a:t>Social computing and the associated challenges for organizations</a:t>
            </a:r>
            <a:endParaRPr sz="2400" dirty="0"/>
          </a:p>
        </p:txBody>
      </p:sp>
      <p:sp>
        <p:nvSpPr>
          <p:cNvPr id="236" name="Google Shape;236;p3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The social and interactive aspect of online activity is known as social computing. The phrase may be interpreted in contrast to personal computing, which refers to the activities of single users.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It uses computers and software to create communities around shared interests. All of these examples and blogs, wikis, Twitter, RSS, instant messaging, multiplayer gaming, open-source development, and social networking and social bookmarking sites are all forms.</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Social computing is a set of online and/or mobile tools that facilitate user interactions and collaborations that enable users to share experiences, to become content co-creators and to provide value. Social Computing is the process that provides an increased rate of speed of the access to knowledge.</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It's the use of social software within and between organizations and any interested parties such as employees, customers, and partners. Social computing,</a:t>
            </a:r>
            <a:endParaRPr dirty="0"/>
          </a:p>
          <a:p>
            <a:pPr marL="0" lvl="0" indent="0" algn="l" rtl="0">
              <a:lnSpc>
                <a:spcPct val="100000"/>
              </a:lnSpc>
              <a:spcBef>
                <a:spcPts val="0"/>
              </a:spcBef>
              <a:spcAft>
                <a:spcPts val="0"/>
              </a:spcAft>
              <a:buSzPts val="2000"/>
              <a:buNone/>
            </a:pPr>
            <a:endParaRPr sz="2000" b="1"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p>
        </p:txBody>
      </p:sp>
      <p:sp>
        <p:nvSpPr>
          <p:cNvPr id="237" name="Google Shape;237;p3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4"/>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400"/>
              <a:t>Social computing and the associated challenges for organizations</a:t>
            </a:r>
            <a:endParaRPr sz="2400"/>
          </a:p>
        </p:txBody>
      </p:sp>
      <p:sp>
        <p:nvSpPr>
          <p:cNvPr id="243" name="Google Shape;243;p34"/>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Challenges of social computing in business:</a:t>
            </a:r>
            <a:endParaRPr lang="en-US" sz="2000" dirty="0"/>
          </a:p>
          <a:p>
            <a:pPr marL="0" lvl="0" indent="0" algn="l" rtl="0">
              <a:lnSpc>
                <a:spcPct val="100000"/>
              </a:lnSpc>
              <a:spcBef>
                <a:spcPts val="0"/>
              </a:spcBef>
              <a:spcAft>
                <a:spcPts val="0"/>
              </a:spcAft>
              <a:buSzPts val="2000"/>
              <a:buNone/>
            </a:pPr>
            <a:endParaRPr lang="en-US" sz="2000" b="1"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1. Lack of social media literacy amongst workers:</a:t>
            </a: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farther a business is from the technology industry, the less likely that line workers will be familiar with the latest software innovations. Those who haven't been maintaining blogs, updating wiki sites, using social networks, sharing information socially, etc. will require more education than those who do.</a:t>
            </a:r>
            <a:endParaRPr lang="en-US" sz="2000" dirty="0"/>
          </a:p>
          <a:p>
            <a:pPr marL="0" lvl="0" indent="0" algn="l" rtl="0">
              <a:lnSpc>
                <a:spcPct val="100000"/>
              </a:lnSpc>
              <a:spcBef>
                <a:spcPts val="0"/>
              </a:spcBef>
              <a:spcAft>
                <a:spcPts val="0"/>
              </a:spcAft>
              <a:buSzPts val="2000"/>
              <a:buNone/>
            </a:pPr>
            <a:r>
              <a:rPr lang="en-US" sz="2000" dirty="0">
                <a:solidFill>
                  <a:srgbClr val="538CD5"/>
                </a:solidFill>
              </a:rPr>
              <a:t>In short, social computing requires some literacy efforts in most organizations to achieve effectiveness, just like personal computing skills did a few decades ago.</a:t>
            </a:r>
            <a:endParaRPr lang="en-US" sz="2000" dirty="0"/>
          </a:p>
          <a:p>
            <a:pPr marL="0" lvl="0" indent="0" algn="l" rtl="0">
              <a:lnSpc>
                <a:spcPct val="100000"/>
              </a:lnSpc>
              <a:spcBef>
                <a:spcPts val="0"/>
              </a:spcBef>
              <a:spcAft>
                <a:spcPts val="0"/>
              </a:spcAft>
              <a:buSzPts val="2000"/>
              <a:buNone/>
            </a:pPr>
            <a:endParaRPr lang="en-US" sz="2000" b="1"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2. A perception that social tools won't work well in a particular industry:</a:t>
            </a: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There is often an assumption in many specialized industries -- such as medicine or manufacturing, just to cite two random examples -- that social tools won't be a good fit for their specific vertical; that they are unique in some way that makes social business models inappropriate or a non-starter in some way.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b="1" dirty="0">
                <a:solidFill>
                  <a:srgbClr val="538CD5"/>
                </a:solidFill>
              </a:rPr>
              <a:t>3. Social software is still perceived as too risky to use for core business activities:</a:t>
            </a: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There's a sense that social computing is not for operations or key business capabilities.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p:txBody>
      </p:sp>
      <p:sp>
        <p:nvSpPr>
          <p:cNvPr id="244" name="Google Shape;244;p34"/>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5"/>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400"/>
              <a:t>Social computing and the associated challenges for organizations</a:t>
            </a:r>
            <a:endParaRPr sz="2400"/>
          </a:p>
        </p:txBody>
      </p:sp>
      <p:sp>
        <p:nvSpPr>
          <p:cNvPr id="250" name="Google Shape;250;p35"/>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Protecting people’s privacy in the organization:</a:t>
            </a:r>
            <a:endParaRPr b="1"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Most companies keep sensitive personal information in their files—names, Social Security numbers, credit card, or other account data—that identifies customers or employees.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This information often is necessary to fill orders, meet payroll, or perform other necessary business functions. However, if sensitive data falls into the wrong hands, it can lead to fraud, identity theft, or similar harms. Given the cost of a security breach—losing your customers’ trust and perhaps even defending yourself against a lawsuit—safeguarding personal information is just plain good business.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Some businesses may have the expertise in-house to implement an appropriate plan. Others may find it helpful to hire a contractor. Regardless of the size—or nature—of your business, the principles in this brochure will go a long way toward helping you keep data secure.</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p>
        </p:txBody>
      </p:sp>
      <p:sp>
        <p:nvSpPr>
          <p:cNvPr id="251" name="Google Shape;251;p35"/>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6"/>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2400"/>
              <a:t>Social computing and the associated challenges for organizations</a:t>
            </a:r>
            <a:endParaRPr sz="2400"/>
          </a:p>
        </p:txBody>
      </p:sp>
      <p:sp>
        <p:nvSpPr>
          <p:cNvPr id="257" name="Google Shape;257;p36"/>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dirty="0">
                <a:solidFill>
                  <a:srgbClr val="538CD5"/>
                </a:solidFill>
              </a:rPr>
              <a:t> A sound data security plan is built on 5 key principles:</a:t>
            </a:r>
            <a:endParaRPr b="1"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1. TAKE STOCK:</a:t>
            </a:r>
            <a:endParaRPr dirty="0"/>
          </a:p>
          <a:p>
            <a:pPr marL="0" lvl="0" indent="0" algn="l" rtl="0">
              <a:lnSpc>
                <a:spcPct val="100000"/>
              </a:lnSpc>
              <a:spcBef>
                <a:spcPts val="0"/>
              </a:spcBef>
              <a:spcAft>
                <a:spcPts val="0"/>
              </a:spcAft>
              <a:buSzPts val="2000"/>
              <a:buNone/>
            </a:pPr>
            <a:r>
              <a:rPr lang="en-US" sz="2000" dirty="0">
                <a:solidFill>
                  <a:srgbClr val="538CD5"/>
                </a:solidFill>
              </a:rPr>
              <a:t>Know what personal information you have in your files and on your computers.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2. SCALE DOWN:</a:t>
            </a:r>
            <a:endParaRPr dirty="0"/>
          </a:p>
          <a:p>
            <a:pPr marL="0" lvl="0" indent="0" algn="l" rtl="0">
              <a:lnSpc>
                <a:spcPct val="100000"/>
              </a:lnSpc>
              <a:spcBef>
                <a:spcPts val="0"/>
              </a:spcBef>
              <a:spcAft>
                <a:spcPts val="0"/>
              </a:spcAft>
              <a:buSzPts val="2000"/>
              <a:buNone/>
            </a:pPr>
            <a:r>
              <a:rPr lang="en-US" sz="2000" dirty="0">
                <a:solidFill>
                  <a:srgbClr val="538CD5"/>
                </a:solidFill>
              </a:rPr>
              <a:t>Keep only what you need for your business.</a:t>
            </a:r>
            <a:endParaRPr dirty="0"/>
          </a:p>
          <a:p>
            <a:pPr marL="0" lvl="0" indent="0" algn="l" rtl="0">
              <a:lnSpc>
                <a:spcPct val="100000"/>
              </a:lnSpc>
              <a:spcBef>
                <a:spcPts val="0"/>
              </a:spcBef>
              <a:spcAft>
                <a:spcPts val="0"/>
              </a:spcAft>
              <a:buSzPts val="2000"/>
              <a:buNone/>
            </a:pPr>
            <a:r>
              <a:rPr lang="en-US" sz="2000" dirty="0">
                <a:solidFill>
                  <a:srgbClr val="538CD5"/>
                </a:solidFill>
              </a:rPr>
              <a:t>   </a:t>
            </a: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3. LOCK IT:</a:t>
            </a:r>
            <a:endParaRPr dirty="0"/>
          </a:p>
          <a:p>
            <a:pPr marL="0" lvl="0" indent="0" algn="l" rtl="0">
              <a:lnSpc>
                <a:spcPct val="100000"/>
              </a:lnSpc>
              <a:spcBef>
                <a:spcPts val="0"/>
              </a:spcBef>
              <a:spcAft>
                <a:spcPts val="0"/>
              </a:spcAft>
              <a:buSzPts val="2000"/>
              <a:buNone/>
            </a:pPr>
            <a:r>
              <a:rPr lang="en-US" sz="2000" dirty="0">
                <a:solidFill>
                  <a:srgbClr val="538CD5"/>
                </a:solidFill>
              </a:rPr>
              <a:t>Protect the information that you keep.</a:t>
            </a:r>
            <a:endParaRPr dirty="0"/>
          </a:p>
          <a:p>
            <a:pPr marL="0" lvl="0" indent="0" algn="l" rtl="0">
              <a:lnSpc>
                <a:spcPct val="100000"/>
              </a:lnSpc>
              <a:spcBef>
                <a:spcPts val="0"/>
              </a:spcBef>
              <a:spcAft>
                <a:spcPts val="0"/>
              </a:spcAft>
              <a:buSzPts val="2000"/>
              <a:buNone/>
            </a:pPr>
            <a:r>
              <a:rPr lang="en-US" sz="2000" dirty="0">
                <a:solidFill>
                  <a:srgbClr val="538CD5"/>
                </a:solidFill>
              </a:rPr>
              <a:t>   </a:t>
            </a: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4. PITCH IT:</a:t>
            </a:r>
            <a:endParaRPr dirty="0"/>
          </a:p>
          <a:p>
            <a:pPr marL="0" lvl="0" indent="0" algn="l" rtl="0">
              <a:lnSpc>
                <a:spcPct val="100000"/>
              </a:lnSpc>
              <a:spcBef>
                <a:spcPts val="0"/>
              </a:spcBef>
              <a:spcAft>
                <a:spcPts val="0"/>
              </a:spcAft>
              <a:buSzPts val="2000"/>
              <a:buNone/>
            </a:pPr>
            <a:r>
              <a:rPr lang="en-US" sz="2000" dirty="0">
                <a:solidFill>
                  <a:srgbClr val="538CD5"/>
                </a:solidFill>
              </a:rPr>
              <a:t>Properly dispose of what you no longer need.</a:t>
            </a:r>
            <a:endParaRPr dirty="0"/>
          </a:p>
          <a:p>
            <a:pPr marL="0" lvl="0" indent="0" algn="l" rtl="0">
              <a:lnSpc>
                <a:spcPct val="100000"/>
              </a:lnSpc>
              <a:spcBef>
                <a:spcPts val="0"/>
              </a:spcBef>
              <a:spcAft>
                <a:spcPts val="0"/>
              </a:spcAft>
              <a:buSzPts val="2000"/>
              <a:buNone/>
            </a:pPr>
            <a:r>
              <a:rPr lang="en-US" sz="2000" dirty="0">
                <a:solidFill>
                  <a:srgbClr val="538CD5"/>
                </a:solidFill>
              </a:rPr>
              <a:t>    </a:t>
            </a: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5. PLAN AHEAD:</a:t>
            </a:r>
            <a:endParaRPr dirty="0"/>
          </a:p>
          <a:p>
            <a:pPr marL="0" lvl="0" indent="0" algn="l" rtl="0">
              <a:lnSpc>
                <a:spcPct val="100000"/>
              </a:lnSpc>
              <a:spcBef>
                <a:spcPts val="0"/>
              </a:spcBef>
              <a:spcAft>
                <a:spcPts val="0"/>
              </a:spcAft>
              <a:buSzPts val="2000"/>
              <a:buNone/>
            </a:pPr>
            <a:r>
              <a:rPr lang="en-US" sz="2000" dirty="0">
                <a:solidFill>
                  <a:srgbClr val="538CD5"/>
                </a:solidFill>
              </a:rPr>
              <a:t>Create a plan to respond to security incidents.</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p>
        </p:txBody>
      </p:sp>
      <p:sp>
        <p:nvSpPr>
          <p:cNvPr id="258" name="Google Shape;258;p36"/>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7"/>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3600"/>
              <a:t>Organizational guidelines for Internet usage</a:t>
            </a:r>
            <a:endParaRPr sz="3600"/>
          </a:p>
        </p:txBody>
      </p:sp>
      <p:sp>
        <p:nvSpPr>
          <p:cNvPr id="264" name="Google Shape;264;p37"/>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dirty="0">
                <a:solidFill>
                  <a:srgbClr val="538CD5"/>
                </a:solidFill>
              </a:rPr>
              <a:t>Organizational guidelines for Internet usage and safe computing guidelines and computer usage policy</a:t>
            </a:r>
            <a:endParaRPr dirty="0"/>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An internet usage policy provides employees with rules and guidelines about the appropriate use of company equipment, network and Internet access.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Having such a policy in place helps to protect both the business and the employee; the employee will be aware that browsing certain sites or downloading files is prohibited and that the policy must be adhered to or there could be serious repercussions, thus leading to fewer security risks for the business as a result of employee negligence. </a:t>
            </a:r>
          </a:p>
          <a:p>
            <a:pPr marL="0" lvl="0" indent="0" algn="l" rtl="0">
              <a:lnSpc>
                <a:spcPct val="100000"/>
              </a:lnSpc>
              <a:spcBef>
                <a:spcPts val="0"/>
              </a:spcBef>
              <a:spcAft>
                <a:spcPts val="0"/>
              </a:spcAft>
              <a:buSzPts val="2000"/>
              <a:buNone/>
            </a:pPr>
            <a:endParaRPr lang="en-US" sz="2000" dirty="0">
              <a:solidFill>
                <a:srgbClr val="538CD5"/>
              </a:solidFill>
            </a:endParaRPr>
          </a:p>
          <a:p>
            <a:pPr marL="0" lvl="0" indent="0" algn="l" rtl="0">
              <a:lnSpc>
                <a:spcPct val="100000"/>
              </a:lnSpc>
              <a:spcBef>
                <a:spcPts val="0"/>
              </a:spcBef>
              <a:spcAft>
                <a:spcPts val="0"/>
              </a:spcAft>
              <a:buSzPts val="2000"/>
              <a:buNone/>
            </a:pPr>
            <a:r>
              <a:rPr lang="en-US" sz="2000" dirty="0">
                <a:solidFill>
                  <a:srgbClr val="538CD5"/>
                </a:solidFill>
              </a:rPr>
              <a:t>The Internet Usage Policy is an important document that must be signed by all employees upon starting work. </a:t>
            </a: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solidFill>
                <a:srgbClr val="538CD5"/>
              </a:solidFill>
            </a:endParaRPr>
          </a:p>
          <a:p>
            <a:pPr marL="0" lvl="0" indent="0" algn="l" rtl="0">
              <a:lnSpc>
                <a:spcPct val="100000"/>
              </a:lnSpc>
              <a:spcBef>
                <a:spcPts val="0"/>
              </a:spcBef>
              <a:spcAft>
                <a:spcPts val="0"/>
              </a:spcAft>
              <a:buSzPts val="2000"/>
              <a:buNone/>
            </a:pPr>
            <a:endParaRPr sz="2000" dirty="0"/>
          </a:p>
        </p:txBody>
      </p:sp>
      <p:sp>
        <p:nvSpPr>
          <p:cNvPr id="265" name="Google Shape;265;p37"/>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8"/>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3600"/>
              <a:t>Organizational guidelines for Internet usage</a:t>
            </a:r>
            <a:endParaRPr sz="3600"/>
          </a:p>
        </p:txBody>
      </p:sp>
      <p:sp>
        <p:nvSpPr>
          <p:cNvPr id="271" name="Google Shape;271;p38"/>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Computer, email and internet usage:</a:t>
            </a:r>
            <a:endParaRPr sz="2000" b="1">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a:t>
            </a:r>
            <a:endParaRPr/>
          </a:p>
          <a:p>
            <a:pPr marL="0" lvl="0" indent="0" algn="l" rtl="0">
              <a:lnSpc>
                <a:spcPct val="100000"/>
              </a:lnSpc>
              <a:spcBef>
                <a:spcPts val="0"/>
              </a:spcBef>
              <a:spcAft>
                <a:spcPts val="0"/>
              </a:spcAft>
              <a:buSzPts val="2000"/>
              <a:buNone/>
            </a:pPr>
            <a:r>
              <a:rPr lang="en-US" sz="2000">
                <a:solidFill>
                  <a:srgbClr val="538CD5"/>
                </a:solidFill>
              </a:rPr>
              <a:t>Company employees are expected to use the Internet responsibly and productively. Internet access is limited to job-related activities only and personal use is not permitted</a:t>
            </a:r>
            <a:endParaRPr/>
          </a:p>
          <a:p>
            <a:pPr marL="0" lvl="0" indent="0" algn="l" rtl="0">
              <a:lnSpc>
                <a:spcPct val="100000"/>
              </a:lnSpc>
              <a:spcBef>
                <a:spcPts val="0"/>
              </a:spcBef>
              <a:spcAft>
                <a:spcPts val="0"/>
              </a:spcAft>
              <a:buSzPts val="2000"/>
              <a:buNone/>
            </a:pPr>
            <a:r>
              <a:rPr lang="en-US" sz="2000">
                <a:solidFill>
                  <a:srgbClr val="538CD5"/>
                </a:solidFill>
              </a:rPr>
              <a:t>    </a:t>
            </a: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Job-related activities include research and educational tasks that may be found via the Internet that would help in an employee's role.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All Internet data that is composed, transmitted and/or received by company's computer systems is considered to belong to company and is recognized as part of its official data. It is therefore subject to disclosure for legal reasons or to other appropriate third parties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equipment, services and technology used to access the Internet are the property of company and the company reserves the right to monitor Internet traffic and monitor and access data that is composed, sent or received through its online connections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endParaRPr sz="2000"/>
          </a:p>
        </p:txBody>
      </p:sp>
      <p:sp>
        <p:nvSpPr>
          <p:cNvPr id="272" name="Google Shape;272;p38"/>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9"/>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3600"/>
              <a:t>Organizational guidelines for Internet usage</a:t>
            </a:r>
            <a:endParaRPr sz="3600"/>
          </a:p>
        </p:txBody>
      </p:sp>
      <p:sp>
        <p:nvSpPr>
          <p:cNvPr id="278" name="Google Shape;278;p39"/>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Emails sent via the company email system should not contain content that is deemed to be offensive. This includes, though is not restricted to, the use of vulgar or harassing language/images.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All sites and downloads may be monitored and/or blocked by &lt;company&gt; if they are deemed to be harmful and/or not productive to business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The installation of software such as instant messaging technology is strictly prohibited</a:t>
            </a:r>
            <a:endParaRPr sz="2000">
              <a:solidFill>
                <a:srgbClr val="538CD5"/>
              </a:solidFill>
            </a:endParaRPr>
          </a:p>
        </p:txBody>
      </p:sp>
      <p:sp>
        <p:nvSpPr>
          <p:cNvPr id="279" name="Google Shape;279;p39"/>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0"/>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3600"/>
              <a:t>Organizational guidelines for Internet usage</a:t>
            </a:r>
            <a:endParaRPr sz="3600"/>
          </a:p>
        </p:txBody>
      </p:sp>
      <p:sp>
        <p:nvSpPr>
          <p:cNvPr id="285" name="Google Shape;285;p40"/>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b="1">
                <a:solidFill>
                  <a:srgbClr val="538CD5"/>
                </a:solidFill>
              </a:rPr>
              <a:t>Unacceptable use of the internet by employees includes,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Sending or posting discriminatory, harassing, or threatening messages or images on the Internet or via company's email service</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Using computers to perpetrate any form of fraud, and/or software, film or music piracy</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Stealing, using, or disclosing someone else's password without authorization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Downloading, copying or pirating software and electronic files that are copyrighted or without authorization</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Sharing confidential material, trade secrets, or proprietary information outside of the organization</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Hacking into unauthorized websites</a:t>
            </a:r>
            <a:endParaRPr sz="2000">
              <a:solidFill>
                <a:srgbClr val="538CD5"/>
              </a:solidFill>
            </a:endParaRPr>
          </a:p>
        </p:txBody>
      </p:sp>
      <p:sp>
        <p:nvSpPr>
          <p:cNvPr id="286" name="Google Shape;286;p40"/>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1"/>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sz="3600"/>
              <a:t>Organizational guidelines for Internet usage</a:t>
            </a:r>
            <a:endParaRPr sz="3600"/>
          </a:p>
        </p:txBody>
      </p:sp>
      <p:sp>
        <p:nvSpPr>
          <p:cNvPr id="292" name="Google Shape;292;p41"/>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Sending or posting information that is defamatory to the company, its products/services, colleagues and/or customers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Introducing malicious software onto the company network and/or jeopardizing the security of the organization's electronic communications systems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Sending or posting chain letters, solicitations, or advertisements not related to business purposes or activities</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Passing off personal views as representing those of the organization</a:t>
            </a:r>
            <a:endParaRPr sz="2000">
              <a:solidFill>
                <a:srgbClr val="538CD5"/>
              </a:solidFill>
            </a:endParaRPr>
          </a:p>
        </p:txBody>
      </p:sp>
      <p:sp>
        <p:nvSpPr>
          <p:cNvPr id="293" name="Google Shape;293;p41"/>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2"/>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Incident Handling</a:t>
            </a:r>
            <a:endParaRPr/>
          </a:p>
        </p:txBody>
      </p:sp>
      <p:sp>
        <p:nvSpPr>
          <p:cNvPr id="299" name="Google Shape;299;p42"/>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An event is any observable occurrence in a system or network. Events include a user connecting to a file share, a server receiving a request for a web page, a user sending email, and a firewall blocking a connection attempt.</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Computer security incident response has become an important component of information technology (IT) programs. Cybersecurity-related attacks have become not only more numerous and diverse but also more damaging and disruptive. New types of security-related incidents emerge frequently.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Preventive activities based on the results of risk assessments can lower the number of incidents, but not all incidents can be prevented. An incident response capability is therefore necessary for rapidly detecting incidents, minimizing loss and destruction, mitigating the weaknesses that were exploited, and restoring IT services. </a:t>
            </a:r>
            <a:endParaRPr sz="2000">
              <a:solidFill>
                <a:srgbClr val="538CD5"/>
              </a:solidFill>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 Organizations must create, provision, and operate a formal incident response capability. Organizations should reduce the frequency of incidents by effectively securing networks, systems, and applications. </a:t>
            </a:r>
            <a:endParaRPr sz="2000">
              <a:solidFill>
                <a:srgbClr val="538CD5"/>
              </a:solidFill>
            </a:endParaRPr>
          </a:p>
        </p:txBody>
      </p:sp>
      <p:sp>
        <p:nvSpPr>
          <p:cNvPr id="300" name="Google Shape;300;p42"/>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3"/>
          <p:cNvSpPr txBox="1">
            <a:spLocks noGrp="1"/>
          </p:cNvSpPr>
          <p:nvPr>
            <p:ph type="title"/>
          </p:nvPr>
        </p:nvSpPr>
        <p:spPr>
          <a:xfrm>
            <a:off x="0" y="0"/>
            <a:ext cx="9144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4400"/>
              <a:buNone/>
            </a:pPr>
            <a:r>
              <a:rPr lang="en-US"/>
              <a:t>Incident Handling</a:t>
            </a:r>
            <a:endParaRPr/>
          </a:p>
        </p:txBody>
      </p:sp>
      <p:sp>
        <p:nvSpPr>
          <p:cNvPr id="306" name="Google Shape;306;p43"/>
          <p:cNvSpPr txBox="1">
            <a:spLocks noGrp="1"/>
          </p:cNvSpPr>
          <p:nvPr>
            <p:ph type="body" idx="1"/>
          </p:nvPr>
        </p:nvSpPr>
        <p:spPr>
          <a:xfrm>
            <a:off x="228600" y="902825"/>
            <a:ext cx="8763000" cy="5863099"/>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2000">
                <a:solidFill>
                  <a:srgbClr val="538CD5"/>
                </a:solidFill>
              </a:rPr>
              <a:t>- Establishing an incident response capability should include the following actions: </a:t>
            </a:r>
            <a:endParaRPr/>
          </a:p>
          <a:p>
            <a:pPr marL="0" lvl="0" indent="0" algn="l" rtl="0">
              <a:lnSpc>
                <a:spcPct val="100000"/>
              </a:lnSpc>
              <a:spcBef>
                <a:spcPts val="0"/>
              </a:spcBef>
              <a:spcAft>
                <a:spcPts val="0"/>
              </a:spcAft>
              <a:buSzPts val="2000"/>
              <a:buNone/>
            </a:pPr>
            <a:endParaRPr sz="2000">
              <a:solidFill>
                <a:srgbClr val="538CD5"/>
              </a:solidFill>
            </a:endParaRPr>
          </a:p>
          <a:p>
            <a:pPr marL="0" lvl="0" indent="0" algn="l" rtl="0">
              <a:lnSpc>
                <a:spcPct val="100000"/>
              </a:lnSpc>
              <a:spcBef>
                <a:spcPts val="0"/>
              </a:spcBef>
              <a:spcAft>
                <a:spcPts val="0"/>
              </a:spcAft>
              <a:buSzPts val="2000"/>
              <a:buNone/>
            </a:pPr>
            <a:r>
              <a:rPr lang="en-US" sz="2000">
                <a:solidFill>
                  <a:srgbClr val="538CD5"/>
                </a:solidFill>
              </a:rPr>
              <a:t>1.  Creating an incident response policy and plan </a:t>
            </a:r>
            <a:endParaRPr/>
          </a:p>
          <a:p>
            <a:pPr marL="0" lvl="0" indent="0" algn="l" rtl="0">
              <a:lnSpc>
                <a:spcPct val="100000"/>
              </a:lnSpc>
              <a:spcBef>
                <a:spcPts val="0"/>
              </a:spcBef>
              <a:spcAft>
                <a:spcPts val="0"/>
              </a:spcAft>
              <a:buSzPts val="2000"/>
              <a:buNone/>
            </a:pPr>
            <a:r>
              <a:rPr lang="en-US" sz="2000">
                <a:solidFill>
                  <a:srgbClr val="538CD5"/>
                </a:solidFill>
              </a:rPr>
              <a:t>2.  Developing procedures for performing incident handling and reporting </a:t>
            </a:r>
            <a:endParaRPr/>
          </a:p>
          <a:p>
            <a:pPr marL="0" lvl="0" indent="0" algn="l" rtl="0">
              <a:lnSpc>
                <a:spcPct val="100000"/>
              </a:lnSpc>
              <a:spcBef>
                <a:spcPts val="0"/>
              </a:spcBef>
              <a:spcAft>
                <a:spcPts val="0"/>
              </a:spcAft>
              <a:buSzPts val="2000"/>
              <a:buNone/>
            </a:pPr>
            <a:r>
              <a:rPr lang="en-US" sz="2000">
                <a:solidFill>
                  <a:srgbClr val="538CD5"/>
                </a:solidFill>
              </a:rPr>
              <a:t>3.  Setting guidelines for communicating with outside parties regarding incidents </a:t>
            </a:r>
            <a:endParaRPr/>
          </a:p>
          <a:p>
            <a:pPr marL="0" lvl="0" indent="0" algn="l" rtl="0">
              <a:lnSpc>
                <a:spcPct val="100000"/>
              </a:lnSpc>
              <a:spcBef>
                <a:spcPts val="0"/>
              </a:spcBef>
              <a:spcAft>
                <a:spcPts val="0"/>
              </a:spcAft>
              <a:buSzPts val="2000"/>
              <a:buNone/>
            </a:pPr>
            <a:r>
              <a:rPr lang="en-US" sz="2000">
                <a:solidFill>
                  <a:srgbClr val="538CD5"/>
                </a:solidFill>
              </a:rPr>
              <a:t>4.  Selecting a team structure and staffing model </a:t>
            </a:r>
            <a:endParaRPr/>
          </a:p>
          <a:p>
            <a:pPr marL="0" lvl="0" indent="0" algn="l" rtl="0">
              <a:lnSpc>
                <a:spcPct val="100000"/>
              </a:lnSpc>
              <a:spcBef>
                <a:spcPts val="0"/>
              </a:spcBef>
              <a:spcAft>
                <a:spcPts val="0"/>
              </a:spcAft>
              <a:buSzPts val="2000"/>
              <a:buNone/>
            </a:pPr>
            <a:r>
              <a:rPr lang="en-US" sz="2000">
                <a:solidFill>
                  <a:srgbClr val="538CD5"/>
                </a:solidFill>
              </a:rPr>
              <a:t>5.  Establishing relationships and lines of communication between the incident response team and other </a:t>
            </a:r>
            <a:endParaRPr/>
          </a:p>
          <a:p>
            <a:pPr marL="0" lvl="0" indent="0" algn="l" rtl="0">
              <a:lnSpc>
                <a:spcPct val="100000"/>
              </a:lnSpc>
              <a:spcBef>
                <a:spcPts val="0"/>
              </a:spcBef>
              <a:spcAft>
                <a:spcPts val="0"/>
              </a:spcAft>
              <a:buSzPts val="2000"/>
              <a:buNone/>
            </a:pPr>
            <a:r>
              <a:rPr lang="en-US" sz="2000">
                <a:solidFill>
                  <a:srgbClr val="538CD5"/>
                </a:solidFill>
              </a:rPr>
              <a:t>groups, both internal (e.g., legal department) and external (e.g., law enforcement agencies) </a:t>
            </a:r>
            <a:endParaRPr/>
          </a:p>
          <a:p>
            <a:pPr marL="0" lvl="0" indent="0" algn="l" rtl="0">
              <a:lnSpc>
                <a:spcPct val="100000"/>
              </a:lnSpc>
              <a:spcBef>
                <a:spcPts val="0"/>
              </a:spcBef>
              <a:spcAft>
                <a:spcPts val="0"/>
              </a:spcAft>
              <a:buSzPts val="2000"/>
              <a:buNone/>
            </a:pPr>
            <a:r>
              <a:rPr lang="en-US" sz="2000">
                <a:solidFill>
                  <a:srgbClr val="538CD5"/>
                </a:solidFill>
              </a:rPr>
              <a:t>6.  Determining what services the incident response team should provide </a:t>
            </a:r>
            <a:endParaRPr sz="2000">
              <a:solidFill>
                <a:srgbClr val="538CD5"/>
              </a:solidFill>
            </a:endParaRPr>
          </a:p>
        </p:txBody>
      </p:sp>
      <p:sp>
        <p:nvSpPr>
          <p:cNvPr id="307" name="Google Shape;307;p43"/>
          <p:cNvSpPr txBox="1">
            <a:spLocks noGrp="1"/>
          </p:cNvSpPr>
          <p:nvPr>
            <p:ph type="sldNum" idx="12"/>
          </p:nvPr>
        </p:nvSpPr>
        <p:spPr>
          <a:xfrm>
            <a:off x="8534400" y="6400800"/>
            <a:ext cx="457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endParaRPr/>
          </a:p>
        </p:txBody>
      </p:sp>
      <p:sp>
        <p:nvSpPr>
          <p:cNvPr id="313" name="Google Shape;313;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
        <p:nvSpPr>
          <p:cNvPr id="314" name="Google Shape;314;p4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Clr>
                <a:schemeClr val="dk1"/>
              </a:buClr>
              <a:buSzPts val="1800"/>
              <a:buNone/>
            </a:pPr>
            <a:endParaRPr/>
          </a:p>
        </p:txBody>
      </p:sp>
      <p:pic>
        <p:nvPicPr>
          <p:cNvPr id="315" name="Google Shape;315;p44"/>
          <p:cNvPicPr preferRelativeResize="0"/>
          <p:nvPr/>
        </p:nvPicPr>
        <p:blipFill rotWithShape="1">
          <a:blip r:embed="rId3">
            <a:alphaModFix/>
          </a:blip>
          <a:srcRect/>
          <a:stretch/>
        </p:blipFill>
        <p:spPr>
          <a:xfrm>
            <a:off x="2442259" y="2214924"/>
            <a:ext cx="4409954" cy="329249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4432</Words>
  <Application>Microsoft Office PowerPoint</Application>
  <PresentationFormat>On-screen Show (4:3)</PresentationFormat>
  <Paragraphs>320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CA 501 : CYBER SECURITY</vt:lpstr>
      <vt:lpstr>Let’s Start</vt:lpstr>
      <vt:lpstr>Organizational Implications: Cost of cybercrimes and IPR issues</vt:lpstr>
      <vt:lpstr>Organizational Implications: Cost of cybercrimes and IPR issues</vt:lpstr>
      <vt:lpstr>Organizational Implications: Cost of cybercrimes and IPR issues</vt:lpstr>
      <vt:lpstr>Organizational Implications: Cost of cybercrimes and IPR issues</vt:lpstr>
      <vt:lpstr>Organizational Implications: Cost of cybercrimes and IPR issues</vt:lpstr>
      <vt:lpstr>Web threats for organizations</vt:lpstr>
      <vt:lpstr>Web threats for organizations</vt:lpstr>
      <vt:lpstr>Web threats for organizations</vt:lpstr>
      <vt:lpstr>Security and Privacy Implications from Cloud Computing</vt:lpstr>
      <vt:lpstr>Security and Privacy Implications from Cloud Computing</vt:lpstr>
      <vt:lpstr>Security and Privacy Implications from Cloud Computing</vt:lpstr>
      <vt:lpstr>Security and Privacy Implications from Cloud Computing</vt:lpstr>
      <vt:lpstr>Security and Privacy Implications from Cloud Computing</vt:lpstr>
      <vt:lpstr>Security and Privacy Implications from Cloud Computing</vt:lpstr>
      <vt:lpstr>Social media marketing</vt:lpstr>
      <vt:lpstr>Social media marketing</vt:lpstr>
      <vt:lpstr>Social media marketing</vt:lpstr>
      <vt:lpstr>Social media marketing</vt:lpstr>
      <vt:lpstr>Social media marketing</vt:lpstr>
      <vt:lpstr>Social computing and the associated challenges for organizations</vt:lpstr>
      <vt:lpstr>Social computing and the associated challenges for organizations</vt:lpstr>
      <vt:lpstr>Social computing and the associated challenges for organizations</vt:lpstr>
      <vt:lpstr>Social computing and the associated challenges for organizations</vt:lpstr>
      <vt:lpstr>Organizational guidelines for Internet usage</vt:lpstr>
      <vt:lpstr>Organizational guidelines for Internet usage</vt:lpstr>
      <vt:lpstr>Organizational guidelines for Internet usage</vt:lpstr>
      <vt:lpstr>Organizational guidelines for Internet usage</vt:lpstr>
      <vt:lpstr>Organizational guidelines for Internet usage</vt:lpstr>
      <vt:lpstr>Incident Handling</vt:lpstr>
      <vt:lpstr>Incident Handling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501 : CYBER SECURITY</dc:title>
  <dc:creator>Administrator</dc:creator>
  <cp:lastModifiedBy>Darshana Yadav</cp:lastModifiedBy>
  <cp:revision>15</cp:revision>
  <dcterms:modified xsi:type="dcterms:W3CDTF">2022-10-11T04:26:17Z</dcterms:modified>
</cp:coreProperties>
</file>