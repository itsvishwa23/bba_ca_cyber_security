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51"/>
  </p:notesMasterIdLst>
  <p:sldIdLst>
    <p:sldId id="256" r:id="rId2"/>
    <p:sldId id="257" r:id="rId3"/>
    <p:sldId id="258" r:id="rId4"/>
    <p:sldId id="294"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287" r:id="rId34"/>
    <p:sldId id="288" r:id="rId35"/>
    <p:sldId id="289" r:id="rId36"/>
    <p:sldId id="290" r:id="rId37"/>
    <p:sldId id="291" r:id="rId38"/>
    <p:sldId id="292" r:id="rId39"/>
    <p:sldId id="295" r:id="rId40"/>
    <p:sldId id="298" r:id="rId41"/>
    <p:sldId id="296" r:id="rId42"/>
    <p:sldId id="297" r:id="rId43"/>
    <p:sldId id="299" r:id="rId44"/>
    <p:sldId id="300" r:id="rId45"/>
    <p:sldId id="301" r:id="rId46"/>
    <p:sldId id="302" r:id="rId47"/>
    <p:sldId id="303" r:id="rId48"/>
    <p:sldId id="304" r:id="rId49"/>
    <p:sldId id="293" r:id="rId50"/>
  </p:sldIdLst>
  <p:sldSz cx="9144000" cy="6858000" type="screen4x3"/>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1594" y="62"/>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475160128"/>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6" name="Google Shape;86;p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6" name="Google Shape;96;p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p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4" name="Google Shape;104;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p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1" name="Google Shape;111;p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5851233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p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1" name="Google Shape;111;p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p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8" name="Google Shape;118;p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p:cNvGrpSpPr/>
        <p:nvPr/>
      </p:nvGrpSpPr>
      <p:grpSpPr>
        <a:xfrm>
          <a:off x="0" y="0"/>
          <a:ext cx="0" cy="0"/>
          <a:chOff x="0" y="0"/>
          <a:chExt cx="0" cy="0"/>
        </a:xfrm>
      </p:grpSpPr>
      <p:sp>
        <p:nvSpPr>
          <p:cNvPr id="124" name="Google Shape;124;p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25" name="Google Shape;125;p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p:cNvGrpSpPr/>
        <p:nvPr/>
      </p:nvGrpSpPr>
      <p:grpSpPr>
        <a:xfrm>
          <a:off x="0" y="0"/>
          <a:ext cx="0" cy="0"/>
          <a:chOff x="0" y="0"/>
          <a:chExt cx="0" cy="0"/>
        </a:xfrm>
      </p:grpSpPr>
      <p:sp>
        <p:nvSpPr>
          <p:cNvPr id="131" name="Google Shape;131;p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2" name="Google Shape;132;p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p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9" name="Google Shape;139;p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
        <p:cNvGrpSpPr/>
        <p:nvPr/>
      </p:nvGrpSpPr>
      <p:grpSpPr>
        <a:xfrm>
          <a:off x="0" y="0"/>
          <a:ext cx="0" cy="0"/>
          <a:chOff x="0" y="0"/>
          <a:chExt cx="0" cy="0"/>
        </a:xfrm>
      </p:grpSpPr>
      <p:sp>
        <p:nvSpPr>
          <p:cNvPr id="145" name="Google Shape;145;p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46" name="Google Shape;146;p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
        <p:cNvGrpSpPr/>
        <p:nvPr/>
      </p:nvGrpSpPr>
      <p:grpSpPr>
        <a:xfrm>
          <a:off x="0" y="0"/>
          <a:ext cx="0" cy="0"/>
          <a:chOff x="0" y="0"/>
          <a:chExt cx="0" cy="0"/>
        </a:xfrm>
      </p:grpSpPr>
      <p:sp>
        <p:nvSpPr>
          <p:cNvPr id="152" name="Google Shape;152;p1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3" name="Google Shape;153;p1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p:cNvGrpSpPr/>
        <p:nvPr/>
      </p:nvGrpSpPr>
      <p:grpSpPr>
        <a:xfrm>
          <a:off x="0" y="0"/>
          <a:ext cx="0" cy="0"/>
          <a:chOff x="0" y="0"/>
          <a:chExt cx="0" cy="0"/>
        </a:xfrm>
      </p:grpSpPr>
      <p:sp>
        <p:nvSpPr>
          <p:cNvPr id="159" name="Google Shape;159;p1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0" name="Google Shape;160;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
        <p:cNvGrpSpPr/>
        <p:nvPr/>
      </p:nvGrpSpPr>
      <p:grpSpPr>
        <a:xfrm>
          <a:off x="0" y="0"/>
          <a:ext cx="0" cy="0"/>
          <a:chOff x="0" y="0"/>
          <a:chExt cx="0" cy="0"/>
        </a:xfrm>
      </p:grpSpPr>
      <p:sp>
        <p:nvSpPr>
          <p:cNvPr id="166" name="Google Shape;166;p1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7" name="Google Shape;167;p1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p1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74" name="Google Shape;174;p1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p:cNvGrpSpPr/>
        <p:nvPr/>
      </p:nvGrpSpPr>
      <p:grpSpPr>
        <a:xfrm>
          <a:off x="0" y="0"/>
          <a:ext cx="0" cy="0"/>
          <a:chOff x="0" y="0"/>
          <a:chExt cx="0" cy="0"/>
        </a:xfrm>
      </p:grpSpPr>
      <p:sp>
        <p:nvSpPr>
          <p:cNvPr id="180" name="Google Shape;180;p1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81" name="Google Shape;181;p1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
        <p:cNvGrpSpPr/>
        <p:nvPr/>
      </p:nvGrpSpPr>
      <p:grpSpPr>
        <a:xfrm>
          <a:off x="0" y="0"/>
          <a:ext cx="0" cy="0"/>
          <a:chOff x="0" y="0"/>
          <a:chExt cx="0" cy="0"/>
        </a:xfrm>
      </p:grpSpPr>
      <p:sp>
        <p:nvSpPr>
          <p:cNvPr id="188" name="Google Shape;188;p1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89" name="Google Shape;189;p1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
        <p:cNvGrpSpPr/>
        <p:nvPr/>
      </p:nvGrpSpPr>
      <p:grpSpPr>
        <a:xfrm>
          <a:off x="0" y="0"/>
          <a:ext cx="0" cy="0"/>
          <a:chOff x="0" y="0"/>
          <a:chExt cx="0" cy="0"/>
        </a:xfrm>
      </p:grpSpPr>
      <p:sp>
        <p:nvSpPr>
          <p:cNvPr id="195" name="Google Shape;195;p1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96" name="Google Shape;196;p1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p:cNvGrpSpPr/>
        <p:nvPr/>
      </p:nvGrpSpPr>
      <p:grpSpPr>
        <a:xfrm>
          <a:off x="0" y="0"/>
          <a:ext cx="0" cy="0"/>
          <a:chOff x="0" y="0"/>
          <a:chExt cx="0" cy="0"/>
        </a:xfrm>
      </p:grpSpPr>
      <p:sp>
        <p:nvSpPr>
          <p:cNvPr id="202" name="Google Shape;202;p1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3" name="Google Shape;203;p1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
        <p:cNvGrpSpPr/>
        <p:nvPr/>
      </p:nvGrpSpPr>
      <p:grpSpPr>
        <a:xfrm>
          <a:off x="0" y="0"/>
          <a:ext cx="0" cy="0"/>
          <a:chOff x="0" y="0"/>
          <a:chExt cx="0" cy="0"/>
        </a:xfrm>
      </p:grpSpPr>
      <p:sp>
        <p:nvSpPr>
          <p:cNvPr id="209" name="Google Shape;209;p1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10" name="Google Shape;210;p1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
        <p:cNvGrpSpPr/>
        <p:nvPr/>
      </p:nvGrpSpPr>
      <p:grpSpPr>
        <a:xfrm>
          <a:off x="0" y="0"/>
          <a:ext cx="0" cy="0"/>
          <a:chOff x="0" y="0"/>
          <a:chExt cx="0" cy="0"/>
        </a:xfrm>
      </p:grpSpPr>
      <p:sp>
        <p:nvSpPr>
          <p:cNvPr id="216" name="Google Shape;216;p1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17" name="Google Shape;217;p1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3"/>
        <p:cNvGrpSpPr/>
        <p:nvPr/>
      </p:nvGrpSpPr>
      <p:grpSpPr>
        <a:xfrm>
          <a:off x="0" y="0"/>
          <a:ext cx="0" cy="0"/>
          <a:chOff x="0" y="0"/>
          <a:chExt cx="0" cy="0"/>
        </a:xfrm>
      </p:grpSpPr>
      <p:sp>
        <p:nvSpPr>
          <p:cNvPr id="224" name="Google Shape;224;p2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25" name="Google Shape;225;p2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Google Shape;232;p2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33" name="Google Shape;233;p2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8"/>
        <p:cNvGrpSpPr/>
        <p:nvPr/>
      </p:nvGrpSpPr>
      <p:grpSpPr>
        <a:xfrm>
          <a:off x="0" y="0"/>
          <a:ext cx="0" cy="0"/>
          <a:chOff x="0" y="0"/>
          <a:chExt cx="0" cy="0"/>
        </a:xfrm>
      </p:grpSpPr>
      <p:sp>
        <p:nvSpPr>
          <p:cNvPr id="239" name="Google Shape;239;p2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40" name="Google Shape;240;p2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5"/>
        <p:cNvGrpSpPr/>
        <p:nvPr/>
      </p:nvGrpSpPr>
      <p:grpSpPr>
        <a:xfrm>
          <a:off x="0" y="0"/>
          <a:ext cx="0" cy="0"/>
          <a:chOff x="0" y="0"/>
          <a:chExt cx="0" cy="0"/>
        </a:xfrm>
      </p:grpSpPr>
      <p:sp>
        <p:nvSpPr>
          <p:cNvPr id="246" name="Google Shape;246;p2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47" name="Google Shape;247;p2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2"/>
        <p:cNvGrpSpPr/>
        <p:nvPr/>
      </p:nvGrpSpPr>
      <p:grpSpPr>
        <a:xfrm>
          <a:off x="0" y="0"/>
          <a:ext cx="0" cy="0"/>
          <a:chOff x="0" y="0"/>
          <a:chExt cx="0" cy="0"/>
        </a:xfrm>
      </p:grpSpPr>
      <p:sp>
        <p:nvSpPr>
          <p:cNvPr id="253" name="Google Shape;253;p2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54" name="Google Shape;254;p2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9"/>
        <p:cNvGrpSpPr/>
        <p:nvPr/>
      </p:nvGrpSpPr>
      <p:grpSpPr>
        <a:xfrm>
          <a:off x="0" y="0"/>
          <a:ext cx="0" cy="0"/>
          <a:chOff x="0" y="0"/>
          <a:chExt cx="0" cy="0"/>
        </a:xfrm>
      </p:grpSpPr>
      <p:sp>
        <p:nvSpPr>
          <p:cNvPr id="260" name="Google Shape;260;p2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61" name="Google Shape;261;p2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6"/>
        <p:cNvGrpSpPr/>
        <p:nvPr/>
      </p:nvGrpSpPr>
      <p:grpSpPr>
        <a:xfrm>
          <a:off x="0" y="0"/>
          <a:ext cx="0" cy="0"/>
          <a:chOff x="0" y="0"/>
          <a:chExt cx="0" cy="0"/>
        </a:xfrm>
      </p:grpSpPr>
      <p:sp>
        <p:nvSpPr>
          <p:cNvPr id="267" name="Google Shape;267;p2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68" name="Google Shape;268;p2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p2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75" name="Google Shape;275;p2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0"/>
        <p:cNvGrpSpPr/>
        <p:nvPr/>
      </p:nvGrpSpPr>
      <p:grpSpPr>
        <a:xfrm>
          <a:off x="0" y="0"/>
          <a:ext cx="0" cy="0"/>
          <a:chOff x="0" y="0"/>
          <a:chExt cx="0" cy="0"/>
        </a:xfrm>
      </p:grpSpPr>
      <p:sp>
        <p:nvSpPr>
          <p:cNvPr id="281" name="Google Shape;281;p2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82" name="Google Shape;282;p2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7"/>
        <p:cNvGrpSpPr/>
        <p:nvPr/>
      </p:nvGrpSpPr>
      <p:grpSpPr>
        <a:xfrm>
          <a:off x="0" y="0"/>
          <a:ext cx="0" cy="0"/>
          <a:chOff x="0" y="0"/>
          <a:chExt cx="0" cy="0"/>
        </a:xfrm>
      </p:grpSpPr>
      <p:sp>
        <p:nvSpPr>
          <p:cNvPr id="288" name="Google Shape;288;p2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89" name="Google Shape;289;p2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4"/>
        <p:cNvGrpSpPr/>
        <p:nvPr/>
      </p:nvGrpSpPr>
      <p:grpSpPr>
        <a:xfrm>
          <a:off x="0" y="0"/>
          <a:ext cx="0" cy="0"/>
          <a:chOff x="0" y="0"/>
          <a:chExt cx="0" cy="0"/>
        </a:xfrm>
      </p:grpSpPr>
      <p:sp>
        <p:nvSpPr>
          <p:cNvPr id="295" name="Google Shape;295;p3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96" name="Google Shape;296;p3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1"/>
        <p:cNvGrpSpPr/>
        <p:nvPr/>
      </p:nvGrpSpPr>
      <p:grpSpPr>
        <a:xfrm>
          <a:off x="0" y="0"/>
          <a:ext cx="0" cy="0"/>
          <a:chOff x="0" y="0"/>
          <a:chExt cx="0" cy="0"/>
        </a:xfrm>
      </p:grpSpPr>
      <p:sp>
        <p:nvSpPr>
          <p:cNvPr id="302" name="Google Shape;302;p3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03" name="Google Shape;303;p3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8"/>
        <p:cNvGrpSpPr/>
        <p:nvPr/>
      </p:nvGrpSpPr>
      <p:grpSpPr>
        <a:xfrm>
          <a:off x="0" y="0"/>
          <a:ext cx="0" cy="0"/>
          <a:chOff x="0" y="0"/>
          <a:chExt cx="0" cy="0"/>
        </a:xfrm>
      </p:grpSpPr>
      <p:sp>
        <p:nvSpPr>
          <p:cNvPr id="309" name="Google Shape;309;p3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10" name="Google Shape;310;p3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5"/>
        <p:cNvGrpSpPr/>
        <p:nvPr/>
      </p:nvGrpSpPr>
      <p:grpSpPr>
        <a:xfrm>
          <a:off x="0" y="0"/>
          <a:ext cx="0" cy="0"/>
          <a:chOff x="0" y="0"/>
          <a:chExt cx="0" cy="0"/>
        </a:xfrm>
      </p:grpSpPr>
      <p:sp>
        <p:nvSpPr>
          <p:cNvPr id="316" name="Google Shape;316;p3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17" name="Google Shape;317;p3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2"/>
        <p:cNvGrpSpPr/>
        <p:nvPr/>
      </p:nvGrpSpPr>
      <p:grpSpPr>
        <a:xfrm>
          <a:off x="0" y="0"/>
          <a:ext cx="0" cy="0"/>
          <a:chOff x="0" y="0"/>
          <a:chExt cx="0" cy="0"/>
        </a:xfrm>
      </p:grpSpPr>
      <p:sp>
        <p:nvSpPr>
          <p:cNvPr id="323" name="Google Shape;323;p3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24" name="Google Shape;324;p3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0"/>
        <p:cNvGrpSpPr/>
        <p:nvPr/>
      </p:nvGrpSpPr>
      <p:grpSpPr>
        <a:xfrm>
          <a:off x="0" y="0"/>
          <a:ext cx="0" cy="0"/>
          <a:chOff x="0" y="0"/>
          <a:chExt cx="0" cy="0"/>
        </a:xfrm>
      </p:grpSpPr>
      <p:sp>
        <p:nvSpPr>
          <p:cNvPr id="331" name="Google Shape;331;p3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32" name="Google Shape;332;p3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p:cNvGrpSpPr/>
        <p:nvPr/>
      </p:nvGrpSpPr>
      <p:grpSpPr>
        <a:xfrm>
          <a:off x="0" y="0"/>
          <a:ext cx="0" cy="0"/>
          <a:chOff x="0" y="0"/>
          <a:chExt cx="0" cy="0"/>
        </a:xfrm>
      </p:grpSpPr>
      <p:sp>
        <p:nvSpPr>
          <p:cNvPr id="338" name="Google Shape;338;p3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39" name="Google Shape;339;p3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4"/>
        <p:cNvGrpSpPr/>
        <p:nvPr/>
      </p:nvGrpSpPr>
      <p:grpSpPr>
        <a:xfrm>
          <a:off x="0" y="0"/>
          <a:ext cx="0" cy="0"/>
          <a:chOff x="0" y="0"/>
          <a:chExt cx="0" cy="0"/>
        </a:xfrm>
      </p:grpSpPr>
      <p:sp>
        <p:nvSpPr>
          <p:cNvPr id="345" name="Google Shape;345;p3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46" name="Google Shape;346;p3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4"/>
        <p:cNvGrpSpPr/>
        <p:nvPr/>
      </p:nvGrpSpPr>
      <p:grpSpPr>
        <a:xfrm>
          <a:off x="0" y="0"/>
          <a:ext cx="0" cy="0"/>
          <a:chOff x="0" y="0"/>
          <a:chExt cx="0" cy="0"/>
        </a:xfrm>
      </p:grpSpPr>
      <p:sp>
        <p:nvSpPr>
          <p:cNvPr id="345" name="Google Shape;345;p3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46" name="Google Shape;346;p3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967334818"/>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4"/>
        <p:cNvGrpSpPr/>
        <p:nvPr/>
      </p:nvGrpSpPr>
      <p:grpSpPr>
        <a:xfrm>
          <a:off x="0" y="0"/>
          <a:ext cx="0" cy="0"/>
          <a:chOff x="0" y="0"/>
          <a:chExt cx="0" cy="0"/>
        </a:xfrm>
      </p:grpSpPr>
      <p:sp>
        <p:nvSpPr>
          <p:cNvPr id="345" name="Google Shape;345;p3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46" name="Google Shape;346;p3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969812802"/>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4"/>
        <p:cNvGrpSpPr/>
        <p:nvPr/>
      </p:nvGrpSpPr>
      <p:grpSpPr>
        <a:xfrm>
          <a:off x="0" y="0"/>
          <a:ext cx="0" cy="0"/>
          <a:chOff x="0" y="0"/>
          <a:chExt cx="0" cy="0"/>
        </a:xfrm>
      </p:grpSpPr>
      <p:sp>
        <p:nvSpPr>
          <p:cNvPr id="345" name="Google Shape;345;p3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46" name="Google Shape;346;p3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369054043"/>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4"/>
        <p:cNvGrpSpPr/>
        <p:nvPr/>
      </p:nvGrpSpPr>
      <p:grpSpPr>
        <a:xfrm>
          <a:off x="0" y="0"/>
          <a:ext cx="0" cy="0"/>
          <a:chOff x="0" y="0"/>
          <a:chExt cx="0" cy="0"/>
        </a:xfrm>
      </p:grpSpPr>
      <p:sp>
        <p:nvSpPr>
          <p:cNvPr id="345" name="Google Shape;345;p3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46" name="Google Shape;346;p3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149994092"/>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4"/>
        <p:cNvGrpSpPr/>
        <p:nvPr/>
      </p:nvGrpSpPr>
      <p:grpSpPr>
        <a:xfrm>
          <a:off x="0" y="0"/>
          <a:ext cx="0" cy="0"/>
          <a:chOff x="0" y="0"/>
          <a:chExt cx="0" cy="0"/>
        </a:xfrm>
      </p:grpSpPr>
      <p:sp>
        <p:nvSpPr>
          <p:cNvPr id="345" name="Google Shape;345;p3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46" name="Google Shape;346;p3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89240190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4"/>
        <p:cNvGrpSpPr/>
        <p:nvPr/>
      </p:nvGrpSpPr>
      <p:grpSpPr>
        <a:xfrm>
          <a:off x="0" y="0"/>
          <a:ext cx="0" cy="0"/>
          <a:chOff x="0" y="0"/>
          <a:chExt cx="0" cy="0"/>
        </a:xfrm>
      </p:grpSpPr>
      <p:sp>
        <p:nvSpPr>
          <p:cNvPr id="345" name="Google Shape;345;p3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46" name="Google Shape;346;p3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206344122"/>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4"/>
        <p:cNvGrpSpPr/>
        <p:nvPr/>
      </p:nvGrpSpPr>
      <p:grpSpPr>
        <a:xfrm>
          <a:off x="0" y="0"/>
          <a:ext cx="0" cy="0"/>
          <a:chOff x="0" y="0"/>
          <a:chExt cx="0" cy="0"/>
        </a:xfrm>
      </p:grpSpPr>
      <p:sp>
        <p:nvSpPr>
          <p:cNvPr id="345" name="Google Shape;345;p3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46" name="Google Shape;346;p3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915096769"/>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4"/>
        <p:cNvGrpSpPr/>
        <p:nvPr/>
      </p:nvGrpSpPr>
      <p:grpSpPr>
        <a:xfrm>
          <a:off x="0" y="0"/>
          <a:ext cx="0" cy="0"/>
          <a:chOff x="0" y="0"/>
          <a:chExt cx="0" cy="0"/>
        </a:xfrm>
      </p:grpSpPr>
      <p:sp>
        <p:nvSpPr>
          <p:cNvPr id="345" name="Google Shape;345;p3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46" name="Google Shape;346;p3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914159668"/>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4"/>
        <p:cNvGrpSpPr/>
        <p:nvPr/>
      </p:nvGrpSpPr>
      <p:grpSpPr>
        <a:xfrm>
          <a:off x="0" y="0"/>
          <a:ext cx="0" cy="0"/>
          <a:chOff x="0" y="0"/>
          <a:chExt cx="0" cy="0"/>
        </a:xfrm>
      </p:grpSpPr>
      <p:sp>
        <p:nvSpPr>
          <p:cNvPr id="345" name="Google Shape;345;p3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46" name="Google Shape;346;p3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685879180"/>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4"/>
        <p:cNvGrpSpPr/>
        <p:nvPr/>
      </p:nvGrpSpPr>
      <p:grpSpPr>
        <a:xfrm>
          <a:off x="0" y="0"/>
          <a:ext cx="0" cy="0"/>
          <a:chOff x="0" y="0"/>
          <a:chExt cx="0" cy="0"/>
        </a:xfrm>
      </p:grpSpPr>
      <p:sp>
        <p:nvSpPr>
          <p:cNvPr id="345" name="Google Shape;345;p3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46" name="Google Shape;346;p3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904730130"/>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1"/>
        <p:cNvGrpSpPr/>
        <p:nvPr/>
      </p:nvGrpSpPr>
      <p:grpSpPr>
        <a:xfrm>
          <a:off x="0" y="0"/>
          <a:ext cx="0" cy="0"/>
          <a:chOff x="0" y="0"/>
          <a:chExt cx="0" cy="0"/>
        </a:xfrm>
      </p:grpSpPr>
      <p:sp>
        <p:nvSpPr>
          <p:cNvPr id="352" name="Google Shape;352;p3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53" name="Google Shape;353;p3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2"/>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2"/>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a:endParaRPr/>
          </a:p>
        </p:txBody>
      </p:sp>
      <p:sp>
        <p:nvSpPr>
          <p:cNvPr id="18" name="Google Shape;18;p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 name="Google Shape;20;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3"/>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3"/>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24" name="Google Shape;24;p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 name="Google Shape;26;p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4"/>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Clr>
                <a:schemeClr val="dk1"/>
              </a:buClr>
              <a:buSzPts val="4000"/>
              <a:buFont typeface="Calibri"/>
              <a:buNone/>
              <a:defRPr sz="4000" b="1"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4"/>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Autofit/>
          </a:bodyPr>
          <a:lstStyle>
            <a:lvl1pPr marL="457200" lvl="0" indent="-228600" algn="l">
              <a:lnSpc>
                <a:spcPct val="100000"/>
              </a:lnSpc>
              <a:spcBef>
                <a:spcPts val="400"/>
              </a:spcBef>
              <a:spcAft>
                <a:spcPts val="0"/>
              </a:spcAft>
              <a:buClr>
                <a:srgbClr val="888888"/>
              </a:buClr>
              <a:buSzPts val="2000"/>
              <a:buNone/>
              <a:defRPr sz="2000">
                <a:solidFill>
                  <a:srgbClr val="888888"/>
                </a:solidFill>
              </a:defRPr>
            </a:lvl1pPr>
            <a:lvl2pPr marL="914400" lvl="1" indent="-228600" algn="l">
              <a:lnSpc>
                <a:spcPct val="100000"/>
              </a:lnSpc>
              <a:spcBef>
                <a:spcPts val="360"/>
              </a:spcBef>
              <a:spcAft>
                <a:spcPts val="0"/>
              </a:spcAft>
              <a:buClr>
                <a:srgbClr val="888888"/>
              </a:buClr>
              <a:buSzPts val="1800"/>
              <a:buNone/>
              <a:defRPr sz="1800">
                <a:solidFill>
                  <a:srgbClr val="888888"/>
                </a:solidFill>
              </a:defRPr>
            </a:lvl2pPr>
            <a:lvl3pPr marL="1371600" lvl="2" indent="-228600" algn="l">
              <a:lnSpc>
                <a:spcPct val="100000"/>
              </a:lnSpc>
              <a:spcBef>
                <a:spcPts val="320"/>
              </a:spcBef>
              <a:spcAft>
                <a:spcPts val="0"/>
              </a:spcAft>
              <a:buClr>
                <a:srgbClr val="888888"/>
              </a:buClr>
              <a:buSzPts val="1600"/>
              <a:buNone/>
              <a:defRPr sz="1600">
                <a:solidFill>
                  <a:srgbClr val="888888"/>
                </a:solidFill>
              </a:defRPr>
            </a:lvl3pPr>
            <a:lvl4pPr marL="1828800" lvl="3" indent="-228600" algn="l">
              <a:lnSpc>
                <a:spcPct val="100000"/>
              </a:lnSpc>
              <a:spcBef>
                <a:spcPts val="280"/>
              </a:spcBef>
              <a:spcAft>
                <a:spcPts val="0"/>
              </a:spcAft>
              <a:buClr>
                <a:srgbClr val="888888"/>
              </a:buClr>
              <a:buSzPts val="1400"/>
              <a:buNone/>
              <a:defRPr sz="1400">
                <a:solidFill>
                  <a:srgbClr val="888888"/>
                </a:solidFill>
              </a:defRPr>
            </a:lvl4pPr>
            <a:lvl5pPr marL="2286000" lvl="4" indent="-228600" algn="l">
              <a:lnSpc>
                <a:spcPct val="100000"/>
              </a:lnSpc>
              <a:spcBef>
                <a:spcPts val="280"/>
              </a:spcBef>
              <a:spcAft>
                <a:spcPts val="0"/>
              </a:spcAft>
              <a:buClr>
                <a:srgbClr val="888888"/>
              </a:buClr>
              <a:buSzPts val="1400"/>
              <a:buNone/>
              <a:defRPr sz="1400">
                <a:solidFill>
                  <a:srgbClr val="888888"/>
                </a:solidFill>
              </a:defRPr>
            </a:lvl5pPr>
            <a:lvl6pPr marL="2743200" lvl="5" indent="-228600" algn="l">
              <a:lnSpc>
                <a:spcPct val="100000"/>
              </a:lnSpc>
              <a:spcBef>
                <a:spcPts val="280"/>
              </a:spcBef>
              <a:spcAft>
                <a:spcPts val="0"/>
              </a:spcAft>
              <a:buClr>
                <a:srgbClr val="888888"/>
              </a:buClr>
              <a:buSzPts val="1400"/>
              <a:buNone/>
              <a:defRPr sz="1400">
                <a:solidFill>
                  <a:srgbClr val="888888"/>
                </a:solidFill>
              </a:defRPr>
            </a:lvl6pPr>
            <a:lvl7pPr marL="3200400" lvl="6" indent="-228600" algn="l">
              <a:lnSpc>
                <a:spcPct val="100000"/>
              </a:lnSpc>
              <a:spcBef>
                <a:spcPts val="280"/>
              </a:spcBef>
              <a:spcAft>
                <a:spcPts val="0"/>
              </a:spcAft>
              <a:buClr>
                <a:srgbClr val="888888"/>
              </a:buClr>
              <a:buSzPts val="1400"/>
              <a:buNone/>
              <a:defRPr sz="1400">
                <a:solidFill>
                  <a:srgbClr val="888888"/>
                </a:solidFill>
              </a:defRPr>
            </a:lvl7pPr>
            <a:lvl8pPr marL="3657600" lvl="7" indent="-228600" algn="l">
              <a:lnSpc>
                <a:spcPct val="100000"/>
              </a:lnSpc>
              <a:spcBef>
                <a:spcPts val="280"/>
              </a:spcBef>
              <a:spcAft>
                <a:spcPts val="0"/>
              </a:spcAft>
              <a:buClr>
                <a:srgbClr val="888888"/>
              </a:buClr>
              <a:buSzPts val="1400"/>
              <a:buNone/>
              <a:defRPr sz="1400">
                <a:solidFill>
                  <a:srgbClr val="888888"/>
                </a:solidFill>
              </a:defRPr>
            </a:lvl8pPr>
            <a:lvl9pPr marL="4114800" lvl="8" indent="-228600" algn="l">
              <a:lnSpc>
                <a:spcPct val="100000"/>
              </a:lnSpc>
              <a:spcBef>
                <a:spcPts val="280"/>
              </a:spcBef>
              <a:spcAft>
                <a:spcPts val="0"/>
              </a:spcAft>
              <a:buClr>
                <a:srgbClr val="888888"/>
              </a:buClr>
              <a:buSzPts val="1400"/>
              <a:buNone/>
              <a:defRPr sz="1400">
                <a:solidFill>
                  <a:srgbClr val="888888"/>
                </a:solidFill>
              </a:defRPr>
            </a:lvl9pPr>
          </a:lstStyle>
          <a:p>
            <a:endParaRPr/>
          </a:p>
        </p:txBody>
      </p:sp>
      <p:sp>
        <p:nvSpPr>
          <p:cNvPr id="30" name="Google Shape;30;p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5"/>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5"/>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Autofit/>
          </a:bodyPr>
          <a:lstStyle>
            <a:lvl1pPr marL="457200" lvl="0" indent="-406400" algn="l">
              <a:lnSpc>
                <a:spcPct val="100000"/>
              </a:lnSpc>
              <a:spcBef>
                <a:spcPts val="560"/>
              </a:spcBef>
              <a:spcAft>
                <a:spcPts val="0"/>
              </a:spcAft>
              <a:buClr>
                <a:schemeClr val="dk1"/>
              </a:buClr>
              <a:buSzPts val="2800"/>
              <a:buChar char="•"/>
              <a:defRPr sz="2800"/>
            </a:lvl1pPr>
            <a:lvl2pPr marL="914400" lvl="1" indent="-381000" algn="l">
              <a:lnSpc>
                <a:spcPct val="100000"/>
              </a:lnSpc>
              <a:spcBef>
                <a:spcPts val="480"/>
              </a:spcBef>
              <a:spcAft>
                <a:spcPts val="0"/>
              </a:spcAft>
              <a:buClr>
                <a:schemeClr val="dk1"/>
              </a:buClr>
              <a:buSzPts val="2400"/>
              <a:buChar char="–"/>
              <a:defRPr sz="2400"/>
            </a:lvl2pPr>
            <a:lvl3pPr marL="1371600" lvl="2" indent="-355600" algn="l">
              <a:lnSpc>
                <a:spcPct val="100000"/>
              </a:lnSpc>
              <a:spcBef>
                <a:spcPts val="400"/>
              </a:spcBef>
              <a:spcAft>
                <a:spcPts val="0"/>
              </a:spcAft>
              <a:buClr>
                <a:schemeClr val="dk1"/>
              </a:buClr>
              <a:buSzPts val="2000"/>
              <a:buChar char="•"/>
              <a:defRPr sz="2000"/>
            </a:lvl3pPr>
            <a:lvl4pPr marL="1828800" lvl="3" indent="-342900" algn="l">
              <a:lnSpc>
                <a:spcPct val="100000"/>
              </a:lnSpc>
              <a:spcBef>
                <a:spcPts val="360"/>
              </a:spcBef>
              <a:spcAft>
                <a:spcPts val="0"/>
              </a:spcAft>
              <a:buClr>
                <a:schemeClr val="dk1"/>
              </a:buClr>
              <a:buSzPts val="1800"/>
              <a:buChar char="–"/>
              <a:defRPr sz="1800"/>
            </a:lvl4pPr>
            <a:lvl5pPr marL="2286000" lvl="4" indent="-342900" algn="l">
              <a:lnSpc>
                <a:spcPct val="100000"/>
              </a:lnSpc>
              <a:spcBef>
                <a:spcPts val="360"/>
              </a:spcBef>
              <a:spcAft>
                <a:spcPts val="0"/>
              </a:spcAft>
              <a:buClr>
                <a:schemeClr val="dk1"/>
              </a:buClr>
              <a:buSzPts val="1800"/>
              <a:buChar char="»"/>
              <a:defRPr sz="1800"/>
            </a:lvl5pPr>
            <a:lvl6pPr marL="2743200" lvl="5" indent="-342900" algn="l">
              <a:lnSpc>
                <a:spcPct val="100000"/>
              </a:lnSpc>
              <a:spcBef>
                <a:spcPts val="360"/>
              </a:spcBef>
              <a:spcAft>
                <a:spcPts val="0"/>
              </a:spcAft>
              <a:buClr>
                <a:schemeClr val="dk1"/>
              </a:buClr>
              <a:buSzPts val="1800"/>
              <a:buChar char="•"/>
              <a:defRPr sz="1800"/>
            </a:lvl6pPr>
            <a:lvl7pPr marL="3200400" lvl="6" indent="-342900" algn="l">
              <a:lnSpc>
                <a:spcPct val="100000"/>
              </a:lnSpc>
              <a:spcBef>
                <a:spcPts val="360"/>
              </a:spcBef>
              <a:spcAft>
                <a:spcPts val="0"/>
              </a:spcAft>
              <a:buClr>
                <a:schemeClr val="dk1"/>
              </a:buClr>
              <a:buSzPts val="1800"/>
              <a:buChar char="•"/>
              <a:defRPr sz="1800"/>
            </a:lvl7pPr>
            <a:lvl8pPr marL="3657600" lvl="7" indent="-342900" algn="l">
              <a:lnSpc>
                <a:spcPct val="100000"/>
              </a:lnSpc>
              <a:spcBef>
                <a:spcPts val="360"/>
              </a:spcBef>
              <a:spcAft>
                <a:spcPts val="0"/>
              </a:spcAft>
              <a:buClr>
                <a:schemeClr val="dk1"/>
              </a:buClr>
              <a:buSzPts val="1800"/>
              <a:buChar char="•"/>
              <a:defRPr sz="1800"/>
            </a:lvl8pPr>
            <a:lvl9pPr marL="4114800" lvl="8" indent="-342900" algn="l">
              <a:lnSpc>
                <a:spcPct val="100000"/>
              </a:lnSpc>
              <a:spcBef>
                <a:spcPts val="360"/>
              </a:spcBef>
              <a:spcAft>
                <a:spcPts val="0"/>
              </a:spcAft>
              <a:buClr>
                <a:schemeClr val="dk1"/>
              </a:buClr>
              <a:buSzPts val="1800"/>
              <a:buChar char="•"/>
              <a:defRPr sz="1800"/>
            </a:lvl9pPr>
          </a:lstStyle>
          <a:p>
            <a:endParaRPr/>
          </a:p>
        </p:txBody>
      </p:sp>
      <p:sp>
        <p:nvSpPr>
          <p:cNvPr id="36" name="Google Shape;36;p5"/>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Autofit/>
          </a:bodyPr>
          <a:lstStyle>
            <a:lvl1pPr marL="457200" lvl="0" indent="-406400" algn="l">
              <a:lnSpc>
                <a:spcPct val="100000"/>
              </a:lnSpc>
              <a:spcBef>
                <a:spcPts val="560"/>
              </a:spcBef>
              <a:spcAft>
                <a:spcPts val="0"/>
              </a:spcAft>
              <a:buClr>
                <a:schemeClr val="dk1"/>
              </a:buClr>
              <a:buSzPts val="2800"/>
              <a:buChar char="•"/>
              <a:defRPr sz="2800"/>
            </a:lvl1pPr>
            <a:lvl2pPr marL="914400" lvl="1" indent="-381000" algn="l">
              <a:lnSpc>
                <a:spcPct val="100000"/>
              </a:lnSpc>
              <a:spcBef>
                <a:spcPts val="480"/>
              </a:spcBef>
              <a:spcAft>
                <a:spcPts val="0"/>
              </a:spcAft>
              <a:buClr>
                <a:schemeClr val="dk1"/>
              </a:buClr>
              <a:buSzPts val="2400"/>
              <a:buChar char="–"/>
              <a:defRPr sz="2400"/>
            </a:lvl2pPr>
            <a:lvl3pPr marL="1371600" lvl="2" indent="-355600" algn="l">
              <a:lnSpc>
                <a:spcPct val="100000"/>
              </a:lnSpc>
              <a:spcBef>
                <a:spcPts val="400"/>
              </a:spcBef>
              <a:spcAft>
                <a:spcPts val="0"/>
              </a:spcAft>
              <a:buClr>
                <a:schemeClr val="dk1"/>
              </a:buClr>
              <a:buSzPts val="2000"/>
              <a:buChar char="•"/>
              <a:defRPr sz="2000"/>
            </a:lvl3pPr>
            <a:lvl4pPr marL="1828800" lvl="3" indent="-342900" algn="l">
              <a:lnSpc>
                <a:spcPct val="100000"/>
              </a:lnSpc>
              <a:spcBef>
                <a:spcPts val="360"/>
              </a:spcBef>
              <a:spcAft>
                <a:spcPts val="0"/>
              </a:spcAft>
              <a:buClr>
                <a:schemeClr val="dk1"/>
              </a:buClr>
              <a:buSzPts val="1800"/>
              <a:buChar char="–"/>
              <a:defRPr sz="1800"/>
            </a:lvl4pPr>
            <a:lvl5pPr marL="2286000" lvl="4" indent="-342900" algn="l">
              <a:lnSpc>
                <a:spcPct val="100000"/>
              </a:lnSpc>
              <a:spcBef>
                <a:spcPts val="360"/>
              </a:spcBef>
              <a:spcAft>
                <a:spcPts val="0"/>
              </a:spcAft>
              <a:buClr>
                <a:schemeClr val="dk1"/>
              </a:buClr>
              <a:buSzPts val="1800"/>
              <a:buChar char="»"/>
              <a:defRPr sz="1800"/>
            </a:lvl5pPr>
            <a:lvl6pPr marL="2743200" lvl="5" indent="-342900" algn="l">
              <a:lnSpc>
                <a:spcPct val="100000"/>
              </a:lnSpc>
              <a:spcBef>
                <a:spcPts val="360"/>
              </a:spcBef>
              <a:spcAft>
                <a:spcPts val="0"/>
              </a:spcAft>
              <a:buClr>
                <a:schemeClr val="dk1"/>
              </a:buClr>
              <a:buSzPts val="1800"/>
              <a:buChar char="•"/>
              <a:defRPr sz="1800"/>
            </a:lvl6pPr>
            <a:lvl7pPr marL="3200400" lvl="6" indent="-342900" algn="l">
              <a:lnSpc>
                <a:spcPct val="100000"/>
              </a:lnSpc>
              <a:spcBef>
                <a:spcPts val="360"/>
              </a:spcBef>
              <a:spcAft>
                <a:spcPts val="0"/>
              </a:spcAft>
              <a:buClr>
                <a:schemeClr val="dk1"/>
              </a:buClr>
              <a:buSzPts val="1800"/>
              <a:buChar char="•"/>
              <a:defRPr sz="1800"/>
            </a:lvl7pPr>
            <a:lvl8pPr marL="3657600" lvl="7" indent="-342900" algn="l">
              <a:lnSpc>
                <a:spcPct val="100000"/>
              </a:lnSpc>
              <a:spcBef>
                <a:spcPts val="360"/>
              </a:spcBef>
              <a:spcAft>
                <a:spcPts val="0"/>
              </a:spcAft>
              <a:buClr>
                <a:schemeClr val="dk1"/>
              </a:buClr>
              <a:buSzPts val="1800"/>
              <a:buChar char="•"/>
              <a:defRPr sz="1800"/>
            </a:lvl8pPr>
            <a:lvl9pPr marL="4114800" lvl="8" indent="-342900" algn="l">
              <a:lnSpc>
                <a:spcPct val="100000"/>
              </a:lnSpc>
              <a:spcBef>
                <a:spcPts val="360"/>
              </a:spcBef>
              <a:spcAft>
                <a:spcPts val="0"/>
              </a:spcAft>
              <a:buClr>
                <a:schemeClr val="dk1"/>
              </a:buClr>
              <a:buSzPts val="1800"/>
              <a:buChar char="•"/>
              <a:defRPr sz="1800"/>
            </a:lvl9pPr>
          </a:lstStyle>
          <a:p>
            <a:endParaRPr/>
          </a:p>
        </p:txBody>
      </p:sp>
      <p:sp>
        <p:nvSpPr>
          <p:cNvPr id="37" name="Google Shape;37;p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9" name="Google Shape;39;p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Clr>
                <a:schemeClr val="dk1"/>
              </a:buClr>
              <a:buSzPts val="44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6"/>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Autofit/>
          </a:bodyPr>
          <a:lstStyle>
            <a:lvl1pPr marL="457200" lvl="0" indent="-228600" algn="l">
              <a:lnSpc>
                <a:spcPct val="100000"/>
              </a:lnSpc>
              <a:spcBef>
                <a:spcPts val="480"/>
              </a:spcBef>
              <a:spcAft>
                <a:spcPts val="0"/>
              </a:spcAft>
              <a:buClr>
                <a:schemeClr val="dk1"/>
              </a:buClr>
              <a:buSzPts val="2400"/>
              <a:buNone/>
              <a:defRPr sz="2400" b="1"/>
            </a:lvl1pPr>
            <a:lvl2pPr marL="914400" lvl="1" indent="-228600" algn="l">
              <a:lnSpc>
                <a:spcPct val="100000"/>
              </a:lnSpc>
              <a:spcBef>
                <a:spcPts val="400"/>
              </a:spcBef>
              <a:spcAft>
                <a:spcPts val="0"/>
              </a:spcAft>
              <a:buClr>
                <a:schemeClr val="dk1"/>
              </a:buClr>
              <a:buSzPts val="2000"/>
              <a:buNone/>
              <a:defRPr sz="2000" b="1"/>
            </a:lvl2pPr>
            <a:lvl3pPr marL="1371600" lvl="2" indent="-228600" algn="l">
              <a:lnSpc>
                <a:spcPct val="100000"/>
              </a:lnSpc>
              <a:spcBef>
                <a:spcPts val="360"/>
              </a:spcBef>
              <a:spcAft>
                <a:spcPts val="0"/>
              </a:spcAft>
              <a:buClr>
                <a:schemeClr val="dk1"/>
              </a:buClr>
              <a:buSzPts val="1800"/>
              <a:buNone/>
              <a:defRPr sz="1800" b="1"/>
            </a:lvl3pPr>
            <a:lvl4pPr marL="1828800" lvl="3" indent="-228600" algn="l">
              <a:lnSpc>
                <a:spcPct val="100000"/>
              </a:lnSpc>
              <a:spcBef>
                <a:spcPts val="320"/>
              </a:spcBef>
              <a:spcAft>
                <a:spcPts val="0"/>
              </a:spcAft>
              <a:buClr>
                <a:schemeClr val="dk1"/>
              </a:buClr>
              <a:buSzPts val="1600"/>
              <a:buNone/>
              <a:defRPr sz="1600" b="1"/>
            </a:lvl4pPr>
            <a:lvl5pPr marL="2286000" lvl="4" indent="-228600" algn="l">
              <a:lnSpc>
                <a:spcPct val="100000"/>
              </a:lnSpc>
              <a:spcBef>
                <a:spcPts val="320"/>
              </a:spcBef>
              <a:spcAft>
                <a:spcPts val="0"/>
              </a:spcAft>
              <a:buClr>
                <a:schemeClr val="dk1"/>
              </a:buClr>
              <a:buSzPts val="1600"/>
              <a:buNone/>
              <a:defRPr sz="1600" b="1"/>
            </a:lvl5pPr>
            <a:lvl6pPr marL="2743200" lvl="5" indent="-228600" algn="l">
              <a:lnSpc>
                <a:spcPct val="100000"/>
              </a:lnSpc>
              <a:spcBef>
                <a:spcPts val="320"/>
              </a:spcBef>
              <a:spcAft>
                <a:spcPts val="0"/>
              </a:spcAft>
              <a:buClr>
                <a:schemeClr val="dk1"/>
              </a:buClr>
              <a:buSzPts val="1600"/>
              <a:buNone/>
              <a:defRPr sz="1600" b="1"/>
            </a:lvl6pPr>
            <a:lvl7pPr marL="3200400" lvl="6" indent="-228600" algn="l">
              <a:lnSpc>
                <a:spcPct val="100000"/>
              </a:lnSpc>
              <a:spcBef>
                <a:spcPts val="320"/>
              </a:spcBef>
              <a:spcAft>
                <a:spcPts val="0"/>
              </a:spcAft>
              <a:buClr>
                <a:schemeClr val="dk1"/>
              </a:buClr>
              <a:buSzPts val="1600"/>
              <a:buNone/>
              <a:defRPr sz="1600" b="1"/>
            </a:lvl7pPr>
            <a:lvl8pPr marL="3657600" lvl="7" indent="-228600" algn="l">
              <a:lnSpc>
                <a:spcPct val="100000"/>
              </a:lnSpc>
              <a:spcBef>
                <a:spcPts val="320"/>
              </a:spcBef>
              <a:spcAft>
                <a:spcPts val="0"/>
              </a:spcAft>
              <a:buClr>
                <a:schemeClr val="dk1"/>
              </a:buClr>
              <a:buSzPts val="1600"/>
              <a:buNone/>
              <a:defRPr sz="1600" b="1"/>
            </a:lvl8pPr>
            <a:lvl9pPr marL="4114800" lvl="8" indent="-228600" algn="l">
              <a:lnSpc>
                <a:spcPct val="100000"/>
              </a:lnSpc>
              <a:spcBef>
                <a:spcPts val="320"/>
              </a:spcBef>
              <a:spcAft>
                <a:spcPts val="0"/>
              </a:spcAft>
              <a:buClr>
                <a:schemeClr val="dk1"/>
              </a:buClr>
              <a:buSzPts val="1600"/>
              <a:buNone/>
              <a:defRPr sz="1600" b="1"/>
            </a:lvl9pPr>
          </a:lstStyle>
          <a:p>
            <a:endParaRPr/>
          </a:p>
        </p:txBody>
      </p:sp>
      <p:sp>
        <p:nvSpPr>
          <p:cNvPr id="43" name="Google Shape;43;p6"/>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480"/>
              </a:spcBef>
              <a:spcAft>
                <a:spcPts val="0"/>
              </a:spcAft>
              <a:buClr>
                <a:schemeClr val="dk1"/>
              </a:buClr>
              <a:buSzPts val="2400"/>
              <a:buChar char="•"/>
              <a:defRPr sz="2400"/>
            </a:lvl1pPr>
            <a:lvl2pPr marL="914400" lvl="1" indent="-355600" algn="l">
              <a:lnSpc>
                <a:spcPct val="100000"/>
              </a:lnSpc>
              <a:spcBef>
                <a:spcPts val="400"/>
              </a:spcBef>
              <a:spcAft>
                <a:spcPts val="0"/>
              </a:spcAft>
              <a:buClr>
                <a:schemeClr val="dk1"/>
              </a:buClr>
              <a:buSzPts val="2000"/>
              <a:buChar char="–"/>
              <a:defRPr sz="2000"/>
            </a:lvl2pPr>
            <a:lvl3pPr marL="1371600" lvl="2" indent="-342900" algn="l">
              <a:lnSpc>
                <a:spcPct val="100000"/>
              </a:lnSpc>
              <a:spcBef>
                <a:spcPts val="360"/>
              </a:spcBef>
              <a:spcAft>
                <a:spcPts val="0"/>
              </a:spcAft>
              <a:buClr>
                <a:schemeClr val="dk1"/>
              </a:buClr>
              <a:buSzPts val="1800"/>
              <a:buChar char="•"/>
              <a:defRPr sz="1800"/>
            </a:lvl3pPr>
            <a:lvl4pPr marL="1828800" lvl="3" indent="-330200" algn="l">
              <a:lnSpc>
                <a:spcPct val="100000"/>
              </a:lnSpc>
              <a:spcBef>
                <a:spcPts val="320"/>
              </a:spcBef>
              <a:spcAft>
                <a:spcPts val="0"/>
              </a:spcAft>
              <a:buClr>
                <a:schemeClr val="dk1"/>
              </a:buClr>
              <a:buSzPts val="1600"/>
              <a:buChar char="–"/>
              <a:defRPr sz="1600"/>
            </a:lvl4pPr>
            <a:lvl5pPr marL="2286000" lvl="4" indent="-330200" algn="l">
              <a:lnSpc>
                <a:spcPct val="100000"/>
              </a:lnSpc>
              <a:spcBef>
                <a:spcPts val="320"/>
              </a:spcBef>
              <a:spcAft>
                <a:spcPts val="0"/>
              </a:spcAft>
              <a:buClr>
                <a:schemeClr val="dk1"/>
              </a:buClr>
              <a:buSzPts val="1600"/>
              <a:buChar char="»"/>
              <a:defRPr sz="1600"/>
            </a:lvl5pPr>
            <a:lvl6pPr marL="2743200" lvl="5" indent="-330200" algn="l">
              <a:lnSpc>
                <a:spcPct val="100000"/>
              </a:lnSpc>
              <a:spcBef>
                <a:spcPts val="320"/>
              </a:spcBef>
              <a:spcAft>
                <a:spcPts val="0"/>
              </a:spcAft>
              <a:buClr>
                <a:schemeClr val="dk1"/>
              </a:buClr>
              <a:buSzPts val="1600"/>
              <a:buChar char="•"/>
              <a:defRPr sz="1600"/>
            </a:lvl6pPr>
            <a:lvl7pPr marL="3200400" lvl="6" indent="-330200" algn="l">
              <a:lnSpc>
                <a:spcPct val="100000"/>
              </a:lnSpc>
              <a:spcBef>
                <a:spcPts val="320"/>
              </a:spcBef>
              <a:spcAft>
                <a:spcPts val="0"/>
              </a:spcAft>
              <a:buClr>
                <a:schemeClr val="dk1"/>
              </a:buClr>
              <a:buSzPts val="1600"/>
              <a:buChar char="•"/>
              <a:defRPr sz="1600"/>
            </a:lvl7pPr>
            <a:lvl8pPr marL="3657600" lvl="7" indent="-330200" algn="l">
              <a:lnSpc>
                <a:spcPct val="100000"/>
              </a:lnSpc>
              <a:spcBef>
                <a:spcPts val="320"/>
              </a:spcBef>
              <a:spcAft>
                <a:spcPts val="0"/>
              </a:spcAft>
              <a:buClr>
                <a:schemeClr val="dk1"/>
              </a:buClr>
              <a:buSzPts val="1600"/>
              <a:buChar char="•"/>
              <a:defRPr sz="1600"/>
            </a:lvl8pPr>
            <a:lvl9pPr marL="4114800" lvl="8" indent="-330200" algn="l">
              <a:lnSpc>
                <a:spcPct val="100000"/>
              </a:lnSpc>
              <a:spcBef>
                <a:spcPts val="320"/>
              </a:spcBef>
              <a:spcAft>
                <a:spcPts val="0"/>
              </a:spcAft>
              <a:buClr>
                <a:schemeClr val="dk1"/>
              </a:buClr>
              <a:buSzPts val="1600"/>
              <a:buChar char="•"/>
              <a:defRPr sz="1600"/>
            </a:lvl9pPr>
          </a:lstStyle>
          <a:p>
            <a:endParaRPr/>
          </a:p>
        </p:txBody>
      </p:sp>
      <p:sp>
        <p:nvSpPr>
          <p:cNvPr id="44" name="Google Shape;44;p6"/>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Autofit/>
          </a:bodyPr>
          <a:lstStyle>
            <a:lvl1pPr marL="457200" lvl="0" indent="-228600" algn="l">
              <a:lnSpc>
                <a:spcPct val="100000"/>
              </a:lnSpc>
              <a:spcBef>
                <a:spcPts val="480"/>
              </a:spcBef>
              <a:spcAft>
                <a:spcPts val="0"/>
              </a:spcAft>
              <a:buClr>
                <a:schemeClr val="dk1"/>
              </a:buClr>
              <a:buSzPts val="2400"/>
              <a:buNone/>
              <a:defRPr sz="2400" b="1"/>
            </a:lvl1pPr>
            <a:lvl2pPr marL="914400" lvl="1" indent="-228600" algn="l">
              <a:lnSpc>
                <a:spcPct val="100000"/>
              </a:lnSpc>
              <a:spcBef>
                <a:spcPts val="400"/>
              </a:spcBef>
              <a:spcAft>
                <a:spcPts val="0"/>
              </a:spcAft>
              <a:buClr>
                <a:schemeClr val="dk1"/>
              </a:buClr>
              <a:buSzPts val="2000"/>
              <a:buNone/>
              <a:defRPr sz="2000" b="1"/>
            </a:lvl2pPr>
            <a:lvl3pPr marL="1371600" lvl="2" indent="-228600" algn="l">
              <a:lnSpc>
                <a:spcPct val="100000"/>
              </a:lnSpc>
              <a:spcBef>
                <a:spcPts val="360"/>
              </a:spcBef>
              <a:spcAft>
                <a:spcPts val="0"/>
              </a:spcAft>
              <a:buClr>
                <a:schemeClr val="dk1"/>
              </a:buClr>
              <a:buSzPts val="1800"/>
              <a:buNone/>
              <a:defRPr sz="1800" b="1"/>
            </a:lvl3pPr>
            <a:lvl4pPr marL="1828800" lvl="3" indent="-228600" algn="l">
              <a:lnSpc>
                <a:spcPct val="100000"/>
              </a:lnSpc>
              <a:spcBef>
                <a:spcPts val="320"/>
              </a:spcBef>
              <a:spcAft>
                <a:spcPts val="0"/>
              </a:spcAft>
              <a:buClr>
                <a:schemeClr val="dk1"/>
              </a:buClr>
              <a:buSzPts val="1600"/>
              <a:buNone/>
              <a:defRPr sz="1600" b="1"/>
            </a:lvl4pPr>
            <a:lvl5pPr marL="2286000" lvl="4" indent="-228600" algn="l">
              <a:lnSpc>
                <a:spcPct val="100000"/>
              </a:lnSpc>
              <a:spcBef>
                <a:spcPts val="320"/>
              </a:spcBef>
              <a:spcAft>
                <a:spcPts val="0"/>
              </a:spcAft>
              <a:buClr>
                <a:schemeClr val="dk1"/>
              </a:buClr>
              <a:buSzPts val="1600"/>
              <a:buNone/>
              <a:defRPr sz="1600" b="1"/>
            </a:lvl5pPr>
            <a:lvl6pPr marL="2743200" lvl="5" indent="-228600" algn="l">
              <a:lnSpc>
                <a:spcPct val="100000"/>
              </a:lnSpc>
              <a:spcBef>
                <a:spcPts val="320"/>
              </a:spcBef>
              <a:spcAft>
                <a:spcPts val="0"/>
              </a:spcAft>
              <a:buClr>
                <a:schemeClr val="dk1"/>
              </a:buClr>
              <a:buSzPts val="1600"/>
              <a:buNone/>
              <a:defRPr sz="1600" b="1"/>
            </a:lvl6pPr>
            <a:lvl7pPr marL="3200400" lvl="6" indent="-228600" algn="l">
              <a:lnSpc>
                <a:spcPct val="100000"/>
              </a:lnSpc>
              <a:spcBef>
                <a:spcPts val="320"/>
              </a:spcBef>
              <a:spcAft>
                <a:spcPts val="0"/>
              </a:spcAft>
              <a:buClr>
                <a:schemeClr val="dk1"/>
              </a:buClr>
              <a:buSzPts val="1600"/>
              <a:buNone/>
              <a:defRPr sz="1600" b="1"/>
            </a:lvl7pPr>
            <a:lvl8pPr marL="3657600" lvl="7" indent="-228600" algn="l">
              <a:lnSpc>
                <a:spcPct val="100000"/>
              </a:lnSpc>
              <a:spcBef>
                <a:spcPts val="320"/>
              </a:spcBef>
              <a:spcAft>
                <a:spcPts val="0"/>
              </a:spcAft>
              <a:buClr>
                <a:schemeClr val="dk1"/>
              </a:buClr>
              <a:buSzPts val="1600"/>
              <a:buNone/>
              <a:defRPr sz="1600" b="1"/>
            </a:lvl8pPr>
            <a:lvl9pPr marL="4114800" lvl="8" indent="-228600" algn="l">
              <a:lnSpc>
                <a:spcPct val="100000"/>
              </a:lnSpc>
              <a:spcBef>
                <a:spcPts val="320"/>
              </a:spcBef>
              <a:spcAft>
                <a:spcPts val="0"/>
              </a:spcAft>
              <a:buClr>
                <a:schemeClr val="dk1"/>
              </a:buClr>
              <a:buSzPts val="1600"/>
              <a:buNone/>
              <a:defRPr sz="1600" b="1"/>
            </a:lvl9pPr>
          </a:lstStyle>
          <a:p>
            <a:endParaRPr/>
          </a:p>
        </p:txBody>
      </p:sp>
      <p:sp>
        <p:nvSpPr>
          <p:cNvPr id="45" name="Google Shape;45;p6"/>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480"/>
              </a:spcBef>
              <a:spcAft>
                <a:spcPts val="0"/>
              </a:spcAft>
              <a:buClr>
                <a:schemeClr val="dk1"/>
              </a:buClr>
              <a:buSzPts val="2400"/>
              <a:buChar char="•"/>
              <a:defRPr sz="2400"/>
            </a:lvl1pPr>
            <a:lvl2pPr marL="914400" lvl="1" indent="-355600" algn="l">
              <a:lnSpc>
                <a:spcPct val="100000"/>
              </a:lnSpc>
              <a:spcBef>
                <a:spcPts val="400"/>
              </a:spcBef>
              <a:spcAft>
                <a:spcPts val="0"/>
              </a:spcAft>
              <a:buClr>
                <a:schemeClr val="dk1"/>
              </a:buClr>
              <a:buSzPts val="2000"/>
              <a:buChar char="–"/>
              <a:defRPr sz="2000"/>
            </a:lvl2pPr>
            <a:lvl3pPr marL="1371600" lvl="2" indent="-342900" algn="l">
              <a:lnSpc>
                <a:spcPct val="100000"/>
              </a:lnSpc>
              <a:spcBef>
                <a:spcPts val="360"/>
              </a:spcBef>
              <a:spcAft>
                <a:spcPts val="0"/>
              </a:spcAft>
              <a:buClr>
                <a:schemeClr val="dk1"/>
              </a:buClr>
              <a:buSzPts val="1800"/>
              <a:buChar char="•"/>
              <a:defRPr sz="1800"/>
            </a:lvl3pPr>
            <a:lvl4pPr marL="1828800" lvl="3" indent="-330200" algn="l">
              <a:lnSpc>
                <a:spcPct val="100000"/>
              </a:lnSpc>
              <a:spcBef>
                <a:spcPts val="320"/>
              </a:spcBef>
              <a:spcAft>
                <a:spcPts val="0"/>
              </a:spcAft>
              <a:buClr>
                <a:schemeClr val="dk1"/>
              </a:buClr>
              <a:buSzPts val="1600"/>
              <a:buChar char="–"/>
              <a:defRPr sz="1600"/>
            </a:lvl4pPr>
            <a:lvl5pPr marL="2286000" lvl="4" indent="-330200" algn="l">
              <a:lnSpc>
                <a:spcPct val="100000"/>
              </a:lnSpc>
              <a:spcBef>
                <a:spcPts val="320"/>
              </a:spcBef>
              <a:spcAft>
                <a:spcPts val="0"/>
              </a:spcAft>
              <a:buClr>
                <a:schemeClr val="dk1"/>
              </a:buClr>
              <a:buSzPts val="1600"/>
              <a:buChar char="»"/>
              <a:defRPr sz="1600"/>
            </a:lvl5pPr>
            <a:lvl6pPr marL="2743200" lvl="5" indent="-330200" algn="l">
              <a:lnSpc>
                <a:spcPct val="100000"/>
              </a:lnSpc>
              <a:spcBef>
                <a:spcPts val="320"/>
              </a:spcBef>
              <a:spcAft>
                <a:spcPts val="0"/>
              </a:spcAft>
              <a:buClr>
                <a:schemeClr val="dk1"/>
              </a:buClr>
              <a:buSzPts val="1600"/>
              <a:buChar char="•"/>
              <a:defRPr sz="1600"/>
            </a:lvl6pPr>
            <a:lvl7pPr marL="3200400" lvl="6" indent="-330200" algn="l">
              <a:lnSpc>
                <a:spcPct val="100000"/>
              </a:lnSpc>
              <a:spcBef>
                <a:spcPts val="320"/>
              </a:spcBef>
              <a:spcAft>
                <a:spcPts val="0"/>
              </a:spcAft>
              <a:buClr>
                <a:schemeClr val="dk1"/>
              </a:buClr>
              <a:buSzPts val="1600"/>
              <a:buChar char="•"/>
              <a:defRPr sz="1600"/>
            </a:lvl7pPr>
            <a:lvl8pPr marL="3657600" lvl="7" indent="-330200" algn="l">
              <a:lnSpc>
                <a:spcPct val="100000"/>
              </a:lnSpc>
              <a:spcBef>
                <a:spcPts val="320"/>
              </a:spcBef>
              <a:spcAft>
                <a:spcPts val="0"/>
              </a:spcAft>
              <a:buClr>
                <a:schemeClr val="dk1"/>
              </a:buClr>
              <a:buSzPts val="1600"/>
              <a:buChar char="•"/>
              <a:defRPr sz="1600"/>
            </a:lvl8pPr>
            <a:lvl9pPr marL="4114800" lvl="8" indent="-330200" algn="l">
              <a:lnSpc>
                <a:spcPct val="100000"/>
              </a:lnSpc>
              <a:spcBef>
                <a:spcPts val="320"/>
              </a:spcBef>
              <a:spcAft>
                <a:spcPts val="0"/>
              </a:spcAft>
              <a:buClr>
                <a:schemeClr val="dk1"/>
              </a:buClr>
              <a:buSzPts val="1600"/>
              <a:buChar char="•"/>
              <a:defRPr sz="1600"/>
            </a:lvl9pPr>
          </a:lstStyle>
          <a:p>
            <a:endParaRPr/>
          </a:p>
        </p:txBody>
      </p:sp>
      <p:sp>
        <p:nvSpPr>
          <p:cNvPr id="46" name="Google Shape;46;p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8" name="Google Shape;48;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4"/>
        <p:cNvGrpSpPr/>
        <p:nvPr/>
      </p:nvGrpSpPr>
      <p:grpSpPr>
        <a:xfrm>
          <a:off x="0" y="0"/>
          <a:ext cx="0" cy="0"/>
          <a:chOff x="0" y="0"/>
          <a:chExt cx="0" cy="0"/>
        </a:xfrm>
      </p:grpSpPr>
      <p:sp>
        <p:nvSpPr>
          <p:cNvPr id="55" name="Google Shape;55;p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8"/>
        <p:cNvGrpSpPr/>
        <p:nvPr/>
      </p:nvGrpSpPr>
      <p:grpSpPr>
        <a:xfrm>
          <a:off x="0" y="0"/>
          <a:ext cx="0" cy="0"/>
          <a:chOff x="0" y="0"/>
          <a:chExt cx="0" cy="0"/>
        </a:xfrm>
      </p:grpSpPr>
      <p:sp>
        <p:nvSpPr>
          <p:cNvPr id="59" name="Google Shape;59;p9"/>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Autofit/>
          </a:bodyPr>
          <a:lstStyle>
            <a:lvl1pPr lvl="0" algn="l">
              <a:lnSpc>
                <a:spcPct val="100000"/>
              </a:lnSpc>
              <a:spcBef>
                <a:spcPts val="0"/>
              </a:spcBef>
              <a:spcAft>
                <a:spcPts val="0"/>
              </a:spcAft>
              <a:buClr>
                <a:schemeClr val="dk1"/>
              </a:buClr>
              <a:buSzPts val="2000"/>
              <a:buFont typeface="Calibri"/>
              <a:buNone/>
              <a:defRPr sz="2000" b="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9"/>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Autofit/>
          </a:bodyPr>
          <a:lstStyle>
            <a:lvl1pPr marL="457200" lvl="0" indent="-431800" algn="l">
              <a:lnSpc>
                <a:spcPct val="100000"/>
              </a:lnSpc>
              <a:spcBef>
                <a:spcPts val="640"/>
              </a:spcBef>
              <a:spcAft>
                <a:spcPts val="0"/>
              </a:spcAft>
              <a:buClr>
                <a:schemeClr val="dk1"/>
              </a:buClr>
              <a:buSzPts val="3200"/>
              <a:buChar char="•"/>
              <a:defRPr sz="3200"/>
            </a:lvl1pPr>
            <a:lvl2pPr marL="914400" lvl="1" indent="-406400" algn="l">
              <a:lnSpc>
                <a:spcPct val="100000"/>
              </a:lnSpc>
              <a:spcBef>
                <a:spcPts val="560"/>
              </a:spcBef>
              <a:spcAft>
                <a:spcPts val="0"/>
              </a:spcAft>
              <a:buClr>
                <a:schemeClr val="dk1"/>
              </a:buClr>
              <a:buSzPts val="2800"/>
              <a:buChar char="–"/>
              <a:defRPr sz="2800"/>
            </a:lvl2pPr>
            <a:lvl3pPr marL="1371600" lvl="2" indent="-381000" algn="l">
              <a:lnSpc>
                <a:spcPct val="100000"/>
              </a:lnSpc>
              <a:spcBef>
                <a:spcPts val="480"/>
              </a:spcBef>
              <a:spcAft>
                <a:spcPts val="0"/>
              </a:spcAft>
              <a:buClr>
                <a:schemeClr val="dk1"/>
              </a:buClr>
              <a:buSzPts val="2400"/>
              <a:buChar char="•"/>
              <a:defRPr sz="2400"/>
            </a:lvl3pPr>
            <a:lvl4pPr marL="1828800" lvl="3" indent="-355600" algn="l">
              <a:lnSpc>
                <a:spcPct val="100000"/>
              </a:lnSpc>
              <a:spcBef>
                <a:spcPts val="400"/>
              </a:spcBef>
              <a:spcAft>
                <a:spcPts val="0"/>
              </a:spcAft>
              <a:buClr>
                <a:schemeClr val="dk1"/>
              </a:buClr>
              <a:buSzPts val="2000"/>
              <a:buChar char="–"/>
              <a:defRPr sz="2000"/>
            </a:lvl4pPr>
            <a:lvl5pPr marL="2286000" lvl="4" indent="-355600" algn="l">
              <a:lnSpc>
                <a:spcPct val="100000"/>
              </a:lnSpc>
              <a:spcBef>
                <a:spcPts val="400"/>
              </a:spcBef>
              <a:spcAft>
                <a:spcPts val="0"/>
              </a:spcAft>
              <a:buClr>
                <a:schemeClr val="dk1"/>
              </a:buClr>
              <a:buSzPts val="2000"/>
              <a:buChar char="»"/>
              <a:defRPr sz="2000"/>
            </a:lvl5pPr>
            <a:lvl6pPr marL="2743200" lvl="5" indent="-355600" algn="l">
              <a:lnSpc>
                <a:spcPct val="100000"/>
              </a:lnSpc>
              <a:spcBef>
                <a:spcPts val="400"/>
              </a:spcBef>
              <a:spcAft>
                <a:spcPts val="0"/>
              </a:spcAft>
              <a:buClr>
                <a:schemeClr val="dk1"/>
              </a:buClr>
              <a:buSzPts val="2000"/>
              <a:buChar char="•"/>
              <a:defRPr sz="2000"/>
            </a:lvl6pPr>
            <a:lvl7pPr marL="3200400" lvl="6" indent="-355600" algn="l">
              <a:lnSpc>
                <a:spcPct val="100000"/>
              </a:lnSpc>
              <a:spcBef>
                <a:spcPts val="400"/>
              </a:spcBef>
              <a:spcAft>
                <a:spcPts val="0"/>
              </a:spcAft>
              <a:buClr>
                <a:schemeClr val="dk1"/>
              </a:buClr>
              <a:buSzPts val="2000"/>
              <a:buChar char="•"/>
              <a:defRPr sz="2000"/>
            </a:lvl7pPr>
            <a:lvl8pPr marL="3657600" lvl="7" indent="-355600" algn="l">
              <a:lnSpc>
                <a:spcPct val="100000"/>
              </a:lnSpc>
              <a:spcBef>
                <a:spcPts val="400"/>
              </a:spcBef>
              <a:spcAft>
                <a:spcPts val="0"/>
              </a:spcAft>
              <a:buClr>
                <a:schemeClr val="dk1"/>
              </a:buClr>
              <a:buSzPts val="2000"/>
              <a:buChar char="•"/>
              <a:defRPr sz="2000"/>
            </a:lvl8pPr>
            <a:lvl9pPr marL="4114800" lvl="8" indent="-355600" algn="l">
              <a:lnSpc>
                <a:spcPct val="100000"/>
              </a:lnSpc>
              <a:spcBef>
                <a:spcPts val="400"/>
              </a:spcBef>
              <a:spcAft>
                <a:spcPts val="0"/>
              </a:spcAft>
              <a:buClr>
                <a:schemeClr val="dk1"/>
              </a:buClr>
              <a:buSzPts val="2000"/>
              <a:buChar char="•"/>
              <a:defRPr sz="2000"/>
            </a:lvl9pPr>
          </a:lstStyle>
          <a:p>
            <a:endParaRPr/>
          </a:p>
        </p:txBody>
      </p:sp>
      <p:sp>
        <p:nvSpPr>
          <p:cNvPr id="61" name="Google Shape;61;p9"/>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280"/>
              </a:spcBef>
              <a:spcAft>
                <a:spcPts val="0"/>
              </a:spcAft>
              <a:buClr>
                <a:schemeClr val="dk1"/>
              </a:buClr>
              <a:buSzPts val="1400"/>
              <a:buNone/>
              <a:defRPr sz="1400"/>
            </a:lvl1pPr>
            <a:lvl2pPr marL="914400" lvl="1" indent="-228600" algn="l">
              <a:lnSpc>
                <a:spcPct val="100000"/>
              </a:lnSpc>
              <a:spcBef>
                <a:spcPts val="240"/>
              </a:spcBef>
              <a:spcAft>
                <a:spcPts val="0"/>
              </a:spcAft>
              <a:buClr>
                <a:schemeClr val="dk1"/>
              </a:buClr>
              <a:buSzPts val="1200"/>
              <a:buNone/>
              <a:defRPr sz="1200"/>
            </a:lvl2pPr>
            <a:lvl3pPr marL="1371600" lvl="2" indent="-228600" algn="l">
              <a:lnSpc>
                <a:spcPct val="100000"/>
              </a:lnSpc>
              <a:spcBef>
                <a:spcPts val="200"/>
              </a:spcBef>
              <a:spcAft>
                <a:spcPts val="0"/>
              </a:spcAft>
              <a:buClr>
                <a:schemeClr val="dk1"/>
              </a:buClr>
              <a:buSzPts val="1000"/>
              <a:buNone/>
              <a:defRPr sz="1000"/>
            </a:lvl3pPr>
            <a:lvl4pPr marL="1828800" lvl="3" indent="-228600" algn="l">
              <a:lnSpc>
                <a:spcPct val="100000"/>
              </a:lnSpc>
              <a:spcBef>
                <a:spcPts val="180"/>
              </a:spcBef>
              <a:spcAft>
                <a:spcPts val="0"/>
              </a:spcAft>
              <a:buClr>
                <a:schemeClr val="dk1"/>
              </a:buClr>
              <a:buSzPts val="900"/>
              <a:buNone/>
              <a:defRPr sz="900"/>
            </a:lvl4pPr>
            <a:lvl5pPr marL="2286000" lvl="4" indent="-228600" algn="l">
              <a:lnSpc>
                <a:spcPct val="100000"/>
              </a:lnSpc>
              <a:spcBef>
                <a:spcPts val="180"/>
              </a:spcBef>
              <a:spcAft>
                <a:spcPts val="0"/>
              </a:spcAft>
              <a:buClr>
                <a:schemeClr val="dk1"/>
              </a:buClr>
              <a:buSzPts val="900"/>
              <a:buNone/>
              <a:defRPr sz="900"/>
            </a:lvl5pPr>
            <a:lvl6pPr marL="2743200" lvl="5" indent="-228600" algn="l">
              <a:lnSpc>
                <a:spcPct val="100000"/>
              </a:lnSpc>
              <a:spcBef>
                <a:spcPts val="180"/>
              </a:spcBef>
              <a:spcAft>
                <a:spcPts val="0"/>
              </a:spcAft>
              <a:buClr>
                <a:schemeClr val="dk1"/>
              </a:buClr>
              <a:buSzPts val="900"/>
              <a:buNone/>
              <a:defRPr sz="900"/>
            </a:lvl6pPr>
            <a:lvl7pPr marL="3200400" lvl="6" indent="-228600" algn="l">
              <a:lnSpc>
                <a:spcPct val="100000"/>
              </a:lnSpc>
              <a:spcBef>
                <a:spcPts val="180"/>
              </a:spcBef>
              <a:spcAft>
                <a:spcPts val="0"/>
              </a:spcAft>
              <a:buClr>
                <a:schemeClr val="dk1"/>
              </a:buClr>
              <a:buSzPts val="900"/>
              <a:buNone/>
              <a:defRPr sz="900"/>
            </a:lvl7pPr>
            <a:lvl8pPr marL="3657600" lvl="7" indent="-228600" algn="l">
              <a:lnSpc>
                <a:spcPct val="100000"/>
              </a:lnSpc>
              <a:spcBef>
                <a:spcPts val="180"/>
              </a:spcBef>
              <a:spcAft>
                <a:spcPts val="0"/>
              </a:spcAft>
              <a:buClr>
                <a:schemeClr val="dk1"/>
              </a:buClr>
              <a:buSzPts val="900"/>
              <a:buNone/>
              <a:defRPr sz="900"/>
            </a:lvl8pPr>
            <a:lvl9pPr marL="4114800" lvl="8" indent="-228600" algn="l">
              <a:lnSpc>
                <a:spcPct val="100000"/>
              </a:lnSpc>
              <a:spcBef>
                <a:spcPts val="180"/>
              </a:spcBef>
              <a:spcAft>
                <a:spcPts val="0"/>
              </a:spcAft>
              <a:buClr>
                <a:schemeClr val="dk1"/>
              </a:buClr>
              <a:buSzPts val="900"/>
              <a:buNone/>
              <a:defRPr sz="900"/>
            </a:lvl9pPr>
          </a:lstStyle>
          <a:p>
            <a:endParaRPr/>
          </a:p>
        </p:txBody>
      </p:sp>
      <p:sp>
        <p:nvSpPr>
          <p:cNvPr id="62" name="Google Shape;62;p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4" name="Google Shape;64;p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5"/>
        <p:cNvGrpSpPr/>
        <p:nvPr/>
      </p:nvGrpSpPr>
      <p:grpSpPr>
        <a:xfrm>
          <a:off x="0" y="0"/>
          <a:ext cx="0" cy="0"/>
          <a:chOff x="0" y="0"/>
          <a:chExt cx="0" cy="0"/>
        </a:xfrm>
      </p:grpSpPr>
      <p:sp>
        <p:nvSpPr>
          <p:cNvPr id="66" name="Google Shape;66;p10"/>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Autofit/>
          </a:bodyPr>
          <a:lstStyle>
            <a:lvl1pPr lvl="0" algn="l">
              <a:lnSpc>
                <a:spcPct val="100000"/>
              </a:lnSpc>
              <a:spcBef>
                <a:spcPts val="0"/>
              </a:spcBef>
              <a:spcAft>
                <a:spcPts val="0"/>
              </a:spcAft>
              <a:buClr>
                <a:schemeClr val="dk1"/>
              </a:buClr>
              <a:buSzPts val="2000"/>
              <a:buFont typeface="Calibri"/>
              <a:buNone/>
              <a:defRPr sz="2000" b="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10"/>
          <p:cNvSpPr>
            <a:spLocks noGrp="1"/>
          </p:cNvSpPr>
          <p:nvPr>
            <p:ph type="pic" idx="2"/>
          </p:nvPr>
        </p:nvSpPr>
        <p:spPr>
          <a:xfrm>
            <a:off x="1792288" y="612775"/>
            <a:ext cx="5486400" cy="4114800"/>
          </a:xfrm>
          <a:prstGeom prst="rect">
            <a:avLst/>
          </a:prstGeom>
          <a:noFill/>
          <a:ln>
            <a:noFill/>
          </a:ln>
        </p:spPr>
      </p:sp>
      <p:sp>
        <p:nvSpPr>
          <p:cNvPr id="68" name="Google Shape;68;p10"/>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280"/>
              </a:spcBef>
              <a:spcAft>
                <a:spcPts val="0"/>
              </a:spcAft>
              <a:buClr>
                <a:schemeClr val="dk1"/>
              </a:buClr>
              <a:buSzPts val="1400"/>
              <a:buNone/>
              <a:defRPr sz="1400"/>
            </a:lvl1pPr>
            <a:lvl2pPr marL="914400" lvl="1" indent="-228600" algn="l">
              <a:lnSpc>
                <a:spcPct val="100000"/>
              </a:lnSpc>
              <a:spcBef>
                <a:spcPts val="240"/>
              </a:spcBef>
              <a:spcAft>
                <a:spcPts val="0"/>
              </a:spcAft>
              <a:buClr>
                <a:schemeClr val="dk1"/>
              </a:buClr>
              <a:buSzPts val="1200"/>
              <a:buNone/>
              <a:defRPr sz="1200"/>
            </a:lvl2pPr>
            <a:lvl3pPr marL="1371600" lvl="2" indent="-228600" algn="l">
              <a:lnSpc>
                <a:spcPct val="100000"/>
              </a:lnSpc>
              <a:spcBef>
                <a:spcPts val="200"/>
              </a:spcBef>
              <a:spcAft>
                <a:spcPts val="0"/>
              </a:spcAft>
              <a:buClr>
                <a:schemeClr val="dk1"/>
              </a:buClr>
              <a:buSzPts val="1000"/>
              <a:buNone/>
              <a:defRPr sz="1000"/>
            </a:lvl3pPr>
            <a:lvl4pPr marL="1828800" lvl="3" indent="-228600" algn="l">
              <a:lnSpc>
                <a:spcPct val="100000"/>
              </a:lnSpc>
              <a:spcBef>
                <a:spcPts val="180"/>
              </a:spcBef>
              <a:spcAft>
                <a:spcPts val="0"/>
              </a:spcAft>
              <a:buClr>
                <a:schemeClr val="dk1"/>
              </a:buClr>
              <a:buSzPts val="900"/>
              <a:buNone/>
              <a:defRPr sz="900"/>
            </a:lvl4pPr>
            <a:lvl5pPr marL="2286000" lvl="4" indent="-228600" algn="l">
              <a:lnSpc>
                <a:spcPct val="100000"/>
              </a:lnSpc>
              <a:spcBef>
                <a:spcPts val="180"/>
              </a:spcBef>
              <a:spcAft>
                <a:spcPts val="0"/>
              </a:spcAft>
              <a:buClr>
                <a:schemeClr val="dk1"/>
              </a:buClr>
              <a:buSzPts val="900"/>
              <a:buNone/>
              <a:defRPr sz="900"/>
            </a:lvl5pPr>
            <a:lvl6pPr marL="2743200" lvl="5" indent="-228600" algn="l">
              <a:lnSpc>
                <a:spcPct val="100000"/>
              </a:lnSpc>
              <a:spcBef>
                <a:spcPts val="180"/>
              </a:spcBef>
              <a:spcAft>
                <a:spcPts val="0"/>
              </a:spcAft>
              <a:buClr>
                <a:schemeClr val="dk1"/>
              </a:buClr>
              <a:buSzPts val="900"/>
              <a:buNone/>
              <a:defRPr sz="900"/>
            </a:lvl6pPr>
            <a:lvl7pPr marL="3200400" lvl="6" indent="-228600" algn="l">
              <a:lnSpc>
                <a:spcPct val="100000"/>
              </a:lnSpc>
              <a:spcBef>
                <a:spcPts val="180"/>
              </a:spcBef>
              <a:spcAft>
                <a:spcPts val="0"/>
              </a:spcAft>
              <a:buClr>
                <a:schemeClr val="dk1"/>
              </a:buClr>
              <a:buSzPts val="900"/>
              <a:buNone/>
              <a:defRPr sz="900"/>
            </a:lvl7pPr>
            <a:lvl8pPr marL="3657600" lvl="7" indent="-228600" algn="l">
              <a:lnSpc>
                <a:spcPct val="100000"/>
              </a:lnSpc>
              <a:spcBef>
                <a:spcPts val="180"/>
              </a:spcBef>
              <a:spcAft>
                <a:spcPts val="0"/>
              </a:spcAft>
              <a:buClr>
                <a:schemeClr val="dk1"/>
              </a:buClr>
              <a:buSzPts val="900"/>
              <a:buNone/>
              <a:defRPr sz="900"/>
            </a:lvl8pPr>
            <a:lvl9pPr marL="4114800" lvl="8" indent="-228600" algn="l">
              <a:lnSpc>
                <a:spcPct val="100000"/>
              </a:lnSpc>
              <a:spcBef>
                <a:spcPts val="180"/>
              </a:spcBef>
              <a:spcAft>
                <a:spcPts val="0"/>
              </a:spcAft>
              <a:buClr>
                <a:schemeClr val="dk1"/>
              </a:buClr>
              <a:buSzPts val="900"/>
              <a:buNone/>
              <a:defRPr sz="900"/>
            </a:lvl9pPr>
          </a:lstStyle>
          <a:p>
            <a:endParaRPr/>
          </a:p>
        </p:txBody>
      </p:sp>
      <p:sp>
        <p:nvSpPr>
          <p:cNvPr id="69" name="Google Shape;69;p1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1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1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1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4" name="Google Shape;74;p11"/>
          <p:cNvSpPr txBox="1">
            <a:spLocks noGrp="1"/>
          </p:cNvSpPr>
          <p:nvPr>
            <p:ph type="body" idx="1"/>
          </p:nvPr>
        </p:nvSpPr>
        <p:spPr>
          <a:xfrm rot="5400000">
            <a:off x="2309018" y="-251619"/>
            <a:ext cx="4525963" cy="8229600"/>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75" name="Google Shape;75;p1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1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12"/>
          <p:cNvSpPr txBox="1">
            <a:spLocks noGrp="1"/>
          </p:cNvSpPr>
          <p:nvPr>
            <p:ph type="title"/>
          </p:nvPr>
        </p:nvSpPr>
        <p:spPr>
          <a:xfrm rot="5400000">
            <a:off x="4732337" y="2171700"/>
            <a:ext cx="5851525" cy="2057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0" name="Google Shape;80;p12"/>
          <p:cNvSpPr txBox="1">
            <a:spLocks noGrp="1"/>
          </p:cNvSpPr>
          <p:nvPr>
            <p:ph type="body" idx="1"/>
          </p:nvPr>
        </p:nvSpPr>
        <p:spPr>
          <a:xfrm rot="5400000">
            <a:off x="541338" y="190501"/>
            <a:ext cx="5851525" cy="6019800"/>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81" name="Google Shape;81;p1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2" name="Google Shape;82;p1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1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Autofit/>
          </a:bodyPr>
          <a:lstStyle>
            <a:lvl1pPr marL="457200" marR="0" lvl="0" indent="-431800" algn="l" rtl="0">
              <a:lnSpc>
                <a:spcPct val="100000"/>
              </a:lnSpc>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2" name="Google Shape;12;p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8" name="Google Shape;88;p13"/>
          <p:cNvSpPr txBox="1">
            <a:spLocks noGrp="1"/>
          </p:cNvSpPr>
          <p:nvPr>
            <p:ph type="ctrTitle"/>
          </p:nvPr>
        </p:nvSpPr>
        <p:spPr>
          <a:xfrm>
            <a:off x="1447800" y="2514600"/>
            <a:ext cx="7086600" cy="14700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4400"/>
              <a:buFont typeface="Calibri"/>
              <a:buNone/>
            </a:pPr>
            <a:r>
              <a:rPr lang="en-US"/>
              <a:t>CA 501 : CYBER SECURITY</a:t>
            </a:r>
            <a:endParaRPr/>
          </a:p>
        </p:txBody>
      </p:sp>
      <p:sp>
        <p:nvSpPr>
          <p:cNvPr id="89" name="Google Shape;89;p13"/>
          <p:cNvSpPr txBox="1">
            <a:spLocks noGrp="1"/>
          </p:cNvSpPr>
          <p:nvPr>
            <p:ph type="subTitle" idx="1"/>
          </p:nvPr>
        </p:nvSpPr>
        <p:spPr>
          <a:xfrm>
            <a:off x="1371600" y="4419600"/>
            <a:ext cx="6953534" cy="1219200"/>
          </a:xfrm>
          <a:prstGeom prst="rect">
            <a:avLst/>
          </a:prstGeom>
          <a:noFill/>
          <a:ln>
            <a:noFill/>
          </a:ln>
        </p:spPr>
        <p:txBody>
          <a:bodyPr spcFirstLastPara="1" wrap="square" lIns="91425" tIns="45700" rIns="91425" bIns="45700" anchor="t" anchorCtr="0">
            <a:noAutofit/>
          </a:bodyPr>
          <a:lstStyle/>
          <a:p>
            <a:pPr marL="0" lvl="0" indent="0" algn="ctr" rtl="0">
              <a:lnSpc>
                <a:spcPct val="100000"/>
              </a:lnSpc>
              <a:spcBef>
                <a:spcPts val="0"/>
              </a:spcBef>
              <a:spcAft>
                <a:spcPts val="0"/>
              </a:spcAft>
              <a:buClr>
                <a:schemeClr val="dk1"/>
              </a:buClr>
              <a:buSzPts val="3600"/>
              <a:buNone/>
            </a:pPr>
            <a:r>
              <a:rPr lang="en-US" sz="3600">
                <a:solidFill>
                  <a:schemeClr val="dk1"/>
                </a:solidFill>
              </a:rPr>
              <a:t>Chapter 4 - Cybercrimes and Cyber security : The Legal Perspectives</a:t>
            </a:r>
            <a:endParaRPr/>
          </a:p>
        </p:txBody>
      </p:sp>
      <p:sp>
        <p:nvSpPr>
          <p:cNvPr id="90" name="Google Shape;90;p1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1</a:t>
            </a:fld>
            <a:endParaRPr/>
          </a:p>
        </p:txBody>
      </p:sp>
      <p:sp>
        <p:nvSpPr>
          <p:cNvPr id="91" name="Google Shape;91;p13" descr="Types of Operating systems | Instrumentation and Control Engineering"/>
          <p:cNvSpPr/>
          <p:nvPr/>
        </p:nvSpPr>
        <p:spPr>
          <a:xfrm>
            <a:off x="155575" y="-144463"/>
            <a:ext cx="304800" cy="304801"/>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pic>
        <p:nvPicPr>
          <p:cNvPr id="92" name="Google Shape;92;p13"/>
          <p:cNvPicPr preferRelativeResize="0"/>
          <p:nvPr/>
        </p:nvPicPr>
        <p:blipFill rotWithShape="1">
          <a:blip r:embed="rId3">
            <a:alphaModFix/>
          </a:blip>
          <a:srcRect/>
          <a:stretch/>
        </p:blipFill>
        <p:spPr>
          <a:xfrm>
            <a:off x="5362575" y="160338"/>
            <a:ext cx="3609438" cy="1636712"/>
          </a:xfrm>
          <a:prstGeom prst="rect">
            <a:avLst/>
          </a:prstGeom>
          <a:noFill/>
          <a:ln>
            <a:noFill/>
          </a:ln>
        </p:spPr>
      </p:pic>
      <p:pic>
        <p:nvPicPr>
          <p:cNvPr id="93" name="Google Shape;93;p13"/>
          <p:cNvPicPr preferRelativeResize="0"/>
          <p:nvPr/>
        </p:nvPicPr>
        <p:blipFill rotWithShape="1">
          <a:blip r:embed="rId4">
            <a:alphaModFix/>
          </a:blip>
          <a:srcRect/>
          <a:stretch/>
        </p:blipFill>
        <p:spPr>
          <a:xfrm>
            <a:off x="155575" y="207169"/>
            <a:ext cx="2971800" cy="154305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sp>
        <p:nvSpPr>
          <p:cNvPr id="98" name="Google Shape;98;p14"/>
          <p:cNvSpPr txBox="1">
            <a:spLocks noGrp="1"/>
          </p:cNvSpPr>
          <p:nvPr>
            <p:ph type="title"/>
          </p:nvPr>
        </p:nvSpPr>
        <p:spPr>
          <a:xfrm>
            <a:off x="457200" y="179104"/>
            <a:ext cx="8229600" cy="858126"/>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chemeClr val="dk1"/>
              </a:buClr>
              <a:buSzPts val="4400"/>
              <a:buFont typeface="Calibri"/>
              <a:buNone/>
            </a:pPr>
            <a:r>
              <a:rPr lang="en-US"/>
              <a:t>Let’s Start</a:t>
            </a:r>
            <a:endParaRPr/>
          </a:p>
        </p:txBody>
      </p:sp>
      <p:sp>
        <p:nvSpPr>
          <p:cNvPr id="99" name="Google Shape;99;p14"/>
          <p:cNvSpPr txBox="1">
            <a:spLocks noGrp="1"/>
          </p:cNvSpPr>
          <p:nvPr>
            <p:ph type="body" idx="1"/>
          </p:nvPr>
        </p:nvSpPr>
        <p:spPr>
          <a:xfrm>
            <a:off x="457200" y="1037230"/>
            <a:ext cx="8371112" cy="5684245"/>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rgbClr val="31859B"/>
              </a:buClr>
              <a:buSzPts val="3200"/>
              <a:buNone/>
            </a:pPr>
            <a:r>
              <a:rPr lang="en-US">
                <a:solidFill>
                  <a:srgbClr val="538CD5"/>
                </a:solidFill>
              </a:rPr>
              <a:t>Topics:</a:t>
            </a:r>
            <a:endParaRPr>
              <a:solidFill>
                <a:srgbClr val="538CD5"/>
              </a:solidFill>
            </a:endParaRPr>
          </a:p>
          <a:p>
            <a:pPr marL="114300" lvl="0" indent="0" algn="l" rtl="0">
              <a:lnSpc>
                <a:spcPct val="100000"/>
              </a:lnSpc>
              <a:spcBef>
                <a:spcPts val="360"/>
              </a:spcBef>
              <a:spcAft>
                <a:spcPts val="0"/>
              </a:spcAft>
              <a:buSzPts val="1800"/>
              <a:buNone/>
            </a:pPr>
            <a:endParaRPr sz="2000">
              <a:solidFill>
                <a:srgbClr val="538CD5"/>
              </a:solidFill>
            </a:endParaRPr>
          </a:p>
          <a:p>
            <a:pPr marL="114300" lvl="0" indent="0" algn="l" rtl="0">
              <a:lnSpc>
                <a:spcPct val="100000"/>
              </a:lnSpc>
              <a:spcBef>
                <a:spcPts val="360"/>
              </a:spcBef>
              <a:spcAft>
                <a:spcPts val="0"/>
              </a:spcAft>
              <a:buSzPts val="1800"/>
              <a:buNone/>
            </a:pPr>
            <a:endParaRPr sz="2000">
              <a:solidFill>
                <a:srgbClr val="538CD5"/>
              </a:solidFill>
            </a:endParaRPr>
          </a:p>
          <a:p>
            <a:pPr marL="114300" lvl="0" indent="0" algn="l" rtl="0">
              <a:lnSpc>
                <a:spcPct val="100000"/>
              </a:lnSpc>
              <a:spcBef>
                <a:spcPts val="360"/>
              </a:spcBef>
              <a:spcAft>
                <a:spcPts val="0"/>
              </a:spcAft>
              <a:buSzPts val="1800"/>
              <a:buNone/>
            </a:pPr>
            <a:r>
              <a:rPr lang="en-US" sz="2000">
                <a:solidFill>
                  <a:srgbClr val="538CD5"/>
                </a:solidFill>
              </a:rPr>
              <a:t>4.1 Introduction</a:t>
            </a:r>
            <a:endParaRPr/>
          </a:p>
          <a:p>
            <a:pPr marL="114300" lvl="0" indent="0" algn="l" rtl="0">
              <a:lnSpc>
                <a:spcPct val="100000"/>
              </a:lnSpc>
              <a:spcBef>
                <a:spcPts val="360"/>
              </a:spcBef>
              <a:spcAft>
                <a:spcPts val="0"/>
              </a:spcAft>
              <a:buSzPts val="1800"/>
              <a:buNone/>
            </a:pPr>
            <a:r>
              <a:rPr lang="en-US" sz="2000">
                <a:solidFill>
                  <a:srgbClr val="538CD5"/>
                </a:solidFill>
              </a:rPr>
              <a:t>4.2 Cybercrime and the Legal Landscape around the World</a:t>
            </a:r>
            <a:endParaRPr/>
          </a:p>
          <a:p>
            <a:pPr marL="114300" lvl="0" indent="0" algn="l" rtl="0">
              <a:lnSpc>
                <a:spcPct val="100000"/>
              </a:lnSpc>
              <a:spcBef>
                <a:spcPts val="360"/>
              </a:spcBef>
              <a:spcAft>
                <a:spcPts val="0"/>
              </a:spcAft>
              <a:buSzPts val="1800"/>
              <a:buNone/>
            </a:pPr>
            <a:r>
              <a:rPr lang="en-US" sz="2000">
                <a:solidFill>
                  <a:srgbClr val="538CD5"/>
                </a:solidFill>
              </a:rPr>
              <a:t>4.3 Why Do We Need Cyber laws: The Indian Context</a:t>
            </a:r>
            <a:endParaRPr/>
          </a:p>
          <a:p>
            <a:pPr marL="114300" lvl="0" indent="0" algn="l" rtl="0">
              <a:lnSpc>
                <a:spcPct val="100000"/>
              </a:lnSpc>
              <a:spcBef>
                <a:spcPts val="360"/>
              </a:spcBef>
              <a:spcAft>
                <a:spcPts val="0"/>
              </a:spcAft>
              <a:buSzPts val="1800"/>
              <a:buNone/>
            </a:pPr>
            <a:r>
              <a:rPr lang="en-US" sz="2000">
                <a:solidFill>
                  <a:srgbClr val="538CD5"/>
                </a:solidFill>
              </a:rPr>
              <a:t>4.4 The Indian IT Act</a:t>
            </a:r>
            <a:endParaRPr/>
          </a:p>
          <a:p>
            <a:pPr marL="114300" lvl="0" indent="0" algn="l" rtl="0">
              <a:lnSpc>
                <a:spcPct val="100000"/>
              </a:lnSpc>
              <a:spcBef>
                <a:spcPts val="360"/>
              </a:spcBef>
              <a:spcAft>
                <a:spcPts val="0"/>
              </a:spcAft>
              <a:buSzPts val="1800"/>
              <a:buNone/>
            </a:pPr>
            <a:r>
              <a:rPr lang="en-US" sz="2000">
                <a:solidFill>
                  <a:srgbClr val="538CD5"/>
                </a:solidFill>
              </a:rPr>
              <a:t>4.5 Challenges to Indian Law and Cybercrime Scenario in India</a:t>
            </a:r>
            <a:endParaRPr/>
          </a:p>
          <a:p>
            <a:pPr marL="114300" lvl="0" indent="0" algn="l" rtl="0">
              <a:lnSpc>
                <a:spcPct val="100000"/>
              </a:lnSpc>
              <a:spcBef>
                <a:spcPts val="360"/>
              </a:spcBef>
              <a:spcAft>
                <a:spcPts val="0"/>
              </a:spcAft>
              <a:buSzPts val="1800"/>
              <a:buNone/>
            </a:pPr>
            <a:r>
              <a:rPr lang="en-US" sz="2000">
                <a:solidFill>
                  <a:srgbClr val="538CD5"/>
                </a:solidFill>
              </a:rPr>
              <a:t>4.6 Consequences of not addressing the Weakness in Information Technology Act</a:t>
            </a:r>
            <a:endParaRPr/>
          </a:p>
          <a:p>
            <a:pPr marL="114300" lvl="0" indent="0" algn="l" rtl="0">
              <a:lnSpc>
                <a:spcPct val="100000"/>
              </a:lnSpc>
              <a:spcBef>
                <a:spcPts val="360"/>
              </a:spcBef>
              <a:spcAft>
                <a:spcPts val="0"/>
              </a:spcAft>
              <a:buSzPts val="1800"/>
              <a:buNone/>
            </a:pPr>
            <a:r>
              <a:rPr lang="en-US" sz="2000">
                <a:solidFill>
                  <a:srgbClr val="538CD5"/>
                </a:solidFill>
              </a:rPr>
              <a:t>4.7 Digital Signatures and the Indian IT Act</a:t>
            </a:r>
            <a:endParaRPr/>
          </a:p>
          <a:p>
            <a:pPr marL="114300" lvl="0" indent="0" algn="l" rtl="0">
              <a:lnSpc>
                <a:spcPct val="100000"/>
              </a:lnSpc>
              <a:spcBef>
                <a:spcPts val="360"/>
              </a:spcBef>
              <a:spcAft>
                <a:spcPts val="0"/>
              </a:spcAft>
              <a:buSzPts val="1800"/>
              <a:buNone/>
            </a:pPr>
            <a:r>
              <a:rPr lang="en-US" sz="2000">
                <a:solidFill>
                  <a:srgbClr val="538CD5"/>
                </a:solidFill>
              </a:rPr>
              <a:t>4.8 Amendments to the Indian IT Act</a:t>
            </a:r>
            <a:endParaRPr/>
          </a:p>
          <a:p>
            <a:pPr marL="114300" lvl="0" indent="0" algn="l" rtl="0">
              <a:lnSpc>
                <a:spcPct val="100000"/>
              </a:lnSpc>
              <a:spcBef>
                <a:spcPts val="360"/>
              </a:spcBef>
              <a:spcAft>
                <a:spcPts val="0"/>
              </a:spcAft>
              <a:buSzPts val="1800"/>
              <a:buNone/>
            </a:pPr>
            <a:r>
              <a:rPr lang="en-US" sz="2000">
                <a:solidFill>
                  <a:srgbClr val="538CD5"/>
                </a:solidFill>
              </a:rPr>
              <a:t>4.9 Cybercrime and Punishment</a:t>
            </a:r>
            <a:endParaRPr/>
          </a:p>
          <a:p>
            <a:pPr marL="114300" lvl="0" indent="0" algn="l" rtl="0">
              <a:lnSpc>
                <a:spcPct val="100000"/>
              </a:lnSpc>
              <a:spcBef>
                <a:spcPts val="360"/>
              </a:spcBef>
              <a:spcAft>
                <a:spcPts val="0"/>
              </a:spcAft>
              <a:buSzPts val="1800"/>
              <a:buNone/>
            </a:pPr>
            <a:r>
              <a:rPr lang="en-US" sz="2000">
                <a:solidFill>
                  <a:srgbClr val="538CD5"/>
                </a:solidFill>
              </a:rPr>
              <a:t>4.10 Cyber law, Technology and Students: Indian Scenario</a:t>
            </a:r>
            <a:endParaRPr sz="2000">
              <a:solidFill>
                <a:srgbClr val="538CD5"/>
              </a:solidFill>
            </a:endParaRPr>
          </a:p>
        </p:txBody>
      </p:sp>
      <p:sp>
        <p:nvSpPr>
          <p:cNvPr id="100" name="Google Shape;100;p1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2</a:t>
            </a:fld>
            <a:endParaRPr/>
          </a:p>
        </p:txBody>
      </p:sp>
      <p:pic>
        <p:nvPicPr>
          <p:cNvPr id="101" name="Google Shape;101;p14" descr="QA Software Testing | WebGreedy Technologies"/>
          <p:cNvPicPr preferRelativeResize="0"/>
          <p:nvPr/>
        </p:nvPicPr>
        <p:blipFill rotWithShape="1">
          <a:blip r:embed="rId3">
            <a:alphaModFix/>
          </a:blip>
          <a:srcRect/>
          <a:stretch/>
        </p:blipFill>
        <p:spPr>
          <a:xfrm>
            <a:off x="5347504" y="101601"/>
            <a:ext cx="3672319" cy="2294358"/>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5"/>
        <p:cNvGrpSpPr/>
        <p:nvPr/>
      </p:nvGrpSpPr>
      <p:grpSpPr>
        <a:xfrm>
          <a:off x="0" y="0"/>
          <a:ext cx="0" cy="0"/>
          <a:chOff x="0" y="0"/>
          <a:chExt cx="0" cy="0"/>
        </a:xfrm>
      </p:grpSpPr>
      <p:sp>
        <p:nvSpPr>
          <p:cNvPr id="106" name="Google Shape;106;p15"/>
          <p:cNvSpPr txBox="1">
            <a:spLocks noGrp="1"/>
          </p:cNvSpPr>
          <p:nvPr>
            <p:ph type="title"/>
          </p:nvPr>
        </p:nvSpPr>
        <p:spPr>
          <a:xfrm>
            <a:off x="0" y="0"/>
            <a:ext cx="9144000" cy="8382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4400"/>
              <a:buNone/>
            </a:pPr>
            <a:r>
              <a:rPr lang="en-US"/>
              <a:t>Introduction</a:t>
            </a:r>
            <a:endParaRPr/>
          </a:p>
        </p:txBody>
      </p:sp>
      <p:sp>
        <p:nvSpPr>
          <p:cNvPr id="107" name="Google Shape;107;p15"/>
          <p:cNvSpPr txBox="1">
            <a:spLocks noGrp="1"/>
          </p:cNvSpPr>
          <p:nvPr>
            <p:ph type="body" idx="1"/>
          </p:nvPr>
        </p:nvSpPr>
        <p:spPr>
          <a:xfrm>
            <a:off x="228600" y="902825"/>
            <a:ext cx="8763000" cy="5863099"/>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2000"/>
              <a:buNone/>
            </a:pPr>
            <a:r>
              <a:rPr lang="en-US" sz="2000" dirty="0">
                <a:solidFill>
                  <a:srgbClr val="538CD5"/>
                </a:solidFill>
              </a:rPr>
              <a:t>- With the rapid development of computer technology and internet over the years, the problem of cyber-crime has assumed gigantic proportions and emerged as a global issue. It has created an entirely new set of problems for law enforcement agencies all over the world. </a:t>
            </a:r>
          </a:p>
          <a:p>
            <a:pPr marL="0" lvl="0" indent="0" algn="l" rtl="0">
              <a:lnSpc>
                <a:spcPct val="100000"/>
              </a:lnSpc>
              <a:spcBef>
                <a:spcPts val="0"/>
              </a:spcBef>
              <a:spcAft>
                <a:spcPts val="0"/>
              </a:spcAft>
              <a:buSzPts val="2000"/>
              <a:buNone/>
            </a:pPr>
            <a:endParaRPr lang="en-US" sz="2000" dirty="0">
              <a:solidFill>
                <a:srgbClr val="538CD5"/>
              </a:solidFill>
            </a:endParaRPr>
          </a:p>
          <a:p>
            <a:pPr marL="0" lvl="0" indent="0" algn="l" rtl="0">
              <a:lnSpc>
                <a:spcPct val="100000"/>
              </a:lnSpc>
              <a:spcBef>
                <a:spcPts val="0"/>
              </a:spcBef>
              <a:spcAft>
                <a:spcPts val="0"/>
              </a:spcAft>
              <a:buSzPts val="2000"/>
              <a:buNone/>
            </a:pPr>
            <a:r>
              <a:rPr lang="en-US" sz="2000" dirty="0">
                <a:solidFill>
                  <a:srgbClr val="538CD5"/>
                </a:solidFill>
              </a:rPr>
              <a:t>- It has equally become cause of serious concern for the legal fraternity to find effective ways and means to combat cyber criminality because of its worldwide devastating effect. </a:t>
            </a:r>
            <a:endParaRPr dirty="0"/>
          </a:p>
          <a:p>
            <a:pPr marL="0" lvl="0" indent="0" algn="l" rtl="0">
              <a:lnSpc>
                <a:spcPct val="100000"/>
              </a:lnSpc>
              <a:spcBef>
                <a:spcPts val="0"/>
              </a:spcBef>
              <a:spcAft>
                <a:spcPts val="0"/>
              </a:spcAft>
              <a:buSzPts val="2000"/>
              <a:buNone/>
            </a:pPr>
            <a:endParaRPr sz="2000" dirty="0">
              <a:solidFill>
                <a:srgbClr val="538CD5"/>
              </a:solidFill>
            </a:endParaRPr>
          </a:p>
          <a:p>
            <a:pPr marL="0" lvl="0" indent="0" algn="l" rtl="0">
              <a:lnSpc>
                <a:spcPct val="100000"/>
              </a:lnSpc>
              <a:spcBef>
                <a:spcPts val="0"/>
              </a:spcBef>
              <a:spcAft>
                <a:spcPts val="0"/>
              </a:spcAft>
              <a:buSzPts val="2000"/>
              <a:buNone/>
            </a:pPr>
            <a:r>
              <a:rPr lang="en-US" sz="2000" dirty="0">
                <a:solidFill>
                  <a:srgbClr val="538CD5"/>
                </a:solidFill>
              </a:rPr>
              <a:t>Cyber law encompasses laws relating to:</a:t>
            </a:r>
            <a:endParaRPr dirty="0"/>
          </a:p>
          <a:p>
            <a:pPr marL="0" lvl="0" indent="0" algn="l" rtl="0">
              <a:lnSpc>
                <a:spcPct val="100000"/>
              </a:lnSpc>
              <a:spcBef>
                <a:spcPts val="0"/>
              </a:spcBef>
              <a:spcAft>
                <a:spcPts val="0"/>
              </a:spcAft>
              <a:buSzPts val="2000"/>
              <a:buNone/>
            </a:pPr>
            <a:r>
              <a:rPr lang="en-US" sz="2000" dirty="0">
                <a:solidFill>
                  <a:srgbClr val="538CD5"/>
                </a:solidFill>
              </a:rPr>
              <a:t>    Cyber crimes</a:t>
            </a:r>
            <a:endParaRPr dirty="0"/>
          </a:p>
          <a:p>
            <a:pPr marL="0" lvl="0" indent="0" algn="l" rtl="0">
              <a:lnSpc>
                <a:spcPct val="100000"/>
              </a:lnSpc>
              <a:spcBef>
                <a:spcPts val="0"/>
              </a:spcBef>
              <a:spcAft>
                <a:spcPts val="0"/>
              </a:spcAft>
              <a:buSzPts val="2000"/>
              <a:buNone/>
            </a:pPr>
            <a:r>
              <a:rPr lang="en-US" sz="2000" dirty="0">
                <a:solidFill>
                  <a:srgbClr val="538CD5"/>
                </a:solidFill>
              </a:rPr>
              <a:t>    Electronic and digital signatures</a:t>
            </a:r>
            <a:endParaRPr dirty="0"/>
          </a:p>
          <a:p>
            <a:pPr marL="0" lvl="0" indent="0" algn="l" rtl="0">
              <a:lnSpc>
                <a:spcPct val="100000"/>
              </a:lnSpc>
              <a:spcBef>
                <a:spcPts val="0"/>
              </a:spcBef>
              <a:spcAft>
                <a:spcPts val="0"/>
              </a:spcAft>
              <a:buSzPts val="2000"/>
              <a:buNone/>
            </a:pPr>
            <a:r>
              <a:rPr lang="en-US" sz="2000" dirty="0">
                <a:solidFill>
                  <a:srgbClr val="538CD5"/>
                </a:solidFill>
              </a:rPr>
              <a:t>    Intellectual property</a:t>
            </a:r>
            <a:endParaRPr dirty="0"/>
          </a:p>
          <a:p>
            <a:pPr marL="0" lvl="0" indent="0" algn="l" rtl="0">
              <a:lnSpc>
                <a:spcPct val="100000"/>
              </a:lnSpc>
              <a:spcBef>
                <a:spcPts val="0"/>
              </a:spcBef>
              <a:spcAft>
                <a:spcPts val="0"/>
              </a:spcAft>
              <a:buSzPts val="2000"/>
              <a:buNone/>
            </a:pPr>
            <a:r>
              <a:rPr lang="en-US" sz="2000" dirty="0">
                <a:solidFill>
                  <a:srgbClr val="538CD5"/>
                </a:solidFill>
              </a:rPr>
              <a:t>    Data protection and privacy</a:t>
            </a:r>
          </a:p>
          <a:p>
            <a:pPr marL="0" lvl="0" indent="0" algn="l" rtl="0">
              <a:lnSpc>
                <a:spcPct val="100000"/>
              </a:lnSpc>
              <a:spcBef>
                <a:spcPts val="0"/>
              </a:spcBef>
              <a:spcAft>
                <a:spcPts val="0"/>
              </a:spcAft>
              <a:buSzPts val="2000"/>
              <a:buNone/>
            </a:pPr>
            <a:endParaRPr dirty="0"/>
          </a:p>
          <a:p>
            <a:pPr marL="0" lvl="0" indent="0" algn="l" rtl="0">
              <a:lnSpc>
                <a:spcPct val="100000"/>
              </a:lnSpc>
              <a:spcBef>
                <a:spcPts val="0"/>
              </a:spcBef>
              <a:spcAft>
                <a:spcPts val="0"/>
              </a:spcAft>
              <a:buSzPts val="2000"/>
              <a:buNone/>
            </a:pPr>
            <a:endParaRPr sz="2000" dirty="0">
              <a:solidFill>
                <a:srgbClr val="538CD5"/>
              </a:solidFill>
            </a:endParaRPr>
          </a:p>
          <a:p>
            <a:pPr marL="0" lvl="0" indent="0" algn="l" rtl="0">
              <a:lnSpc>
                <a:spcPct val="100000"/>
              </a:lnSpc>
              <a:spcBef>
                <a:spcPts val="0"/>
              </a:spcBef>
              <a:spcAft>
                <a:spcPts val="0"/>
              </a:spcAft>
              <a:buSzPts val="2000"/>
              <a:buNone/>
            </a:pPr>
            <a:endParaRPr sz="2000" dirty="0"/>
          </a:p>
        </p:txBody>
      </p:sp>
      <p:sp>
        <p:nvSpPr>
          <p:cNvPr id="108" name="Google Shape;108;p15"/>
          <p:cNvSpPr txBox="1">
            <a:spLocks noGrp="1"/>
          </p:cNvSpPr>
          <p:nvPr>
            <p:ph type="sldNum" idx="12"/>
          </p:nvPr>
        </p:nvSpPr>
        <p:spPr>
          <a:xfrm>
            <a:off x="8534400" y="6400800"/>
            <a:ext cx="457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3</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sp>
        <p:nvSpPr>
          <p:cNvPr id="113" name="Google Shape;113;p16"/>
          <p:cNvSpPr txBox="1">
            <a:spLocks noGrp="1"/>
          </p:cNvSpPr>
          <p:nvPr>
            <p:ph type="title"/>
          </p:nvPr>
        </p:nvSpPr>
        <p:spPr>
          <a:xfrm>
            <a:off x="0" y="0"/>
            <a:ext cx="9144000" cy="8382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4400"/>
              <a:buNone/>
            </a:pPr>
            <a:r>
              <a:rPr lang="en-US" sz="2800"/>
              <a:t>Cybercrime and the Legal Landscape around the World</a:t>
            </a:r>
            <a:endParaRPr sz="2800"/>
          </a:p>
        </p:txBody>
      </p:sp>
      <p:sp>
        <p:nvSpPr>
          <p:cNvPr id="114" name="Google Shape;114;p16"/>
          <p:cNvSpPr txBox="1">
            <a:spLocks noGrp="1"/>
          </p:cNvSpPr>
          <p:nvPr>
            <p:ph type="body" idx="1"/>
          </p:nvPr>
        </p:nvSpPr>
        <p:spPr>
          <a:xfrm>
            <a:off x="228600" y="902825"/>
            <a:ext cx="8763000" cy="5863099"/>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2000"/>
              <a:buNone/>
            </a:pPr>
            <a:r>
              <a:rPr lang="en-US" sz="2000" dirty="0">
                <a:solidFill>
                  <a:srgbClr val="538CD5"/>
                </a:solidFill>
              </a:rPr>
              <a:t>- Cybercrime is "international" or "transnational" – there are ‘no cyber-borders between countries'. International cybercrimes often challenge the effectiveness of domestic and international law, and law enforcement. Because existing laws in many countries are not tailored to deal with cybercrime, criminals increasingly conduct crimes on the Internet in order to take advantages of the less severe punishments or difficulties of being traced.</a:t>
            </a:r>
          </a:p>
          <a:p>
            <a:pPr marL="0" lvl="0" indent="0" algn="l" rtl="0">
              <a:lnSpc>
                <a:spcPct val="100000"/>
              </a:lnSpc>
              <a:spcBef>
                <a:spcPts val="0"/>
              </a:spcBef>
              <a:spcAft>
                <a:spcPts val="0"/>
              </a:spcAft>
              <a:buSzPts val="2000"/>
              <a:buNone/>
            </a:pPr>
            <a:endParaRPr lang="en-IN" sz="2000" dirty="0"/>
          </a:p>
          <a:p>
            <a:pPr marL="0" lvl="0" indent="0" algn="l" rtl="0">
              <a:lnSpc>
                <a:spcPct val="100000"/>
              </a:lnSpc>
              <a:spcBef>
                <a:spcPts val="0"/>
              </a:spcBef>
              <a:spcAft>
                <a:spcPts val="0"/>
              </a:spcAft>
              <a:buSzPts val="2000"/>
              <a:buNone/>
            </a:pPr>
            <a:r>
              <a:rPr lang="en-IN" sz="2000" dirty="0">
                <a:solidFill>
                  <a:srgbClr val="538CD5"/>
                </a:solidFill>
              </a:rPr>
              <a:t>- </a:t>
            </a:r>
            <a:r>
              <a:rPr lang="en-US" sz="2000" dirty="0">
                <a:solidFill>
                  <a:srgbClr val="538CD5"/>
                </a:solidFill>
              </a:rPr>
              <a:t>No matter, in developing or developed countries, governments and industries have gradually realized the colossal threats of cybercrime on economic and political security and public interests. However, complexity in types and forms of cybercrime increases the difficulty to fight back. In this sense, fighting cybercrime calls for international cooperation.</a:t>
            </a:r>
          </a:p>
          <a:p>
            <a:pPr marL="0" lvl="0" indent="0" algn="l" rtl="0">
              <a:lnSpc>
                <a:spcPct val="100000"/>
              </a:lnSpc>
              <a:spcBef>
                <a:spcPts val="0"/>
              </a:spcBef>
              <a:spcAft>
                <a:spcPts val="0"/>
              </a:spcAft>
              <a:buSzPts val="2000"/>
              <a:buNone/>
            </a:pPr>
            <a:endParaRPr lang="en-US" sz="2000" dirty="0">
              <a:solidFill>
                <a:srgbClr val="538CD5"/>
              </a:solidFill>
            </a:endParaRPr>
          </a:p>
          <a:p>
            <a:pPr marL="0" lvl="0" indent="0" algn="l" rtl="0">
              <a:lnSpc>
                <a:spcPct val="100000"/>
              </a:lnSpc>
              <a:spcBef>
                <a:spcPts val="0"/>
              </a:spcBef>
              <a:spcAft>
                <a:spcPts val="0"/>
              </a:spcAft>
              <a:buSzPts val="2000"/>
              <a:buNone/>
            </a:pPr>
            <a:r>
              <a:rPr lang="en-US" sz="2000" dirty="0">
                <a:solidFill>
                  <a:srgbClr val="538CD5"/>
                </a:solidFill>
              </a:rPr>
              <a:t>- Worldwide, many countries have enacted their own criminal laws, computer laws, information technology laws or intellectual property laws etc. to respond to the problem of cyber criminality, but keeping in view the international dimensions of these crimes, problems often do arise, particularly where the crime relates to individual citizens of two or more foreign countries.</a:t>
            </a:r>
            <a:endParaRPr sz="2000" dirty="0">
              <a:solidFill>
                <a:srgbClr val="538CD5"/>
              </a:solidFill>
            </a:endParaRPr>
          </a:p>
        </p:txBody>
      </p:sp>
      <p:sp>
        <p:nvSpPr>
          <p:cNvPr id="115" name="Google Shape;115;p16"/>
          <p:cNvSpPr txBox="1">
            <a:spLocks noGrp="1"/>
          </p:cNvSpPr>
          <p:nvPr>
            <p:ph type="sldNum" idx="12"/>
          </p:nvPr>
        </p:nvSpPr>
        <p:spPr>
          <a:xfrm>
            <a:off x="8534400" y="6400800"/>
            <a:ext cx="457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4</a:t>
            </a:fld>
            <a:endParaRPr/>
          </a:p>
        </p:txBody>
      </p:sp>
    </p:spTree>
    <p:extLst>
      <p:ext uri="{BB962C8B-B14F-4D97-AF65-F5344CB8AC3E}">
        <p14:creationId xmlns:p14="http://schemas.microsoft.com/office/powerpoint/2010/main" val="277855349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sp>
        <p:nvSpPr>
          <p:cNvPr id="113" name="Google Shape;113;p16"/>
          <p:cNvSpPr txBox="1">
            <a:spLocks noGrp="1"/>
          </p:cNvSpPr>
          <p:nvPr>
            <p:ph type="title"/>
          </p:nvPr>
        </p:nvSpPr>
        <p:spPr>
          <a:xfrm>
            <a:off x="0" y="0"/>
            <a:ext cx="9144000" cy="8382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4400"/>
              <a:buNone/>
            </a:pPr>
            <a:r>
              <a:rPr lang="en-US" sz="2800"/>
              <a:t>Cybercrime and the Legal Landscape around the World</a:t>
            </a:r>
            <a:endParaRPr sz="2800"/>
          </a:p>
        </p:txBody>
      </p:sp>
      <p:sp>
        <p:nvSpPr>
          <p:cNvPr id="114" name="Google Shape;114;p16"/>
          <p:cNvSpPr txBox="1">
            <a:spLocks noGrp="1"/>
          </p:cNvSpPr>
          <p:nvPr>
            <p:ph type="body" idx="1"/>
          </p:nvPr>
        </p:nvSpPr>
        <p:spPr>
          <a:xfrm>
            <a:off x="228600" y="902825"/>
            <a:ext cx="8763000" cy="5863099"/>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2000"/>
              <a:buNone/>
            </a:pPr>
            <a:r>
              <a:rPr lang="en-US" sz="2000" dirty="0">
                <a:solidFill>
                  <a:srgbClr val="538CD5"/>
                </a:solidFill>
              </a:rPr>
              <a:t>- The crucial problem, therefore, is that internet as a global media may be accessed throughout the world and can be viewed in any part of the universe, hence which particular law will be applicable for the disputed transaction, becomes a ticklish question because of the variation in cyber laws of different countries. Under these circumstances, the development of a universal law governing cyberspace transactions would make it much easier to decide about the applicability of law to regulate a particular online activity. </a:t>
            </a:r>
            <a:endParaRPr dirty="0"/>
          </a:p>
          <a:p>
            <a:pPr marL="0" lvl="0" indent="0" algn="l" rtl="0">
              <a:lnSpc>
                <a:spcPct val="100000"/>
              </a:lnSpc>
              <a:spcBef>
                <a:spcPts val="0"/>
              </a:spcBef>
              <a:spcAft>
                <a:spcPts val="0"/>
              </a:spcAft>
              <a:buSzPts val="2000"/>
              <a:buNone/>
            </a:pPr>
            <a:endParaRPr sz="2000" dirty="0">
              <a:solidFill>
                <a:srgbClr val="538CD5"/>
              </a:solidFill>
            </a:endParaRPr>
          </a:p>
          <a:p>
            <a:pPr marL="0" lvl="0" indent="0" algn="l" rtl="0">
              <a:lnSpc>
                <a:spcPct val="100000"/>
              </a:lnSpc>
              <a:spcBef>
                <a:spcPts val="0"/>
              </a:spcBef>
              <a:spcAft>
                <a:spcPts val="0"/>
              </a:spcAft>
              <a:buSzPts val="2000"/>
              <a:buNone/>
            </a:pPr>
            <a:r>
              <a:rPr lang="en-US" sz="2000" dirty="0">
                <a:solidFill>
                  <a:srgbClr val="538CD5"/>
                </a:solidFill>
              </a:rPr>
              <a:t>- It really calls for a coordinated action for all alike including the people, institutions, industries, governments and above all, the states. Since cyber - crime have an international ramification, it has to be tackled through a common legal strategy which has universal acceptance and recognition.</a:t>
            </a:r>
            <a:endParaRPr sz="2000" dirty="0">
              <a:solidFill>
                <a:srgbClr val="538CD5"/>
              </a:solidFill>
            </a:endParaRPr>
          </a:p>
          <a:p>
            <a:pPr marL="0" lvl="0" indent="0" algn="l" rtl="0">
              <a:lnSpc>
                <a:spcPct val="100000"/>
              </a:lnSpc>
              <a:spcBef>
                <a:spcPts val="0"/>
              </a:spcBef>
              <a:spcAft>
                <a:spcPts val="0"/>
              </a:spcAft>
              <a:buSzPts val="2000"/>
              <a:buNone/>
            </a:pPr>
            <a:endParaRPr lang="en-IN" sz="2000" dirty="0"/>
          </a:p>
          <a:p>
            <a:pPr marL="0" lvl="0" indent="0" algn="l" rtl="0">
              <a:lnSpc>
                <a:spcPct val="100000"/>
              </a:lnSpc>
              <a:spcBef>
                <a:spcPts val="0"/>
              </a:spcBef>
              <a:spcAft>
                <a:spcPts val="0"/>
              </a:spcAft>
              <a:buSzPts val="2000"/>
              <a:buNone/>
            </a:pPr>
            <a:r>
              <a:rPr lang="en-US" sz="2000" dirty="0">
                <a:solidFill>
                  <a:srgbClr val="538CD5"/>
                </a:solidFill>
              </a:rPr>
              <a:t>- Various organizations and governments have already made joint efforts in establishing global standards of legislation and law enforcement both on a regional and on an international scale. China–United States cooperation is one of the most striking progress recently, because they are the top two source countries of cybercrime.</a:t>
            </a:r>
            <a:endParaRPr sz="2000" dirty="0">
              <a:solidFill>
                <a:srgbClr val="538CD5"/>
              </a:solidFill>
            </a:endParaRPr>
          </a:p>
        </p:txBody>
      </p:sp>
      <p:sp>
        <p:nvSpPr>
          <p:cNvPr id="115" name="Google Shape;115;p16"/>
          <p:cNvSpPr txBox="1">
            <a:spLocks noGrp="1"/>
          </p:cNvSpPr>
          <p:nvPr>
            <p:ph type="sldNum" idx="12"/>
          </p:nvPr>
        </p:nvSpPr>
        <p:spPr>
          <a:xfrm>
            <a:off x="8534400" y="6400800"/>
            <a:ext cx="457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5</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9"/>
        <p:cNvGrpSpPr/>
        <p:nvPr/>
      </p:nvGrpSpPr>
      <p:grpSpPr>
        <a:xfrm>
          <a:off x="0" y="0"/>
          <a:ext cx="0" cy="0"/>
          <a:chOff x="0" y="0"/>
          <a:chExt cx="0" cy="0"/>
        </a:xfrm>
      </p:grpSpPr>
      <p:sp>
        <p:nvSpPr>
          <p:cNvPr id="120" name="Google Shape;120;p17"/>
          <p:cNvSpPr txBox="1">
            <a:spLocks noGrp="1"/>
          </p:cNvSpPr>
          <p:nvPr>
            <p:ph type="title"/>
          </p:nvPr>
        </p:nvSpPr>
        <p:spPr>
          <a:xfrm>
            <a:off x="0" y="0"/>
            <a:ext cx="9144000" cy="8382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4400"/>
              <a:buNone/>
            </a:pPr>
            <a:r>
              <a:rPr lang="en-US" sz="2800"/>
              <a:t>Cybercrime and the Legal Landscape around the World</a:t>
            </a:r>
            <a:endParaRPr sz="2800"/>
          </a:p>
        </p:txBody>
      </p:sp>
      <p:sp>
        <p:nvSpPr>
          <p:cNvPr id="121" name="Google Shape;121;p17"/>
          <p:cNvSpPr txBox="1">
            <a:spLocks noGrp="1"/>
          </p:cNvSpPr>
          <p:nvPr>
            <p:ph type="body" idx="1"/>
          </p:nvPr>
        </p:nvSpPr>
        <p:spPr>
          <a:xfrm>
            <a:off x="228600" y="902825"/>
            <a:ext cx="8763000" cy="5863099"/>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2000"/>
              <a:buNone/>
            </a:pPr>
            <a:r>
              <a:rPr lang="en-US" sz="2000" b="1">
                <a:solidFill>
                  <a:srgbClr val="538CD5"/>
                </a:solidFill>
              </a:rPr>
              <a:t>- CYBER LAW OF VARIOUS COUNTRIES</a:t>
            </a:r>
            <a:endParaRPr/>
          </a:p>
          <a:p>
            <a:pPr marL="0" lvl="0" indent="0" algn="l" rtl="0">
              <a:lnSpc>
                <a:spcPct val="100000"/>
              </a:lnSpc>
              <a:spcBef>
                <a:spcPts val="0"/>
              </a:spcBef>
              <a:spcAft>
                <a:spcPts val="0"/>
              </a:spcAft>
              <a:buSzPts val="2000"/>
              <a:buNone/>
            </a:pPr>
            <a:endParaRPr sz="2000">
              <a:solidFill>
                <a:srgbClr val="538CD5"/>
              </a:solidFill>
            </a:endParaRPr>
          </a:p>
          <a:p>
            <a:pPr marL="0" lvl="0" indent="0" algn="l" rtl="0">
              <a:lnSpc>
                <a:spcPct val="100000"/>
              </a:lnSpc>
              <a:spcBef>
                <a:spcPts val="0"/>
              </a:spcBef>
              <a:spcAft>
                <a:spcPts val="0"/>
              </a:spcAft>
              <a:buSzPts val="2000"/>
              <a:buNone/>
            </a:pPr>
            <a:r>
              <a:rPr lang="en-US" sz="2000">
                <a:solidFill>
                  <a:srgbClr val="538CD5"/>
                </a:solidFill>
              </a:rPr>
              <a:t>Many countries have adopted cyber law in their legal regime to meet the challenges against the internet criminal activities. Some countries have substantially updated their cyber laws while others have partially updated them. However, there are number of countries which have not initiated measures for adoption of cyber laws to combat computer and cyber space crimes. </a:t>
            </a:r>
            <a:endParaRPr/>
          </a:p>
          <a:p>
            <a:pPr marL="0" lvl="0" indent="0" algn="l" rtl="0">
              <a:lnSpc>
                <a:spcPct val="100000"/>
              </a:lnSpc>
              <a:spcBef>
                <a:spcPts val="0"/>
              </a:spcBef>
              <a:spcAft>
                <a:spcPts val="0"/>
              </a:spcAft>
              <a:buSzPts val="2000"/>
              <a:buNone/>
            </a:pPr>
            <a:endParaRPr sz="2000">
              <a:solidFill>
                <a:srgbClr val="538CD5"/>
              </a:solidFill>
            </a:endParaRPr>
          </a:p>
          <a:p>
            <a:pPr marL="0" lvl="0" indent="0" algn="l" rtl="0">
              <a:lnSpc>
                <a:spcPct val="100000"/>
              </a:lnSpc>
              <a:spcBef>
                <a:spcPts val="0"/>
              </a:spcBef>
              <a:spcAft>
                <a:spcPts val="0"/>
              </a:spcAft>
              <a:buSzPts val="2000"/>
              <a:buNone/>
            </a:pPr>
            <a:r>
              <a:rPr lang="en-US" sz="2000">
                <a:solidFill>
                  <a:srgbClr val="538CD5"/>
                </a:solidFill>
              </a:rPr>
              <a:t>As the cyber-crimes do not have any geographical or territorial boundaries, they are capable of breaching national borders which may cause serious threat to countries where legal protections against this crime are not adequate. Gaps and variations in domestic cyber laws of different nations render prosecution of international cyber criminals uncertain.</a:t>
            </a:r>
            <a:endParaRPr/>
          </a:p>
          <a:p>
            <a:pPr marL="0" lvl="0" indent="0" algn="l" rtl="0">
              <a:lnSpc>
                <a:spcPct val="100000"/>
              </a:lnSpc>
              <a:spcBef>
                <a:spcPts val="0"/>
              </a:spcBef>
              <a:spcAft>
                <a:spcPts val="0"/>
              </a:spcAft>
              <a:buSzPts val="2000"/>
              <a:buNone/>
            </a:pPr>
            <a:endParaRPr sz="2000">
              <a:solidFill>
                <a:srgbClr val="538CD5"/>
              </a:solidFill>
            </a:endParaRPr>
          </a:p>
          <a:p>
            <a:pPr marL="0" lvl="0" indent="0" algn="l" rtl="0">
              <a:lnSpc>
                <a:spcPct val="100000"/>
              </a:lnSpc>
              <a:spcBef>
                <a:spcPts val="0"/>
              </a:spcBef>
              <a:spcAft>
                <a:spcPts val="0"/>
              </a:spcAft>
              <a:buSzPts val="2000"/>
              <a:buNone/>
            </a:pPr>
            <a:r>
              <a:rPr lang="en-US" sz="2000">
                <a:solidFill>
                  <a:srgbClr val="538CD5"/>
                </a:solidFill>
              </a:rPr>
              <a:t>Inadequate legal protection of digital information and weak enforcement mechanism for protecting networked information enables the perpetrators of cyber-crime to carry on their online criminal activities across the national borders undeterred with least chances of their being apprehended or nabbed.</a:t>
            </a:r>
            <a:endParaRPr sz="2000">
              <a:solidFill>
                <a:srgbClr val="538CD5"/>
              </a:solidFill>
            </a:endParaRPr>
          </a:p>
        </p:txBody>
      </p:sp>
      <p:sp>
        <p:nvSpPr>
          <p:cNvPr id="122" name="Google Shape;122;p17"/>
          <p:cNvSpPr txBox="1">
            <a:spLocks noGrp="1"/>
          </p:cNvSpPr>
          <p:nvPr>
            <p:ph type="sldNum" idx="12"/>
          </p:nvPr>
        </p:nvSpPr>
        <p:spPr>
          <a:xfrm>
            <a:off x="8534400" y="6400800"/>
            <a:ext cx="457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6</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26"/>
        <p:cNvGrpSpPr/>
        <p:nvPr/>
      </p:nvGrpSpPr>
      <p:grpSpPr>
        <a:xfrm>
          <a:off x="0" y="0"/>
          <a:ext cx="0" cy="0"/>
          <a:chOff x="0" y="0"/>
          <a:chExt cx="0" cy="0"/>
        </a:xfrm>
      </p:grpSpPr>
      <p:sp>
        <p:nvSpPr>
          <p:cNvPr id="127" name="Google Shape;127;p18"/>
          <p:cNvSpPr txBox="1">
            <a:spLocks noGrp="1"/>
          </p:cNvSpPr>
          <p:nvPr>
            <p:ph type="title"/>
          </p:nvPr>
        </p:nvSpPr>
        <p:spPr>
          <a:xfrm>
            <a:off x="0" y="0"/>
            <a:ext cx="9144000" cy="8382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4400"/>
              <a:buNone/>
            </a:pPr>
            <a:r>
              <a:rPr lang="en-US" sz="2800"/>
              <a:t>Cybercrime and the Legal Landscape around the World</a:t>
            </a:r>
            <a:endParaRPr sz="2800"/>
          </a:p>
        </p:txBody>
      </p:sp>
      <p:sp>
        <p:nvSpPr>
          <p:cNvPr id="128" name="Google Shape;128;p18"/>
          <p:cNvSpPr txBox="1">
            <a:spLocks noGrp="1"/>
          </p:cNvSpPr>
          <p:nvPr>
            <p:ph type="body" idx="1"/>
          </p:nvPr>
        </p:nvSpPr>
        <p:spPr>
          <a:xfrm>
            <a:off x="228600" y="902825"/>
            <a:ext cx="8763000" cy="5863099"/>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2000"/>
              <a:buNone/>
            </a:pPr>
            <a:r>
              <a:rPr lang="en-US" sz="2000">
                <a:solidFill>
                  <a:srgbClr val="538CD5"/>
                </a:solidFill>
              </a:rPr>
              <a:t>- The extent of progress made by countries around the world in updating their cyber-crime laws according to UN report shows that 23% of world nations have fully updated cyber law while 21% have partially updated cyber law and 56% have not updated their cyber law as yet.</a:t>
            </a:r>
            <a:endParaRPr/>
          </a:p>
          <a:p>
            <a:pPr marL="0" lvl="0" indent="0" algn="l" rtl="0">
              <a:lnSpc>
                <a:spcPct val="100000"/>
              </a:lnSpc>
              <a:spcBef>
                <a:spcPts val="0"/>
              </a:spcBef>
              <a:spcAft>
                <a:spcPts val="0"/>
              </a:spcAft>
              <a:buSzPts val="2000"/>
              <a:buNone/>
            </a:pPr>
            <a:endParaRPr sz="2000">
              <a:solidFill>
                <a:srgbClr val="538CD5"/>
              </a:solidFill>
            </a:endParaRPr>
          </a:p>
          <a:p>
            <a:pPr marL="0" lvl="0" indent="0" algn="l" rtl="0">
              <a:lnSpc>
                <a:spcPct val="100000"/>
              </a:lnSpc>
              <a:spcBef>
                <a:spcPts val="0"/>
              </a:spcBef>
              <a:spcAft>
                <a:spcPts val="0"/>
              </a:spcAft>
              <a:buSzPts val="2000"/>
              <a:buNone/>
            </a:pPr>
            <a:r>
              <a:rPr lang="en-US" sz="2000" b="1">
                <a:solidFill>
                  <a:srgbClr val="538CD5"/>
                </a:solidFill>
              </a:rPr>
              <a:t>United States:</a:t>
            </a:r>
            <a:endParaRPr/>
          </a:p>
          <a:p>
            <a:pPr marL="0" lvl="0" indent="0" algn="l" rtl="0">
              <a:lnSpc>
                <a:spcPct val="100000"/>
              </a:lnSpc>
              <a:spcBef>
                <a:spcPts val="0"/>
              </a:spcBef>
              <a:spcAft>
                <a:spcPts val="0"/>
              </a:spcAft>
              <a:buSzPts val="2000"/>
              <a:buNone/>
            </a:pPr>
            <a:r>
              <a:rPr lang="en-US" sz="2000">
                <a:solidFill>
                  <a:srgbClr val="538CD5"/>
                </a:solidFill>
              </a:rPr>
              <a:t>According to Sophos, the U.S. remains the top-spamming country and the source of about one-fifth of the world's spam. Cross-border cyber-exfiltration operations are in tension with international legal norms, so U.S. law enforcement efforts to collect foreign cyber evidence raises complex jurisdictional questions. Since fighting cybercrime involves great amount of sophisticated legal and other measures, only milestones rather than full texts are provided here.</a:t>
            </a:r>
            <a:endParaRPr/>
          </a:p>
          <a:p>
            <a:pPr marL="0" lvl="0" indent="0" algn="l" rtl="0">
              <a:lnSpc>
                <a:spcPct val="100000"/>
              </a:lnSpc>
              <a:spcBef>
                <a:spcPts val="0"/>
              </a:spcBef>
              <a:spcAft>
                <a:spcPts val="0"/>
              </a:spcAft>
              <a:buSzPts val="2000"/>
              <a:buNone/>
            </a:pPr>
            <a:endParaRPr sz="2000"/>
          </a:p>
          <a:p>
            <a:pPr marL="0" lvl="0" indent="0" algn="l" rtl="0">
              <a:lnSpc>
                <a:spcPct val="100000"/>
              </a:lnSpc>
              <a:spcBef>
                <a:spcPts val="0"/>
              </a:spcBef>
              <a:spcAft>
                <a:spcPts val="0"/>
              </a:spcAft>
              <a:buSzPts val="2000"/>
              <a:buNone/>
            </a:pPr>
            <a:endParaRPr sz="2000"/>
          </a:p>
        </p:txBody>
      </p:sp>
      <p:sp>
        <p:nvSpPr>
          <p:cNvPr id="129" name="Google Shape;129;p18"/>
          <p:cNvSpPr txBox="1">
            <a:spLocks noGrp="1"/>
          </p:cNvSpPr>
          <p:nvPr>
            <p:ph type="sldNum" idx="12"/>
          </p:nvPr>
        </p:nvSpPr>
        <p:spPr>
          <a:xfrm>
            <a:off x="8534400" y="6400800"/>
            <a:ext cx="457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7</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33"/>
        <p:cNvGrpSpPr/>
        <p:nvPr/>
      </p:nvGrpSpPr>
      <p:grpSpPr>
        <a:xfrm>
          <a:off x="0" y="0"/>
          <a:ext cx="0" cy="0"/>
          <a:chOff x="0" y="0"/>
          <a:chExt cx="0" cy="0"/>
        </a:xfrm>
      </p:grpSpPr>
      <p:sp>
        <p:nvSpPr>
          <p:cNvPr id="134" name="Google Shape;134;p19"/>
          <p:cNvSpPr txBox="1">
            <a:spLocks noGrp="1"/>
          </p:cNvSpPr>
          <p:nvPr>
            <p:ph type="title"/>
          </p:nvPr>
        </p:nvSpPr>
        <p:spPr>
          <a:xfrm>
            <a:off x="0" y="0"/>
            <a:ext cx="9144000" cy="8382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4400"/>
              <a:buNone/>
            </a:pPr>
            <a:r>
              <a:rPr lang="en-US" sz="2800"/>
              <a:t>Cybercrime and the Legal Landscape around the World</a:t>
            </a:r>
            <a:endParaRPr sz="2800"/>
          </a:p>
        </p:txBody>
      </p:sp>
      <p:sp>
        <p:nvSpPr>
          <p:cNvPr id="135" name="Google Shape;135;p19"/>
          <p:cNvSpPr txBox="1">
            <a:spLocks noGrp="1"/>
          </p:cNvSpPr>
          <p:nvPr>
            <p:ph type="body" idx="1"/>
          </p:nvPr>
        </p:nvSpPr>
        <p:spPr>
          <a:xfrm>
            <a:off x="228600" y="902825"/>
            <a:ext cx="8763000" cy="5863099"/>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2000"/>
              <a:buNone/>
            </a:pPr>
            <a:r>
              <a:rPr lang="en-US" sz="2000" b="1">
                <a:solidFill>
                  <a:srgbClr val="538CD5"/>
                </a:solidFill>
              </a:rPr>
              <a:t>- Legal and regulatory measures:</a:t>
            </a:r>
            <a:endParaRPr sz="2000" b="1">
              <a:solidFill>
                <a:srgbClr val="538CD5"/>
              </a:solidFill>
            </a:endParaRPr>
          </a:p>
          <a:p>
            <a:pPr marL="0" lvl="0" indent="0" algn="l" rtl="0">
              <a:lnSpc>
                <a:spcPct val="100000"/>
              </a:lnSpc>
              <a:spcBef>
                <a:spcPts val="0"/>
              </a:spcBef>
              <a:spcAft>
                <a:spcPts val="0"/>
              </a:spcAft>
              <a:buSzPts val="2000"/>
              <a:buNone/>
            </a:pPr>
            <a:endParaRPr sz="2000">
              <a:solidFill>
                <a:srgbClr val="538CD5"/>
              </a:solidFill>
            </a:endParaRPr>
          </a:p>
          <a:p>
            <a:pPr marL="0" lvl="0" indent="0" algn="l" rtl="0">
              <a:lnSpc>
                <a:spcPct val="100000"/>
              </a:lnSpc>
              <a:spcBef>
                <a:spcPts val="0"/>
              </a:spcBef>
              <a:spcAft>
                <a:spcPts val="0"/>
              </a:spcAft>
              <a:buSzPts val="2000"/>
              <a:buNone/>
            </a:pPr>
            <a:r>
              <a:rPr lang="en-US" sz="2000">
                <a:solidFill>
                  <a:srgbClr val="538CD5"/>
                </a:solidFill>
              </a:rPr>
              <a:t>The first federal computer crime statute enacted in USA was the Computer Fraud and Abuse Act,</a:t>
            </a:r>
            <a:endParaRPr/>
          </a:p>
          <a:p>
            <a:pPr marL="0" lvl="0" indent="0" algn="l" rtl="0">
              <a:lnSpc>
                <a:spcPct val="100000"/>
              </a:lnSpc>
              <a:spcBef>
                <a:spcPts val="0"/>
              </a:spcBef>
              <a:spcAft>
                <a:spcPts val="0"/>
              </a:spcAft>
              <a:buSzPts val="2000"/>
              <a:buNone/>
            </a:pPr>
            <a:r>
              <a:rPr lang="en-US" sz="2000">
                <a:solidFill>
                  <a:srgbClr val="538CD5"/>
                </a:solidFill>
              </a:rPr>
              <a:t>1986 which was reduced to hacking of computer systems. It was amended in 1994, 1996 and again in 2001 by the Patriot Act which addresses new abuses arising from misuse of new technologies.</a:t>
            </a:r>
            <a:endParaRPr/>
          </a:p>
          <a:p>
            <a:pPr marL="0" lvl="0" indent="0" algn="l" rtl="0">
              <a:lnSpc>
                <a:spcPct val="100000"/>
              </a:lnSpc>
              <a:spcBef>
                <a:spcPts val="0"/>
              </a:spcBef>
              <a:spcAft>
                <a:spcPts val="0"/>
              </a:spcAft>
              <a:buSzPts val="2000"/>
              <a:buNone/>
            </a:pPr>
            <a:endParaRPr sz="2000">
              <a:solidFill>
                <a:srgbClr val="538CD5"/>
              </a:solidFill>
            </a:endParaRPr>
          </a:p>
          <a:p>
            <a:pPr marL="0" lvl="0" indent="0" algn="l" rtl="0">
              <a:lnSpc>
                <a:spcPct val="100000"/>
              </a:lnSpc>
              <a:spcBef>
                <a:spcPts val="0"/>
              </a:spcBef>
              <a:spcAft>
                <a:spcPts val="0"/>
              </a:spcAft>
              <a:buSzPts val="2000"/>
              <a:buNone/>
            </a:pPr>
            <a:r>
              <a:rPr lang="en-US" sz="2000" b="1">
                <a:solidFill>
                  <a:srgbClr val="538CD5"/>
                </a:solidFill>
              </a:rPr>
              <a:t>U.S. Federal Criminal Code</a:t>
            </a:r>
            <a:endParaRPr/>
          </a:p>
          <a:p>
            <a:pPr marL="0" lvl="0" indent="0" algn="l" rtl="0">
              <a:lnSpc>
                <a:spcPct val="100000"/>
              </a:lnSpc>
              <a:spcBef>
                <a:spcPts val="0"/>
              </a:spcBef>
              <a:spcAft>
                <a:spcPts val="0"/>
              </a:spcAft>
              <a:buSzPts val="2000"/>
              <a:buNone/>
            </a:pPr>
            <a:r>
              <a:rPr lang="en-US" sz="2000">
                <a:solidFill>
                  <a:srgbClr val="538CD5"/>
                </a:solidFill>
              </a:rPr>
              <a:t>The US Federal Criminal Code relates to the cyber-crimes in the following 3 ways:-</a:t>
            </a:r>
            <a:endParaRPr/>
          </a:p>
          <a:p>
            <a:pPr marL="0" lvl="0" indent="0" algn="l" rtl="0">
              <a:lnSpc>
                <a:spcPct val="100000"/>
              </a:lnSpc>
              <a:spcBef>
                <a:spcPts val="0"/>
              </a:spcBef>
              <a:spcAft>
                <a:spcPts val="0"/>
              </a:spcAft>
              <a:buSzPts val="2000"/>
              <a:buNone/>
            </a:pPr>
            <a:r>
              <a:rPr lang="en-US" sz="2000">
                <a:solidFill>
                  <a:srgbClr val="538CD5"/>
                </a:solidFill>
              </a:rPr>
              <a:t>a. Fraud and related activities in connection with access devices</a:t>
            </a:r>
            <a:endParaRPr/>
          </a:p>
          <a:p>
            <a:pPr marL="0" lvl="0" indent="0" algn="l" rtl="0">
              <a:lnSpc>
                <a:spcPct val="100000"/>
              </a:lnSpc>
              <a:spcBef>
                <a:spcPts val="0"/>
              </a:spcBef>
              <a:spcAft>
                <a:spcPts val="0"/>
              </a:spcAft>
              <a:buSzPts val="2000"/>
              <a:buNone/>
            </a:pPr>
            <a:r>
              <a:rPr lang="en-US" sz="2000">
                <a:solidFill>
                  <a:srgbClr val="538CD5"/>
                </a:solidFill>
              </a:rPr>
              <a:t>b. Fraud and related activity in connection with computers</a:t>
            </a:r>
            <a:endParaRPr/>
          </a:p>
          <a:p>
            <a:pPr marL="0" lvl="0" indent="0" algn="l" rtl="0">
              <a:lnSpc>
                <a:spcPct val="100000"/>
              </a:lnSpc>
              <a:spcBef>
                <a:spcPts val="0"/>
              </a:spcBef>
              <a:spcAft>
                <a:spcPts val="0"/>
              </a:spcAft>
              <a:buSzPts val="2000"/>
              <a:buNone/>
            </a:pPr>
            <a:r>
              <a:rPr lang="en-US" sz="2000">
                <a:solidFill>
                  <a:srgbClr val="538CD5"/>
                </a:solidFill>
              </a:rPr>
              <a:t>c. Communication lines, stations and systems </a:t>
            </a:r>
            <a:endParaRPr/>
          </a:p>
          <a:p>
            <a:pPr marL="0" lvl="0" indent="0" algn="l" rtl="0">
              <a:lnSpc>
                <a:spcPct val="100000"/>
              </a:lnSpc>
              <a:spcBef>
                <a:spcPts val="0"/>
              </a:spcBef>
              <a:spcAft>
                <a:spcPts val="0"/>
              </a:spcAft>
              <a:buSzPts val="2000"/>
              <a:buNone/>
            </a:pPr>
            <a:r>
              <a:rPr lang="en-US" sz="2000">
                <a:solidFill>
                  <a:srgbClr val="538CD5"/>
                </a:solidFill>
              </a:rPr>
              <a:t>“National Infrastructure Protection Act of 1996”</a:t>
            </a:r>
            <a:endParaRPr/>
          </a:p>
          <a:p>
            <a:pPr marL="0" lvl="0" indent="0" algn="l" rtl="0">
              <a:lnSpc>
                <a:spcPct val="100000"/>
              </a:lnSpc>
              <a:spcBef>
                <a:spcPts val="0"/>
              </a:spcBef>
              <a:spcAft>
                <a:spcPts val="0"/>
              </a:spcAft>
              <a:buSzPts val="2000"/>
              <a:buNone/>
            </a:pPr>
            <a:r>
              <a:rPr lang="en-US" sz="2000">
                <a:solidFill>
                  <a:srgbClr val="538CD5"/>
                </a:solidFill>
              </a:rPr>
              <a:t>“Cyberspace Electronic Security Act of 1999”</a:t>
            </a:r>
            <a:endParaRPr/>
          </a:p>
          <a:p>
            <a:pPr marL="0" lvl="0" indent="0" algn="l" rtl="0">
              <a:lnSpc>
                <a:spcPct val="100000"/>
              </a:lnSpc>
              <a:spcBef>
                <a:spcPts val="0"/>
              </a:spcBef>
              <a:spcAft>
                <a:spcPts val="0"/>
              </a:spcAft>
              <a:buSzPts val="2000"/>
              <a:buNone/>
            </a:pPr>
            <a:r>
              <a:rPr lang="en-US" sz="2000">
                <a:solidFill>
                  <a:srgbClr val="538CD5"/>
                </a:solidFill>
              </a:rPr>
              <a:t>“Patriot Act of 2001”</a:t>
            </a:r>
            <a:endParaRPr/>
          </a:p>
          <a:p>
            <a:pPr marL="0" lvl="0" indent="0" algn="l" rtl="0">
              <a:lnSpc>
                <a:spcPct val="100000"/>
              </a:lnSpc>
              <a:spcBef>
                <a:spcPts val="0"/>
              </a:spcBef>
              <a:spcAft>
                <a:spcPts val="0"/>
              </a:spcAft>
              <a:buSzPts val="2000"/>
              <a:buNone/>
            </a:pPr>
            <a:r>
              <a:rPr lang="en-US" sz="2000">
                <a:solidFill>
                  <a:srgbClr val="538CD5"/>
                </a:solidFill>
              </a:rPr>
              <a:t>Digital Millennium Copyright Act (DMCA) was enacted in 1998.</a:t>
            </a:r>
            <a:endParaRPr/>
          </a:p>
          <a:p>
            <a:pPr marL="0" lvl="0" indent="0" algn="l" rtl="0">
              <a:lnSpc>
                <a:spcPct val="100000"/>
              </a:lnSpc>
              <a:spcBef>
                <a:spcPts val="0"/>
              </a:spcBef>
              <a:spcAft>
                <a:spcPts val="0"/>
              </a:spcAft>
              <a:buSzPts val="2000"/>
              <a:buNone/>
            </a:pPr>
            <a:r>
              <a:rPr lang="en-US" sz="2000">
                <a:solidFill>
                  <a:srgbClr val="538CD5"/>
                </a:solidFill>
              </a:rPr>
              <a:t>Cyber Security Enhancement Act (CSEA) was passed in 2002.</a:t>
            </a:r>
            <a:endParaRPr/>
          </a:p>
          <a:p>
            <a:pPr marL="0" lvl="0" indent="0" algn="l" rtl="0">
              <a:lnSpc>
                <a:spcPct val="100000"/>
              </a:lnSpc>
              <a:spcBef>
                <a:spcPts val="0"/>
              </a:spcBef>
              <a:spcAft>
                <a:spcPts val="0"/>
              </a:spcAft>
              <a:buSzPts val="2000"/>
              <a:buNone/>
            </a:pPr>
            <a:endParaRPr sz="2000"/>
          </a:p>
        </p:txBody>
      </p:sp>
      <p:sp>
        <p:nvSpPr>
          <p:cNvPr id="136" name="Google Shape;136;p19"/>
          <p:cNvSpPr txBox="1">
            <a:spLocks noGrp="1"/>
          </p:cNvSpPr>
          <p:nvPr>
            <p:ph type="sldNum" idx="12"/>
          </p:nvPr>
        </p:nvSpPr>
        <p:spPr>
          <a:xfrm>
            <a:off x="8534400" y="6400800"/>
            <a:ext cx="457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8</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40"/>
        <p:cNvGrpSpPr/>
        <p:nvPr/>
      </p:nvGrpSpPr>
      <p:grpSpPr>
        <a:xfrm>
          <a:off x="0" y="0"/>
          <a:ext cx="0" cy="0"/>
          <a:chOff x="0" y="0"/>
          <a:chExt cx="0" cy="0"/>
        </a:xfrm>
      </p:grpSpPr>
      <p:sp>
        <p:nvSpPr>
          <p:cNvPr id="141" name="Google Shape;141;p20"/>
          <p:cNvSpPr txBox="1">
            <a:spLocks noGrp="1"/>
          </p:cNvSpPr>
          <p:nvPr>
            <p:ph type="title"/>
          </p:nvPr>
        </p:nvSpPr>
        <p:spPr>
          <a:xfrm>
            <a:off x="0" y="0"/>
            <a:ext cx="9144000" cy="8382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4400"/>
              <a:buNone/>
            </a:pPr>
            <a:r>
              <a:rPr lang="en-US" sz="2800"/>
              <a:t>Cybercrime and the Legal Landscape around the World</a:t>
            </a:r>
            <a:endParaRPr sz="2800"/>
          </a:p>
        </p:txBody>
      </p:sp>
      <p:sp>
        <p:nvSpPr>
          <p:cNvPr id="142" name="Google Shape;142;p20"/>
          <p:cNvSpPr txBox="1">
            <a:spLocks noGrp="1"/>
          </p:cNvSpPr>
          <p:nvPr>
            <p:ph type="body" idx="1"/>
          </p:nvPr>
        </p:nvSpPr>
        <p:spPr>
          <a:xfrm>
            <a:off x="228600" y="902825"/>
            <a:ext cx="8763000" cy="5863099"/>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2000"/>
              <a:buNone/>
            </a:pPr>
            <a:r>
              <a:rPr lang="en-US" sz="2000">
                <a:solidFill>
                  <a:srgbClr val="538CD5"/>
                </a:solidFill>
              </a:rPr>
              <a:t>- In 2005 the USA passed the Anti-Phishing Act which added two new crimes to the US Code.</a:t>
            </a:r>
            <a:endParaRPr/>
          </a:p>
          <a:p>
            <a:pPr marL="0" lvl="0" indent="0" algn="l" rtl="0">
              <a:lnSpc>
                <a:spcPct val="100000"/>
              </a:lnSpc>
              <a:spcBef>
                <a:spcPts val="0"/>
              </a:spcBef>
              <a:spcAft>
                <a:spcPts val="0"/>
              </a:spcAft>
              <a:buSzPts val="2000"/>
              <a:buNone/>
            </a:pPr>
            <a:endParaRPr sz="2000">
              <a:solidFill>
                <a:srgbClr val="538CD5"/>
              </a:solidFill>
            </a:endParaRPr>
          </a:p>
          <a:p>
            <a:pPr marL="0" lvl="0" indent="0" algn="l" rtl="0">
              <a:lnSpc>
                <a:spcPct val="100000"/>
              </a:lnSpc>
              <a:spcBef>
                <a:spcPts val="0"/>
              </a:spcBef>
              <a:spcAft>
                <a:spcPts val="0"/>
              </a:spcAft>
              <a:buSzPts val="2000"/>
              <a:buNone/>
            </a:pPr>
            <a:r>
              <a:rPr lang="en-US" sz="2000">
                <a:solidFill>
                  <a:srgbClr val="538CD5"/>
                </a:solidFill>
              </a:rPr>
              <a:t>- In 2009, the Obama Administration released Cybersecurity Report and policy. Cybersecurity Act of 2010, a bill seeking to increase collaboration between the public and the private sector on cyber security issues.</a:t>
            </a:r>
            <a:endParaRPr/>
          </a:p>
          <a:p>
            <a:pPr marL="0" lvl="0" indent="0" algn="l" rtl="0">
              <a:lnSpc>
                <a:spcPct val="100000"/>
              </a:lnSpc>
              <a:spcBef>
                <a:spcPts val="0"/>
              </a:spcBef>
              <a:spcAft>
                <a:spcPts val="0"/>
              </a:spcAft>
              <a:buSzPts val="2000"/>
              <a:buNone/>
            </a:pPr>
            <a:endParaRPr sz="2000">
              <a:solidFill>
                <a:srgbClr val="538CD5"/>
              </a:solidFill>
            </a:endParaRPr>
          </a:p>
          <a:p>
            <a:pPr marL="0" lvl="0" indent="0" algn="l" rtl="0">
              <a:lnSpc>
                <a:spcPct val="100000"/>
              </a:lnSpc>
              <a:spcBef>
                <a:spcPts val="0"/>
              </a:spcBef>
              <a:spcAft>
                <a:spcPts val="0"/>
              </a:spcAft>
              <a:buSzPts val="2000"/>
              <a:buNone/>
            </a:pPr>
            <a:r>
              <a:rPr lang="en-US" sz="2000">
                <a:solidFill>
                  <a:srgbClr val="538CD5"/>
                </a:solidFill>
              </a:rPr>
              <a:t>- A number of agencies have been set up in the U.S. to fight against cybercrime, including the FBI, National Infrastructure Protection Center, National White Collar Crime Center, Internet Fraud Complaint Center, Computer Crime and Intellectual Property Section of the Department of Justice (DoJ), Computer Hacking and Intellectual Property Unit of the DoJ, and Computer Emergency Readiness Team/Coordination Center (CERT/CC) at Carnegie-Mellon, and so on.</a:t>
            </a:r>
            <a:endParaRPr/>
          </a:p>
          <a:p>
            <a:pPr marL="0" lvl="0" indent="0" algn="l" rtl="0">
              <a:lnSpc>
                <a:spcPct val="100000"/>
              </a:lnSpc>
              <a:spcBef>
                <a:spcPts val="0"/>
              </a:spcBef>
              <a:spcAft>
                <a:spcPts val="0"/>
              </a:spcAft>
              <a:buSzPts val="2000"/>
              <a:buNone/>
            </a:pPr>
            <a:endParaRPr sz="2000">
              <a:solidFill>
                <a:srgbClr val="538CD5"/>
              </a:solidFill>
            </a:endParaRPr>
          </a:p>
          <a:p>
            <a:pPr marL="0" lvl="0" indent="0" algn="l" rtl="0">
              <a:lnSpc>
                <a:spcPct val="100000"/>
              </a:lnSpc>
              <a:spcBef>
                <a:spcPts val="0"/>
              </a:spcBef>
              <a:spcAft>
                <a:spcPts val="0"/>
              </a:spcAft>
              <a:buSzPts val="2000"/>
              <a:buNone/>
            </a:pPr>
            <a:r>
              <a:rPr lang="en-US" sz="2000">
                <a:solidFill>
                  <a:srgbClr val="538CD5"/>
                </a:solidFill>
              </a:rPr>
              <a:t>- Cyber Safe is a public service project designed to educate end users of the Internet about the critical need for personal computer security.</a:t>
            </a:r>
            <a:endParaRPr/>
          </a:p>
          <a:p>
            <a:pPr marL="0" lvl="0" indent="0" algn="l" rtl="0">
              <a:lnSpc>
                <a:spcPct val="100000"/>
              </a:lnSpc>
              <a:spcBef>
                <a:spcPts val="0"/>
              </a:spcBef>
              <a:spcAft>
                <a:spcPts val="0"/>
              </a:spcAft>
              <a:buSzPts val="2000"/>
              <a:buNone/>
            </a:pPr>
            <a:endParaRPr sz="2000"/>
          </a:p>
        </p:txBody>
      </p:sp>
      <p:sp>
        <p:nvSpPr>
          <p:cNvPr id="143" name="Google Shape;143;p20"/>
          <p:cNvSpPr txBox="1">
            <a:spLocks noGrp="1"/>
          </p:cNvSpPr>
          <p:nvPr>
            <p:ph type="sldNum" idx="12"/>
          </p:nvPr>
        </p:nvSpPr>
        <p:spPr>
          <a:xfrm>
            <a:off x="8534400" y="6400800"/>
            <a:ext cx="457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9</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47"/>
        <p:cNvGrpSpPr/>
        <p:nvPr/>
      </p:nvGrpSpPr>
      <p:grpSpPr>
        <a:xfrm>
          <a:off x="0" y="0"/>
          <a:ext cx="0" cy="0"/>
          <a:chOff x="0" y="0"/>
          <a:chExt cx="0" cy="0"/>
        </a:xfrm>
      </p:grpSpPr>
      <p:sp>
        <p:nvSpPr>
          <p:cNvPr id="148" name="Google Shape;148;p21"/>
          <p:cNvSpPr txBox="1">
            <a:spLocks noGrp="1"/>
          </p:cNvSpPr>
          <p:nvPr>
            <p:ph type="title"/>
          </p:nvPr>
        </p:nvSpPr>
        <p:spPr>
          <a:xfrm>
            <a:off x="0" y="0"/>
            <a:ext cx="9144000" cy="8382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4400"/>
              <a:buNone/>
            </a:pPr>
            <a:r>
              <a:rPr lang="en-US" sz="2800"/>
              <a:t>Cybercrime and the Legal Landscape around the World</a:t>
            </a:r>
            <a:endParaRPr sz="2800"/>
          </a:p>
        </p:txBody>
      </p:sp>
      <p:sp>
        <p:nvSpPr>
          <p:cNvPr id="149" name="Google Shape;149;p21"/>
          <p:cNvSpPr txBox="1">
            <a:spLocks noGrp="1"/>
          </p:cNvSpPr>
          <p:nvPr>
            <p:ph type="body" idx="1"/>
          </p:nvPr>
        </p:nvSpPr>
        <p:spPr>
          <a:xfrm>
            <a:off x="228600" y="902825"/>
            <a:ext cx="8763000" cy="5863099"/>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2000"/>
              <a:buNone/>
            </a:pPr>
            <a:r>
              <a:rPr lang="en-US" sz="2000" b="1">
                <a:solidFill>
                  <a:srgbClr val="538CD5"/>
                </a:solidFill>
              </a:rPr>
              <a:t>- China</a:t>
            </a:r>
            <a:endParaRPr/>
          </a:p>
          <a:p>
            <a:pPr marL="0" lvl="0" indent="0" algn="l" rtl="0">
              <a:lnSpc>
                <a:spcPct val="100000"/>
              </a:lnSpc>
              <a:spcBef>
                <a:spcPts val="0"/>
              </a:spcBef>
              <a:spcAft>
                <a:spcPts val="0"/>
              </a:spcAft>
              <a:buSzPts val="2000"/>
              <a:buNone/>
            </a:pPr>
            <a:endParaRPr sz="2000">
              <a:solidFill>
                <a:srgbClr val="538CD5"/>
              </a:solidFill>
            </a:endParaRPr>
          </a:p>
          <a:p>
            <a:pPr marL="0" lvl="0" indent="0" algn="l" rtl="0">
              <a:lnSpc>
                <a:spcPct val="100000"/>
              </a:lnSpc>
              <a:spcBef>
                <a:spcPts val="0"/>
              </a:spcBef>
              <a:spcAft>
                <a:spcPts val="0"/>
              </a:spcAft>
              <a:buSzPts val="2000"/>
              <a:buNone/>
            </a:pPr>
            <a:r>
              <a:rPr lang="en-US" sz="2000">
                <a:solidFill>
                  <a:srgbClr val="538CD5"/>
                </a:solidFill>
              </a:rPr>
              <a:t>In January 2009, China was ranked No.3 spam-producing country in the world, according to data compiled by security vendor Sophos. Sophos now ranks China as spam producer No.20, right behind Spain.</a:t>
            </a:r>
            <a:endParaRPr/>
          </a:p>
          <a:p>
            <a:pPr marL="0" lvl="0" indent="0" algn="l" rtl="0">
              <a:lnSpc>
                <a:spcPct val="100000"/>
              </a:lnSpc>
              <a:spcBef>
                <a:spcPts val="0"/>
              </a:spcBef>
              <a:spcAft>
                <a:spcPts val="0"/>
              </a:spcAft>
              <a:buSzPts val="2000"/>
              <a:buNone/>
            </a:pPr>
            <a:r>
              <a:rPr lang="en-US" sz="2000">
                <a:solidFill>
                  <a:srgbClr val="538CD5"/>
                </a:solidFill>
              </a:rPr>
              <a:t>China's underground economy is booming with estimated 10 billion RMB in 2009. Hacking, malware and spam are immensely popular. With patriotic hacktivism, people hack to defend the country.</a:t>
            </a:r>
            <a:endParaRPr/>
          </a:p>
          <a:p>
            <a:pPr marL="0" lvl="0" indent="0" algn="l" rtl="0">
              <a:lnSpc>
                <a:spcPct val="100000"/>
              </a:lnSpc>
              <a:spcBef>
                <a:spcPts val="0"/>
              </a:spcBef>
              <a:spcAft>
                <a:spcPts val="0"/>
              </a:spcAft>
              <a:buSzPts val="2000"/>
              <a:buNone/>
            </a:pPr>
            <a:endParaRPr sz="2000">
              <a:solidFill>
                <a:srgbClr val="538CD5"/>
              </a:solidFill>
            </a:endParaRPr>
          </a:p>
          <a:p>
            <a:pPr marL="0" lvl="0" indent="0" algn="l" rtl="0">
              <a:lnSpc>
                <a:spcPct val="100000"/>
              </a:lnSpc>
              <a:spcBef>
                <a:spcPts val="0"/>
              </a:spcBef>
              <a:spcAft>
                <a:spcPts val="0"/>
              </a:spcAft>
              <a:buSzPts val="2000"/>
              <a:buNone/>
            </a:pPr>
            <a:r>
              <a:rPr lang="en-US" sz="2000" b="1">
                <a:solidFill>
                  <a:srgbClr val="538CD5"/>
                </a:solidFill>
              </a:rPr>
              <a:t>Legal and regulatory measures:</a:t>
            </a:r>
            <a:endParaRPr/>
          </a:p>
          <a:p>
            <a:pPr marL="0" lvl="0" indent="0" algn="l" rtl="0">
              <a:lnSpc>
                <a:spcPct val="100000"/>
              </a:lnSpc>
              <a:spcBef>
                <a:spcPts val="0"/>
              </a:spcBef>
              <a:spcAft>
                <a:spcPts val="0"/>
              </a:spcAft>
              <a:buSzPts val="2000"/>
              <a:buNone/>
            </a:pPr>
            <a:endParaRPr sz="2000">
              <a:solidFill>
                <a:srgbClr val="538CD5"/>
              </a:solidFill>
            </a:endParaRPr>
          </a:p>
          <a:p>
            <a:pPr marL="0" lvl="0" indent="0" algn="l" rtl="0">
              <a:lnSpc>
                <a:spcPct val="100000"/>
              </a:lnSpc>
              <a:spcBef>
                <a:spcPts val="0"/>
              </a:spcBef>
              <a:spcAft>
                <a:spcPts val="0"/>
              </a:spcAft>
              <a:buSzPts val="2000"/>
              <a:buNone/>
            </a:pPr>
            <a:r>
              <a:rPr lang="en-US" sz="2000">
                <a:solidFill>
                  <a:srgbClr val="538CD5"/>
                </a:solidFill>
              </a:rPr>
              <a:t>In 2000, the Decision on Internet Security of the Standing Committee of the NPC was passed.</a:t>
            </a:r>
            <a:endParaRPr/>
          </a:p>
          <a:p>
            <a:pPr marL="0" lvl="0" indent="0" algn="l" rtl="0">
              <a:lnSpc>
                <a:spcPct val="100000"/>
              </a:lnSpc>
              <a:spcBef>
                <a:spcPts val="0"/>
              </a:spcBef>
              <a:spcAft>
                <a:spcPts val="0"/>
              </a:spcAft>
              <a:buSzPts val="2000"/>
              <a:buNone/>
            </a:pPr>
            <a:r>
              <a:rPr lang="en-US" sz="2000">
                <a:solidFill>
                  <a:srgbClr val="538CD5"/>
                </a:solidFill>
              </a:rPr>
              <a:t>In 2000, China issued a series of Internet rules that prohibit anyone to propagate pornography, virus and scams.</a:t>
            </a:r>
            <a:endParaRPr/>
          </a:p>
          <a:p>
            <a:pPr marL="0" lvl="0" indent="0" algn="l" rtl="0">
              <a:lnSpc>
                <a:spcPct val="100000"/>
              </a:lnSpc>
              <a:spcBef>
                <a:spcPts val="0"/>
              </a:spcBef>
              <a:spcAft>
                <a:spcPts val="0"/>
              </a:spcAft>
              <a:buSzPts val="2000"/>
              <a:buNone/>
            </a:pPr>
            <a:r>
              <a:rPr lang="en-US" sz="2000">
                <a:solidFill>
                  <a:srgbClr val="538CD5"/>
                </a:solidFill>
              </a:rPr>
              <a:t>In 2003, China signed UN General Assembly Resolution 57/239 on “Creation of a global culture of cyber security”.</a:t>
            </a:r>
            <a:endParaRPr/>
          </a:p>
          <a:p>
            <a:pPr marL="0" lvl="0" indent="0" algn="l" rtl="0">
              <a:lnSpc>
                <a:spcPct val="100000"/>
              </a:lnSpc>
              <a:spcBef>
                <a:spcPts val="0"/>
              </a:spcBef>
              <a:spcAft>
                <a:spcPts val="0"/>
              </a:spcAft>
              <a:buSzPts val="2000"/>
              <a:buNone/>
            </a:pPr>
            <a:endParaRPr sz="2000"/>
          </a:p>
        </p:txBody>
      </p:sp>
      <p:sp>
        <p:nvSpPr>
          <p:cNvPr id="150" name="Google Shape;150;p21"/>
          <p:cNvSpPr txBox="1">
            <a:spLocks noGrp="1"/>
          </p:cNvSpPr>
          <p:nvPr>
            <p:ph type="sldNum" idx="12"/>
          </p:nvPr>
        </p:nvSpPr>
        <p:spPr>
          <a:xfrm>
            <a:off x="8534400" y="6400800"/>
            <a:ext cx="457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10</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sp>
        <p:nvSpPr>
          <p:cNvPr id="155" name="Google Shape;155;p22"/>
          <p:cNvSpPr txBox="1">
            <a:spLocks noGrp="1"/>
          </p:cNvSpPr>
          <p:nvPr>
            <p:ph type="title"/>
          </p:nvPr>
        </p:nvSpPr>
        <p:spPr>
          <a:xfrm>
            <a:off x="0" y="0"/>
            <a:ext cx="9144000" cy="8382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4400"/>
              <a:buNone/>
            </a:pPr>
            <a:r>
              <a:rPr lang="en-US" sz="2800"/>
              <a:t>Cybercrime and the Legal Landscape around the World</a:t>
            </a:r>
            <a:endParaRPr sz="2800"/>
          </a:p>
        </p:txBody>
      </p:sp>
      <p:sp>
        <p:nvSpPr>
          <p:cNvPr id="156" name="Google Shape;156;p22"/>
          <p:cNvSpPr txBox="1">
            <a:spLocks noGrp="1"/>
          </p:cNvSpPr>
          <p:nvPr>
            <p:ph type="body" idx="1"/>
          </p:nvPr>
        </p:nvSpPr>
        <p:spPr>
          <a:xfrm>
            <a:off x="228600" y="902825"/>
            <a:ext cx="8763000" cy="5863099"/>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2000"/>
              <a:buNone/>
            </a:pPr>
            <a:r>
              <a:rPr lang="en-US" sz="2000" dirty="0">
                <a:solidFill>
                  <a:srgbClr val="538CD5"/>
                </a:solidFill>
              </a:rPr>
              <a:t>- In 2003, China signed Geneva Declaration of Principles of the World Summit on the Information Society.</a:t>
            </a:r>
            <a:endParaRPr dirty="0"/>
          </a:p>
          <a:p>
            <a:pPr marL="0" lvl="0" indent="0" algn="l" rtl="0">
              <a:lnSpc>
                <a:spcPct val="100000"/>
              </a:lnSpc>
              <a:spcBef>
                <a:spcPts val="0"/>
              </a:spcBef>
              <a:spcAft>
                <a:spcPts val="0"/>
              </a:spcAft>
              <a:buSzPts val="2000"/>
              <a:buNone/>
            </a:pPr>
            <a:endParaRPr lang="en-US" sz="2000" dirty="0">
              <a:solidFill>
                <a:srgbClr val="538CD5"/>
              </a:solidFill>
            </a:endParaRPr>
          </a:p>
          <a:p>
            <a:pPr marL="0" lvl="0" indent="0" algn="l" rtl="0">
              <a:lnSpc>
                <a:spcPct val="100000"/>
              </a:lnSpc>
              <a:spcBef>
                <a:spcPts val="0"/>
              </a:spcBef>
              <a:spcAft>
                <a:spcPts val="0"/>
              </a:spcAft>
              <a:buSzPts val="2000"/>
              <a:buNone/>
            </a:pPr>
            <a:r>
              <a:rPr lang="en-US" sz="2000" dirty="0">
                <a:solidFill>
                  <a:srgbClr val="538CD5"/>
                </a:solidFill>
              </a:rPr>
              <a:t>In 2006, an anti-spam initiative was launched.</a:t>
            </a:r>
            <a:endParaRPr dirty="0"/>
          </a:p>
          <a:p>
            <a:pPr marL="0" lvl="0" indent="0" algn="l" rtl="0">
              <a:lnSpc>
                <a:spcPct val="100000"/>
              </a:lnSpc>
              <a:spcBef>
                <a:spcPts val="0"/>
              </a:spcBef>
              <a:spcAft>
                <a:spcPts val="0"/>
              </a:spcAft>
              <a:buSzPts val="2000"/>
              <a:buNone/>
            </a:pPr>
            <a:endParaRPr lang="en-US" sz="2000" dirty="0">
              <a:solidFill>
                <a:srgbClr val="538CD5"/>
              </a:solidFill>
            </a:endParaRPr>
          </a:p>
          <a:p>
            <a:pPr marL="0" lvl="0" indent="0" algn="l" rtl="0">
              <a:lnSpc>
                <a:spcPct val="100000"/>
              </a:lnSpc>
              <a:spcBef>
                <a:spcPts val="0"/>
              </a:spcBef>
              <a:spcAft>
                <a:spcPts val="0"/>
              </a:spcAft>
              <a:buSzPts val="2000"/>
              <a:buNone/>
            </a:pPr>
            <a:r>
              <a:rPr lang="en-US" sz="2000" dirty="0">
                <a:solidFill>
                  <a:srgbClr val="538CD5"/>
                </a:solidFill>
              </a:rPr>
              <a:t>In July 2006, the ASEAN Regional Forum (ARF), which included China, issued a statement that its members should implement cybercrime and cyber security laws “in accordance with their national conditions and by referring to relevant international instruments”.</a:t>
            </a:r>
            <a:endParaRPr dirty="0"/>
          </a:p>
          <a:p>
            <a:pPr marL="0" lvl="0" indent="0" algn="l" rtl="0">
              <a:lnSpc>
                <a:spcPct val="100000"/>
              </a:lnSpc>
              <a:spcBef>
                <a:spcPts val="0"/>
              </a:spcBef>
              <a:spcAft>
                <a:spcPts val="0"/>
              </a:spcAft>
              <a:buSzPts val="2000"/>
              <a:buNone/>
            </a:pPr>
            <a:endParaRPr lang="en-US" sz="2000" dirty="0">
              <a:solidFill>
                <a:srgbClr val="538CD5"/>
              </a:solidFill>
            </a:endParaRPr>
          </a:p>
          <a:p>
            <a:pPr marL="0" lvl="0" indent="0" algn="l" rtl="0">
              <a:lnSpc>
                <a:spcPct val="100000"/>
              </a:lnSpc>
              <a:spcBef>
                <a:spcPts val="0"/>
              </a:spcBef>
              <a:spcAft>
                <a:spcPts val="0"/>
              </a:spcAft>
              <a:buSzPts val="2000"/>
              <a:buNone/>
            </a:pPr>
            <a:r>
              <a:rPr lang="en-US" sz="2000" dirty="0">
                <a:solidFill>
                  <a:srgbClr val="538CD5"/>
                </a:solidFill>
              </a:rPr>
              <a:t>In 2009, ASEAN-China framework agreement on network and information security emergency response were adopted.</a:t>
            </a:r>
            <a:endParaRPr dirty="0"/>
          </a:p>
          <a:p>
            <a:pPr marL="0" lvl="0" indent="0" algn="l" rtl="0">
              <a:lnSpc>
                <a:spcPct val="100000"/>
              </a:lnSpc>
              <a:spcBef>
                <a:spcPts val="0"/>
              </a:spcBef>
              <a:spcAft>
                <a:spcPts val="0"/>
              </a:spcAft>
              <a:buSzPts val="2000"/>
              <a:buNone/>
            </a:pPr>
            <a:endParaRPr lang="en-US" sz="2000" dirty="0">
              <a:solidFill>
                <a:srgbClr val="538CD5"/>
              </a:solidFill>
            </a:endParaRPr>
          </a:p>
          <a:p>
            <a:pPr marL="0" lvl="0" indent="0" algn="l" rtl="0">
              <a:lnSpc>
                <a:spcPct val="100000"/>
              </a:lnSpc>
              <a:spcBef>
                <a:spcPts val="0"/>
              </a:spcBef>
              <a:spcAft>
                <a:spcPts val="0"/>
              </a:spcAft>
              <a:buSzPts val="2000"/>
              <a:buNone/>
            </a:pPr>
            <a:r>
              <a:rPr lang="en-US" sz="2000" dirty="0">
                <a:solidFill>
                  <a:srgbClr val="538CD5"/>
                </a:solidFill>
              </a:rPr>
              <a:t>In 2009, agreement within the Shanghai Cooperation Organization on information security was made.</a:t>
            </a:r>
            <a:endParaRPr dirty="0"/>
          </a:p>
          <a:p>
            <a:pPr marL="0" lvl="0" indent="0" algn="l" rtl="0">
              <a:lnSpc>
                <a:spcPct val="100000"/>
              </a:lnSpc>
              <a:spcBef>
                <a:spcPts val="0"/>
              </a:spcBef>
              <a:spcAft>
                <a:spcPts val="0"/>
              </a:spcAft>
              <a:buSzPts val="2000"/>
              <a:buNone/>
            </a:pPr>
            <a:endParaRPr sz="2000" dirty="0"/>
          </a:p>
        </p:txBody>
      </p:sp>
      <p:sp>
        <p:nvSpPr>
          <p:cNvPr id="157" name="Google Shape;157;p22"/>
          <p:cNvSpPr txBox="1">
            <a:spLocks noGrp="1"/>
          </p:cNvSpPr>
          <p:nvPr>
            <p:ph type="sldNum" idx="12"/>
          </p:nvPr>
        </p:nvSpPr>
        <p:spPr>
          <a:xfrm>
            <a:off x="8534400" y="6400800"/>
            <a:ext cx="457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11</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61"/>
        <p:cNvGrpSpPr/>
        <p:nvPr/>
      </p:nvGrpSpPr>
      <p:grpSpPr>
        <a:xfrm>
          <a:off x="0" y="0"/>
          <a:ext cx="0" cy="0"/>
          <a:chOff x="0" y="0"/>
          <a:chExt cx="0" cy="0"/>
        </a:xfrm>
      </p:grpSpPr>
      <p:sp>
        <p:nvSpPr>
          <p:cNvPr id="162" name="Google Shape;162;p23"/>
          <p:cNvSpPr txBox="1">
            <a:spLocks noGrp="1"/>
          </p:cNvSpPr>
          <p:nvPr>
            <p:ph type="title"/>
          </p:nvPr>
        </p:nvSpPr>
        <p:spPr>
          <a:xfrm>
            <a:off x="0" y="0"/>
            <a:ext cx="9144000" cy="8382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4400"/>
              <a:buNone/>
            </a:pPr>
            <a:r>
              <a:rPr lang="en-US" sz="2800"/>
              <a:t>Cybercrime and the Legal Landscape around the World</a:t>
            </a:r>
            <a:endParaRPr sz="2800"/>
          </a:p>
        </p:txBody>
      </p:sp>
      <p:sp>
        <p:nvSpPr>
          <p:cNvPr id="163" name="Google Shape;163;p23"/>
          <p:cNvSpPr txBox="1">
            <a:spLocks noGrp="1"/>
          </p:cNvSpPr>
          <p:nvPr>
            <p:ph type="body" idx="1"/>
          </p:nvPr>
        </p:nvSpPr>
        <p:spPr>
          <a:xfrm>
            <a:off x="228600" y="902825"/>
            <a:ext cx="8763000" cy="5863099"/>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2000"/>
              <a:buNone/>
            </a:pPr>
            <a:r>
              <a:rPr lang="en-US" sz="2000" b="1" dirty="0">
                <a:solidFill>
                  <a:srgbClr val="538CD5"/>
                </a:solidFill>
              </a:rPr>
              <a:t>- Technical measures:</a:t>
            </a:r>
            <a:endParaRPr dirty="0"/>
          </a:p>
          <a:p>
            <a:pPr marL="0" lvl="0" indent="0" algn="l" rtl="0">
              <a:lnSpc>
                <a:spcPct val="100000"/>
              </a:lnSpc>
              <a:spcBef>
                <a:spcPts val="0"/>
              </a:spcBef>
              <a:spcAft>
                <a:spcPts val="0"/>
              </a:spcAft>
              <a:buSzPts val="2000"/>
              <a:buNone/>
            </a:pPr>
            <a:endParaRPr sz="2000" dirty="0">
              <a:solidFill>
                <a:srgbClr val="538CD5"/>
              </a:solidFill>
            </a:endParaRPr>
          </a:p>
          <a:p>
            <a:pPr marL="0" lvl="0" indent="0" algn="l" rtl="0">
              <a:lnSpc>
                <a:spcPct val="100000"/>
              </a:lnSpc>
              <a:spcBef>
                <a:spcPts val="0"/>
              </a:spcBef>
              <a:spcAft>
                <a:spcPts val="0"/>
              </a:spcAft>
              <a:buSzPts val="2000"/>
              <a:buNone/>
            </a:pPr>
            <a:r>
              <a:rPr lang="en-US" sz="2000" dirty="0">
                <a:solidFill>
                  <a:srgbClr val="538CD5"/>
                </a:solidFill>
              </a:rPr>
              <a:t>- The Convention on Cybercrime, also known as the </a:t>
            </a:r>
            <a:r>
              <a:rPr lang="en-US" sz="2000" b="1" dirty="0">
                <a:solidFill>
                  <a:srgbClr val="538CD5"/>
                </a:solidFill>
              </a:rPr>
              <a:t>Budapest Convention </a:t>
            </a:r>
            <a:r>
              <a:rPr lang="en-US" sz="2000" dirty="0">
                <a:solidFill>
                  <a:srgbClr val="538CD5"/>
                </a:solidFill>
              </a:rPr>
              <a:t>on Cybercrime or the Budapest Convention, is the first international treaty seeking to address Internet and computer crime (cybercrime) by harmonizing national laws, improving investigative techniques, and increasing cooperation among nations.</a:t>
            </a:r>
            <a:endParaRPr dirty="0"/>
          </a:p>
          <a:p>
            <a:pPr marL="0" lvl="0" indent="0" algn="l" rtl="0">
              <a:lnSpc>
                <a:spcPct val="100000"/>
              </a:lnSpc>
              <a:spcBef>
                <a:spcPts val="0"/>
              </a:spcBef>
              <a:spcAft>
                <a:spcPts val="0"/>
              </a:spcAft>
              <a:buSzPts val="2000"/>
              <a:buNone/>
            </a:pPr>
            <a:endParaRPr sz="2000" dirty="0">
              <a:solidFill>
                <a:srgbClr val="538CD5"/>
              </a:solidFill>
            </a:endParaRPr>
          </a:p>
          <a:p>
            <a:pPr marL="0" lvl="0" indent="0" algn="l" rtl="0">
              <a:lnSpc>
                <a:spcPct val="100000"/>
              </a:lnSpc>
              <a:spcBef>
                <a:spcPts val="0"/>
              </a:spcBef>
              <a:spcAft>
                <a:spcPts val="0"/>
              </a:spcAft>
              <a:buSzPts val="2000"/>
              <a:buNone/>
            </a:pPr>
            <a:r>
              <a:rPr lang="en-US" sz="2000" dirty="0">
                <a:solidFill>
                  <a:srgbClr val="538CD5"/>
                </a:solidFill>
              </a:rPr>
              <a:t>It was drawn up by the Council of Europe in Strasbourg, France, with the active participation of the Council of Europe's observer states Canada, Japan, Philippines, South Africa and the United States.</a:t>
            </a:r>
          </a:p>
          <a:p>
            <a:pPr marL="0" lvl="0" indent="0" algn="l" rtl="0">
              <a:lnSpc>
                <a:spcPct val="100000"/>
              </a:lnSpc>
              <a:spcBef>
                <a:spcPts val="0"/>
              </a:spcBef>
              <a:spcAft>
                <a:spcPts val="0"/>
              </a:spcAft>
              <a:buSzPts val="2000"/>
              <a:buNone/>
            </a:pPr>
            <a:endParaRPr dirty="0"/>
          </a:p>
          <a:p>
            <a:pPr marL="0" lvl="0" indent="0" algn="l" rtl="0">
              <a:lnSpc>
                <a:spcPct val="100000"/>
              </a:lnSpc>
              <a:spcBef>
                <a:spcPts val="0"/>
              </a:spcBef>
              <a:spcAft>
                <a:spcPts val="0"/>
              </a:spcAft>
              <a:buSzPts val="2000"/>
              <a:buNone/>
            </a:pPr>
            <a:r>
              <a:rPr lang="en-US" sz="2000" dirty="0">
                <a:solidFill>
                  <a:srgbClr val="538CD5"/>
                </a:solidFill>
              </a:rPr>
              <a:t>The Convention and its Explanatory Report was adopted by the Committee of Ministers of the Council of Europe at its 109th Session on 8 November 2001. It was opened for signature in Budapest, on 23 November 2001 and it entered into force on 1 July 2004. </a:t>
            </a:r>
          </a:p>
          <a:p>
            <a:pPr marL="0" lvl="0" indent="0" algn="l" rtl="0">
              <a:lnSpc>
                <a:spcPct val="100000"/>
              </a:lnSpc>
              <a:spcBef>
                <a:spcPts val="0"/>
              </a:spcBef>
              <a:spcAft>
                <a:spcPts val="0"/>
              </a:spcAft>
              <a:buSzPts val="2000"/>
              <a:buNone/>
            </a:pPr>
            <a:endParaRPr lang="en-US" sz="2000" dirty="0">
              <a:solidFill>
                <a:srgbClr val="538CD5"/>
              </a:solidFill>
            </a:endParaRPr>
          </a:p>
          <a:p>
            <a:pPr marL="0" lvl="0" indent="0" algn="l" rtl="0">
              <a:lnSpc>
                <a:spcPct val="100000"/>
              </a:lnSpc>
              <a:spcBef>
                <a:spcPts val="0"/>
              </a:spcBef>
              <a:spcAft>
                <a:spcPts val="0"/>
              </a:spcAft>
              <a:buSzPts val="2000"/>
              <a:buNone/>
            </a:pPr>
            <a:r>
              <a:rPr lang="en-US" sz="2000" dirty="0">
                <a:solidFill>
                  <a:srgbClr val="538CD5"/>
                </a:solidFill>
              </a:rPr>
              <a:t>As of December 2020, 65 states have ratified the convention, while a further four states had signed the convention but not ratified it.</a:t>
            </a:r>
            <a:endParaRPr dirty="0"/>
          </a:p>
          <a:p>
            <a:pPr marL="0" lvl="0" indent="0" algn="l" rtl="0">
              <a:lnSpc>
                <a:spcPct val="100000"/>
              </a:lnSpc>
              <a:spcBef>
                <a:spcPts val="0"/>
              </a:spcBef>
              <a:spcAft>
                <a:spcPts val="0"/>
              </a:spcAft>
              <a:buSzPts val="2000"/>
              <a:buNone/>
            </a:pPr>
            <a:endParaRPr sz="2000" dirty="0"/>
          </a:p>
        </p:txBody>
      </p:sp>
      <p:sp>
        <p:nvSpPr>
          <p:cNvPr id="164" name="Google Shape;164;p23"/>
          <p:cNvSpPr txBox="1">
            <a:spLocks noGrp="1"/>
          </p:cNvSpPr>
          <p:nvPr>
            <p:ph type="sldNum" idx="12"/>
          </p:nvPr>
        </p:nvSpPr>
        <p:spPr>
          <a:xfrm>
            <a:off x="8534400" y="6400800"/>
            <a:ext cx="457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12</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68"/>
        <p:cNvGrpSpPr/>
        <p:nvPr/>
      </p:nvGrpSpPr>
      <p:grpSpPr>
        <a:xfrm>
          <a:off x="0" y="0"/>
          <a:ext cx="0" cy="0"/>
          <a:chOff x="0" y="0"/>
          <a:chExt cx="0" cy="0"/>
        </a:xfrm>
      </p:grpSpPr>
      <p:sp>
        <p:nvSpPr>
          <p:cNvPr id="169" name="Google Shape;169;p24"/>
          <p:cNvSpPr txBox="1">
            <a:spLocks noGrp="1"/>
          </p:cNvSpPr>
          <p:nvPr>
            <p:ph type="title"/>
          </p:nvPr>
        </p:nvSpPr>
        <p:spPr>
          <a:xfrm>
            <a:off x="0" y="0"/>
            <a:ext cx="9144000" cy="8382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4400"/>
              <a:buNone/>
            </a:pPr>
            <a:r>
              <a:rPr lang="en-US" sz="2800"/>
              <a:t>Cybercrime and the Legal Landscape around the World</a:t>
            </a:r>
            <a:endParaRPr sz="2800"/>
          </a:p>
        </p:txBody>
      </p:sp>
      <p:sp>
        <p:nvSpPr>
          <p:cNvPr id="170" name="Google Shape;170;p24"/>
          <p:cNvSpPr txBox="1">
            <a:spLocks noGrp="1"/>
          </p:cNvSpPr>
          <p:nvPr>
            <p:ph type="body" idx="1"/>
          </p:nvPr>
        </p:nvSpPr>
        <p:spPr>
          <a:xfrm>
            <a:off x="228600" y="902825"/>
            <a:ext cx="8763000" cy="5863099"/>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2000"/>
              <a:buNone/>
            </a:pPr>
            <a:r>
              <a:rPr lang="en-US" sz="2000" dirty="0">
                <a:solidFill>
                  <a:srgbClr val="538CD5"/>
                </a:solidFill>
              </a:rPr>
              <a:t>- Since it entered into force, important countries like Brazil and India have declined to adopt the Convention on the grounds that they did not participate in its drafting. Russia opposes the Convention, stating that adoption would violate Russian sovereignty, and has usually refused to cooperate in law enforcement investigations relating to cybercrime. </a:t>
            </a:r>
          </a:p>
          <a:p>
            <a:pPr marL="0" lvl="0" indent="0" algn="l" rtl="0">
              <a:lnSpc>
                <a:spcPct val="100000"/>
              </a:lnSpc>
              <a:spcBef>
                <a:spcPts val="0"/>
              </a:spcBef>
              <a:spcAft>
                <a:spcPts val="0"/>
              </a:spcAft>
              <a:buSzPts val="2000"/>
              <a:buNone/>
            </a:pPr>
            <a:endParaRPr lang="en-US" sz="2000" dirty="0">
              <a:solidFill>
                <a:srgbClr val="538CD5"/>
              </a:solidFill>
            </a:endParaRPr>
          </a:p>
          <a:p>
            <a:pPr marL="0" lvl="0" indent="0" algn="l" rtl="0">
              <a:lnSpc>
                <a:spcPct val="100000"/>
              </a:lnSpc>
              <a:spcBef>
                <a:spcPts val="0"/>
              </a:spcBef>
              <a:spcAft>
                <a:spcPts val="0"/>
              </a:spcAft>
              <a:buSzPts val="2000"/>
              <a:buNone/>
            </a:pPr>
            <a:r>
              <a:rPr lang="en-US" sz="2000" dirty="0">
                <a:solidFill>
                  <a:srgbClr val="538CD5"/>
                </a:solidFill>
              </a:rPr>
              <a:t>- It is the first multilateral legally binding instrument to regulate cybercrime. Since 2018, India has been reconsidering its stand on the Convention after a surge in cybercrime, though concerns about sharing data with foreign agencies remain.</a:t>
            </a:r>
            <a:endParaRPr dirty="0"/>
          </a:p>
          <a:p>
            <a:pPr marL="0" lvl="0" indent="0" algn="l" rtl="0">
              <a:lnSpc>
                <a:spcPct val="100000"/>
              </a:lnSpc>
              <a:spcBef>
                <a:spcPts val="0"/>
              </a:spcBef>
              <a:spcAft>
                <a:spcPts val="0"/>
              </a:spcAft>
              <a:buSzPts val="2000"/>
              <a:buNone/>
            </a:pPr>
            <a:endParaRPr lang="en-US" sz="2000" dirty="0">
              <a:solidFill>
                <a:srgbClr val="538CD5"/>
              </a:solidFill>
            </a:endParaRPr>
          </a:p>
          <a:p>
            <a:pPr marL="0" lvl="0" indent="0" algn="l" rtl="0">
              <a:lnSpc>
                <a:spcPct val="100000"/>
              </a:lnSpc>
              <a:spcBef>
                <a:spcPts val="0"/>
              </a:spcBef>
              <a:spcAft>
                <a:spcPts val="0"/>
              </a:spcAft>
              <a:buSzPts val="2000"/>
              <a:buNone/>
            </a:pPr>
            <a:r>
              <a:rPr lang="en-US" sz="2000" dirty="0">
                <a:solidFill>
                  <a:srgbClr val="538CD5"/>
                </a:solidFill>
              </a:rPr>
              <a:t>- On 1 March 2006, the Additional Protocol to the Convention on Cybercrime came into force. Those States that have ratified the additional protocol are required to criminalize the dissemination of racist and xenophobic material through computer systems, as well as threats and insults motivated by racism or xenophobia.</a:t>
            </a:r>
            <a:endParaRPr dirty="0"/>
          </a:p>
          <a:p>
            <a:pPr marL="0" lvl="0" indent="0" algn="l" rtl="0">
              <a:lnSpc>
                <a:spcPct val="100000"/>
              </a:lnSpc>
              <a:spcBef>
                <a:spcPts val="0"/>
              </a:spcBef>
              <a:spcAft>
                <a:spcPts val="0"/>
              </a:spcAft>
              <a:buSzPts val="2000"/>
              <a:buNone/>
            </a:pPr>
            <a:endParaRPr sz="2000" dirty="0"/>
          </a:p>
        </p:txBody>
      </p:sp>
      <p:sp>
        <p:nvSpPr>
          <p:cNvPr id="171" name="Google Shape;171;p24"/>
          <p:cNvSpPr txBox="1">
            <a:spLocks noGrp="1"/>
          </p:cNvSpPr>
          <p:nvPr>
            <p:ph type="sldNum" idx="12"/>
          </p:nvPr>
        </p:nvSpPr>
        <p:spPr>
          <a:xfrm>
            <a:off x="8534400" y="6400800"/>
            <a:ext cx="457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13</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sp>
        <p:nvSpPr>
          <p:cNvPr id="176" name="Google Shape;176;p25"/>
          <p:cNvSpPr txBox="1">
            <a:spLocks noGrp="1"/>
          </p:cNvSpPr>
          <p:nvPr>
            <p:ph type="title"/>
          </p:nvPr>
        </p:nvSpPr>
        <p:spPr>
          <a:xfrm>
            <a:off x="0" y="0"/>
            <a:ext cx="9144000" cy="8382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4400"/>
              <a:buNone/>
            </a:pPr>
            <a:r>
              <a:rPr lang="en-US" sz="2800"/>
              <a:t>Cybercrime and the Legal Landscape around the World</a:t>
            </a:r>
            <a:endParaRPr sz="2800"/>
          </a:p>
        </p:txBody>
      </p:sp>
      <p:sp>
        <p:nvSpPr>
          <p:cNvPr id="177" name="Google Shape;177;p25"/>
          <p:cNvSpPr txBox="1">
            <a:spLocks noGrp="1"/>
          </p:cNvSpPr>
          <p:nvPr>
            <p:ph type="body" idx="1"/>
          </p:nvPr>
        </p:nvSpPr>
        <p:spPr>
          <a:xfrm>
            <a:off x="228600" y="902825"/>
            <a:ext cx="8763000" cy="5863099"/>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2000"/>
              <a:buNone/>
            </a:pPr>
            <a:r>
              <a:rPr lang="en-US" sz="2000">
                <a:solidFill>
                  <a:srgbClr val="538CD5"/>
                </a:solidFill>
              </a:rPr>
              <a:t>- The Convention aims principally at:</a:t>
            </a:r>
            <a:endParaRPr/>
          </a:p>
          <a:p>
            <a:pPr marL="0" lvl="0" indent="0" algn="l" rtl="0">
              <a:lnSpc>
                <a:spcPct val="100000"/>
              </a:lnSpc>
              <a:spcBef>
                <a:spcPts val="0"/>
              </a:spcBef>
              <a:spcAft>
                <a:spcPts val="0"/>
              </a:spcAft>
              <a:buSzPts val="2000"/>
              <a:buNone/>
            </a:pPr>
            <a:endParaRPr sz="2000">
              <a:solidFill>
                <a:srgbClr val="538CD5"/>
              </a:solidFill>
            </a:endParaRPr>
          </a:p>
          <a:p>
            <a:pPr marL="0" lvl="0" indent="0" algn="l" rtl="0">
              <a:lnSpc>
                <a:spcPct val="100000"/>
              </a:lnSpc>
              <a:spcBef>
                <a:spcPts val="0"/>
              </a:spcBef>
              <a:spcAft>
                <a:spcPts val="0"/>
              </a:spcAft>
              <a:buSzPts val="2000"/>
              <a:buNone/>
            </a:pPr>
            <a:r>
              <a:rPr lang="en-US" sz="2000">
                <a:solidFill>
                  <a:srgbClr val="538CD5"/>
                </a:solidFill>
              </a:rPr>
              <a:t>• Harmonizing the domestic criminal substantive law elements of offenses and connected provisions in the area of cyber-crime</a:t>
            </a:r>
            <a:endParaRPr/>
          </a:p>
          <a:p>
            <a:pPr marL="0" lvl="0" indent="0" algn="l" rtl="0">
              <a:lnSpc>
                <a:spcPct val="100000"/>
              </a:lnSpc>
              <a:spcBef>
                <a:spcPts val="0"/>
              </a:spcBef>
              <a:spcAft>
                <a:spcPts val="0"/>
              </a:spcAft>
              <a:buSzPts val="2000"/>
              <a:buNone/>
            </a:pPr>
            <a:r>
              <a:rPr lang="en-US" sz="2000">
                <a:solidFill>
                  <a:srgbClr val="538CD5"/>
                </a:solidFill>
              </a:rPr>
              <a:t>• Providing for domestic criminal procedural law powers necessary for the investigation and prosecution of such offenses as well as other offenses committed by means of a computer system or evidence in relation to which is in electronic form</a:t>
            </a:r>
            <a:endParaRPr/>
          </a:p>
          <a:p>
            <a:pPr marL="0" lvl="0" indent="0" algn="l" rtl="0">
              <a:lnSpc>
                <a:spcPct val="100000"/>
              </a:lnSpc>
              <a:spcBef>
                <a:spcPts val="0"/>
              </a:spcBef>
              <a:spcAft>
                <a:spcPts val="0"/>
              </a:spcAft>
              <a:buSzPts val="2000"/>
              <a:buNone/>
            </a:pPr>
            <a:r>
              <a:rPr lang="en-US" sz="2000">
                <a:solidFill>
                  <a:srgbClr val="538CD5"/>
                </a:solidFill>
              </a:rPr>
              <a:t>• Setting up a fast and effective regime of international cooperation</a:t>
            </a:r>
            <a:endParaRPr/>
          </a:p>
          <a:p>
            <a:pPr marL="0" lvl="0" indent="0" algn="l" rtl="0">
              <a:lnSpc>
                <a:spcPct val="100000"/>
              </a:lnSpc>
              <a:spcBef>
                <a:spcPts val="0"/>
              </a:spcBef>
              <a:spcAft>
                <a:spcPts val="0"/>
              </a:spcAft>
              <a:buSzPts val="2000"/>
              <a:buNone/>
            </a:pPr>
            <a:endParaRPr sz="2000"/>
          </a:p>
        </p:txBody>
      </p:sp>
      <p:sp>
        <p:nvSpPr>
          <p:cNvPr id="178" name="Google Shape;178;p25"/>
          <p:cNvSpPr txBox="1">
            <a:spLocks noGrp="1"/>
          </p:cNvSpPr>
          <p:nvPr>
            <p:ph type="sldNum" idx="12"/>
          </p:nvPr>
        </p:nvSpPr>
        <p:spPr>
          <a:xfrm>
            <a:off x="8534400" y="6400800"/>
            <a:ext cx="457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14</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82"/>
        <p:cNvGrpSpPr/>
        <p:nvPr/>
      </p:nvGrpSpPr>
      <p:grpSpPr>
        <a:xfrm>
          <a:off x="0" y="0"/>
          <a:ext cx="0" cy="0"/>
          <a:chOff x="0" y="0"/>
          <a:chExt cx="0" cy="0"/>
        </a:xfrm>
      </p:grpSpPr>
      <p:sp>
        <p:nvSpPr>
          <p:cNvPr id="183" name="Google Shape;183;p26"/>
          <p:cNvSpPr txBox="1">
            <a:spLocks noGrp="1"/>
          </p:cNvSpPr>
          <p:nvPr>
            <p:ph type="title"/>
          </p:nvPr>
        </p:nvSpPr>
        <p:spPr>
          <a:xfrm>
            <a:off x="0" y="0"/>
            <a:ext cx="9144000" cy="8382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4400"/>
              <a:buNone/>
            </a:pPr>
            <a:r>
              <a:rPr lang="en-US" sz="2800"/>
              <a:t>Cybercrime and the Legal Landscape around the World</a:t>
            </a:r>
            <a:endParaRPr sz="2800"/>
          </a:p>
        </p:txBody>
      </p:sp>
      <p:sp>
        <p:nvSpPr>
          <p:cNvPr id="184" name="Google Shape;184;p26"/>
          <p:cNvSpPr txBox="1">
            <a:spLocks noGrp="1"/>
          </p:cNvSpPr>
          <p:nvPr>
            <p:ph type="body" idx="1"/>
          </p:nvPr>
        </p:nvSpPr>
        <p:spPr>
          <a:xfrm>
            <a:off x="228600" y="902825"/>
            <a:ext cx="8763000" cy="5863099"/>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2000"/>
              <a:buNone/>
            </a:pPr>
            <a:r>
              <a:rPr lang="en-US" sz="2000">
                <a:solidFill>
                  <a:srgbClr val="538CD5"/>
                </a:solidFill>
              </a:rPr>
              <a:t>-</a:t>
            </a:r>
            <a:endParaRPr sz="2000"/>
          </a:p>
        </p:txBody>
      </p:sp>
      <p:sp>
        <p:nvSpPr>
          <p:cNvPr id="185" name="Google Shape;185;p26"/>
          <p:cNvSpPr txBox="1">
            <a:spLocks noGrp="1"/>
          </p:cNvSpPr>
          <p:nvPr>
            <p:ph type="sldNum" idx="12"/>
          </p:nvPr>
        </p:nvSpPr>
        <p:spPr>
          <a:xfrm>
            <a:off x="8534400" y="6400800"/>
            <a:ext cx="457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15</a:t>
            </a:fld>
            <a:endParaRPr/>
          </a:p>
        </p:txBody>
      </p:sp>
      <p:pic>
        <p:nvPicPr>
          <p:cNvPr id="186" name="Google Shape;186;p26"/>
          <p:cNvPicPr preferRelativeResize="0"/>
          <p:nvPr/>
        </p:nvPicPr>
        <p:blipFill rotWithShape="1">
          <a:blip r:embed="rId3">
            <a:alphaModFix/>
          </a:blip>
          <a:srcRect/>
          <a:stretch/>
        </p:blipFill>
        <p:spPr>
          <a:xfrm>
            <a:off x="878773" y="832546"/>
            <a:ext cx="7267699" cy="5675132"/>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90"/>
        <p:cNvGrpSpPr/>
        <p:nvPr/>
      </p:nvGrpSpPr>
      <p:grpSpPr>
        <a:xfrm>
          <a:off x="0" y="0"/>
          <a:ext cx="0" cy="0"/>
          <a:chOff x="0" y="0"/>
          <a:chExt cx="0" cy="0"/>
        </a:xfrm>
      </p:grpSpPr>
      <p:sp>
        <p:nvSpPr>
          <p:cNvPr id="191" name="Google Shape;191;p27"/>
          <p:cNvSpPr txBox="1">
            <a:spLocks noGrp="1"/>
          </p:cNvSpPr>
          <p:nvPr>
            <p:ph type="title"/>
          </p:nvPr>
        </p:nvSpPr>
        <p:spPr>
          <a:xfrm>
            <a:off x="0" y="0"/>
            <a:ext cx="9144000" cy="8382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4400"/>
              <a:buNone/>
            </a:pPr>
            <a:r>
              <a:rPr lang="en-US" sz="3200"/>
              <a:t>Why Do We Need Cyber laws: The Indian Context</a:t>
            </a:r>
            <a:endParaRPr sz="3200"/>
          </a:p>
        </p:txBody>
      </p:sp>
      <p:sp>
        <p:nvSpPr>
          <p:cNvPr id="192" name="Google Shape;192;p27"/>
          <p:cNvSpPr txBox="1">
            <a:spLocks noGrp="1"/>
          </p:cNvSpPr>
          <p:nvPr>
            <p:ph type="body" idx="1"/>
          </p:nvPr>
        </p:nvSpPr>
        <p:spPr>
          <a:xfrm>
            <a:off x="228600" y="902825"/>
            <a:ext cx="8763000" cy="5863099"/>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2000"/>
              <a:buNone/>
            </a:pPr>
            <a:r>
              <a:rPr lang="en-US" sz="2000">
                <a:solidFill>
                  <a:srgbClr val="538CD5"/>
                </a:solidFill>
              </a:rPr>
              <a:t>- Cyber Security is an important issue for every country in the world. India has an increasing number of cyber security issues, and it is important that India be willing to take responsibility for it. Cyber-attacks cost the country Rs. 1.25L crore each year, according to the recent economic times report on global cyber-crime.</a:t>
            </a:r>
            <a:endParaRPr/>
          </a:p>
          <a:p>
            <a:pPr marL="0" lvl="0" indent="0" algn="l" rtl="0">
              <a:lnSpc>
                <a:spcPct val="100000"/>
              </a:lnSpc>
              <a:spcBef>
                <a:spcPts val="0"/>
              </a:spcBef>
              <a:spcAft>
                <a:spcPts val="0"/>
              </a:spcAft>
              <a:buSzPts val="2000"/>
              <a:buNone/>
            </a:pPr>
            <a:endParaRPr sz="2000">
              <a:solidFill>
                <a:srgbClr val="538CD5"/>
              </a:solidFill>
            </a:endParaRPr>
          </a:p>
          <a:p>
            <a:pPr marL="0" lvl="0" indent="0" algn="l" rtl="0">
              <a:lnSpc>
                <a:spcPct val="100000"/>
              </a:lnSpc>
              <a:spcBef>
                <a:spcPts val="0"/>
              </a:spcBef>
              <a:spcAft>
                <a:spcPts val="0"/>
              </a:spcAft>
              <a:buSzPts val="2000"/>
              <a:buNone/>
            </a:pPr>
            <a:r>
              <a:rPr lang="en-US" sz="2000">
                <a:solidFill>
                  <a:srgbClr val="538CD5"/>
                </a:solidFill>
              </a:rPr>
              <a:t>The dawn of cyber laws in India started with the boom in globalization and computerization in India. The number of cyber-crimes registered each year in India is shocking and it is only getting worse.</a:t>
            </a:r>
            <a:endParaRPr/>
          </a:p>
          <a:p>
            <a:pPr marL="0" lvl="0" indent="0" algn="l" rtl="0">
              <a:lnSpc>
                <a:spcPct val="100000"/>
              </a:lnSpc>
              <a:spcBef>
                <a:spcPts val="0"/>
              </a:spcBef>
              <a:spcAft>
                <a:spcPts val="0"/>
              </a:spcAft>
              <a:buSzPts val="2000"/>
              <a:buNone/>
            </a:pPr>
            <a:endParaRPr sz="2000">
              <a:solidFill>
                <a:srgbClr val="538CD5"/>
              </a:solidFill>
            </a:endParaRPr>
          </a:p>
          <a:p>
            <a:pPr marL="0" lvl="0" indent="0" algn="l" rtl="0">
              <a:lnSpc>
                <a:spcPct val="100000"/>
              </a:lnSpc>
              <a:spcBef>
                <a:spcPts val="0"/>
              </a:spcBef>
              <a:spcAft>
                <a:spcPts val="0"/>
              </a:spcAft>
              <a:buSzPts val="2000"/>
              <a:buNone/>
            </a:pPr>
            <a:r>
              <a:rPr lang="en-US" sz="2000">
                <a:solidFill>
                  <a:srgbClr val="538CD5"/>
                </a:solidFill>
              </a:rPr>
              <a:t>As per a survey, the number of cyber-attacks in India, from February 2020 to March 2020, went from 1.3 million to 3.3 million. In July 2020, India reported its highest number of attacks of 4.5 million. </a:t>
            </a:r>
            <a:endParaRPr/>
          </a:p>
          <a:p>
            <a:pPr marL="0" lvl="0" indent="0" algn="l" rtl="0">
              <a:lnSpc>
                <a:spcPct val="100000"/>
              </a:lnSpc>
              <a:spcBef>
                <a:spcPts val="0"/>
              </a:spcBef>
              <a:spcAft>
                <a:spcPts val="0"/>
              </a:spcAft>
              <a:buSzPts val="2000"/>
              <a:buNone/>
            </a:pPr>
            <a:r>
              <a:rPr lang="en-US" sz="2000">
                <a:solidFill>
                  <a:srgbClr val="538CD5"/>
                </a:solidFill>
              </a:rPr>
              <a:t>We have seen instances of hacking and stealing information from different websites in India.</a:t>
            </a:r>
            <a:endParaRPr/>
          </a:p>
          <a:p>
            <a:pPr marL="0" lvl="0" indent="0" algn="l" rtl="0">
              <a:lnSpc>
                <a:spcPct val="100000"/>
              </a:lnSpc>
              <a:spcBef>
                <a:spcPts val="0"/>
              </a:spcBef>
              <a:spcAft>
                <a:spcPts val="0"/>
              </a:spcAft>
              <a:buSzPts val="2000"/>
              <a:buNone/>
            </a:pPr>
            <a:endParaRPr sz="2000"/>
          </a:p>
        </p:txBody>
      </p:sp>
      <p:sp>
        <p:nvSpPr>
          <p:cNvPr id="193" name="Google Shape;193;p27"/>
          <p:cNvSpPr txBox="1">
            <a:spLocks noGrp="1"/>
          </p:cNvSpPr>
          <p:nvPr>
            <p:ph type="sldNum" idx="12"/>
          </p:nvPr>
        </p:nvSpPr>
        <p:spPr>
          <a:xfrm>
            <a:off x="8534400" y="6400800"/>
            <a:ext cx="457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16</a:t>
            </a:fld>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sp>
        <p:nvSpPr>
          <p:cNvPr id="198" name="Google Shape;198;p28"/>
          <p:cNvSpPr txBox="1">
            <a:spLocks noGrp="1"/>
          </p:cNvSpPr>
          <p:nvPr>
            <p:ph type="title"/>
          </p:nvPr>
        </p:nvSpPr>
        <p:spPr>
          <a:xfrm>
            <a:off x="0" y="0"/>
            <a:ext cx="9144000" cy="8382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4400"/>
              <a:buNone/>
            </a:pPr>
            <a:r>
              <a:rPr lang="en-US" sz="3200"/>
              <a:t>Why Do We Need Cyber laws: The Indian Context</a:t>
            </a:r>
            <a:endParaRPr sz="3200"/>
          </a:p>
        </p:txBody>
      </p:sp>
      <p:sp>
        <p:nvSpPr>
          <p:cNvPr id="199" name="Google Shape;199;p28"/>
          <p:cNvSpPr txBox="1">
            <a:spLocks noGrp="1"/>
          </p:cNvSpPr>
          <p:nvPr>
            <p:ph type="body" idx="1"/>
          </p:nvPr>
        </p:nvSpPr>
        <p:spPr>
          <a:xfrm>
            <a:off x="228600" y="902825"/>
            <a:ext cx="8763000" cy="5863099"/>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2000"/>
              <a:buNone/>
            </a:pPr>
            <a:r>
              <a:rPr lang="en-US" sz="2000">
                <a:solidFill>
                  <a:srgbClr val="538CD5"/>
                </a:solidFill>
              </a:rPr>
              <a:t>- Recently we have seen that RBI blocked MasterCard for being non-compliant with the direction of storage of Payment system data.</a:t>
            </a:r>
            <a:endParaRPr/>
          </a:p>
          <a:p>
            <a:pPr marL="0" lvl="0" indent="0" algn="l" rtl="0">
              <a:lnSpc>
                <a:spcPct val="100000"/>
              </a:lnSpc>
              <a:spcBef>
                <a:spcPts val="0"/>
              </a:spcBef>
              <a:spcAft>
                <a:spcPts val="0"/>
              </a:spcAft>
              <a:buSzPts val="2000"/>
              <a:buNone/>
            </a:pPr>
            <a:endParaRPr sz="2000">
              <a:solidFill>
                <a:srgbClr val="538CD5"/>
              </a:solidFill>
            </a:endParaRPr>
          </a:p>
          <a:p>
            <a:pPr marL="0" lvl="0" indent="0" algn="l" rtl="0">
              <a:lnSpc>
                <a:spcPct val="100000"/>
              </a:lnSpc>
              <a:spcBef>
                <a:spcPts val="0"/>
              </a:spcBef>
              <a:spcAft>
                <a:spcPts val="0"/>
              </a:spcAft>
              <a:buSzPts val="2000"/>
              <a:buNone/>
            </a:pPr>
            <a:r>
              <a:rPr lang="en-US" sz="2000">
                <a:solidFill>
                  <a:srgbClr val="538CD5"/>
                </a:solidFill>
              </a:rPr>
              <a:t>The threats from the internet are almost endless, and a cyber-security policy is the most effective way to combat that.</a:t>
            </a:r>
            <a:endParaRPr/>
          </a:p>
        </p:txBody>
      </p:sp>
      <p:sp>
        <p:nvSpPr>
          <p:cNvPr id="200" name="Google Shape;200;p28"/>
          <p:cNvSpPr txBox="1">
            <a:spLocks noGrp="1"/>
          </p:cNvSpPr>
          <p:nvPr>
            <p:ph type="sldNum" idx="12"/>
          </p:nvPr>
        </p:nvSpPr>
        <p:spPr>
          <a:xfrm>
            <a:off x="8534400" y="6400800"/>
            <a:ext cx="457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17</a:t>
            </a:fld>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04"/>
        <p:cNvGrpSpPr/>
        <p:nvPr/>
      </p:nvGrpSpPr>
      <p:grpSpPr>
        <a:xfrm>
          <a:off x="0" y="0"/>
          <a:ext cx="0" cy="0"/>
          <a:chOff x="0" y="0"/>
          <a:chExt cx="0" cy="0"/>
        </a:xfrm>
      </p:grpSpPr>
      <p:sp>
        <p:nvSpPr>
          <p:cNvPr id="205" name="Google Shape;205;p29"/>
          <p:cNvSpPr txBox="1">
            <a:spLocks noGrp="1"/>
          </p:cNvSpPr>
          <p:nvPr>
            <p:ph type="title"/>
          </p:nvPr>
        </p:nvSpPr>
        <p:spPr>
          <a:xfrm>
            <a:off x="0" y="0"/>
            <a:ext cx="9144000" cy="8382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4400"/>
              <a:buNone/>
            </a:pPr>
            <a:r>
              <a:rPr lang="en-US" sz="4000"/>
              <a:t>The Indian IT Act</a:t>
            </a:r>
            <a:endParaRPr sz="4000"/>
          </a:p>
        </p:txBody>
      </p:sp>
      <p:sp>
        <p:nvSpPr>
          <p:cNvPr id="206" name="Google Shape;206;p29"/>
          <p:cNvSpPr txBox="1">
            <a:spLocks noGrp="1"/>
          </p:cNvSpPr>
          <p:nvPr>
            <p:ph type="body" idx="1"/>
          </p:nvPr>
        </p:nvSpPr>
        <p:spPr>
          <a:xfrm>
            <a:off x="228600" y="902825"/>
            <a:ext cx="8763000" cy="5863099"/>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2000"/>
              <a:buNone/>
            </a:pPr>
            <a:r>
              <a:rPr lang="en-US" sz="2000" dirty="0">
                <a:solidFill>
                  <a:srgbClr val="538CD5"/>
                </a:solidFill>
              </a:rPr>
              <a:t>- The Information Technology Act, 2000 (also known as ITA-2000, or the IT Act) is an Act of the Indian Parliament (No 21 of 2000) notified on 17 October 2000. It is the primary law in India dealing with cybercrime and electronic commerce.</a:t>
            </a:r>
            <a:endParaRPr dirty="0"/>
          </a:p>
          <a:p>
            <a:pPr marL="0" lvl="0" indent="0" algn="l" rtl="0">
              <a:lnSpc>
                <a:spcPct val="100000"/>
              </a:lnSpc>
              <a:spcBef>
                <a:spcPts val="0"/>
              </a:spcBef>
              <a:spcAft>
                <a:spcPts val="0"/>
              </a:spcAft>
              <a:buSzPts val="2000"/>
              <a:buNone/>
            </a:pPr>
            <a:endParaRPr sz="2000" dirty="0">
              <a:solidFill>
                <a:srgbClr val="538CD5"/>
              </a:solidFill>
            </a:endParaRPr>
          </a:p>
          <a:p>
            <a:pPr marL="0" lvl="0" indent="0" algn="l" rtl="0">
              <a:lnSpc>
                <a:spcPct val="100000"/>
              </a:lnSpc>
              <a:spcBef>
                <a:spcPts val="0"/>
              </a:spcBef>
              <a:spcAft>
                <a:spcPts val="0"/>
              </a:spcAft>
              <a:buSzPts val="2000"/>
              <a:buNone/>
            </a:pPr>
            <a:r>
              <a:rPr lang="en-US" sz="2000" dirty="0">
                <a:solidFill>
                  <a:srgbClr val="538CD5"/>
                </a:solidFill>
              </a:rPr>
              <a:t>The bill was passed in the budget session of 2000 and signed by President K. R. Narayanan on 9 June 2000. The bill was finalized by a group of officials headed by then Minister of Information Technology Pramod Mahajan. </a:t>
            </a:r>
            <a:endParaRPr dirty="0"/>
          </a:p>
          <a:p>
            <a:pPr marL="0" lvl="0" indent="0" algn="l" rtl="0">
              <a:lnSpc>
                <a:spcPct val="100000"/>
              </a:lnSpc>
              <a:spcBef>
                <a:spcPts val="0"/>
              </a:spcBef>
              <a:spcAft>
                <a:spcPts val="0"/>
              </a:spcAft>
              <a:buSzPts val="2000"/>
              <a:buNone/>
            </a:pPr>
            <a:endParaRPr sz="2000" dirty="0">
              <a:solidFill>
                <a:srgbClr val="538CD5"/>
              </a:solidFill>
            </a:endParaRPr>
          </a:p>
          <a:p>
            <a:pPr marL="0" lvl="0" indent="0" algn="l" rtl="0">
              <a:lnSpc>
                <a:spcPct val="100000"/>
              </a:lnSpc>
              <a:spcBef>
                <a:spcPts val="0"/>
              </a:spcBef>
              <a:spcAft>
                <a:spcPts val="0"/>
              </a:spcAft>
              <a:buSzPts val="2000"/>
              <a:buNone/>
            </a:pPr>
            <a:r>
              <a:rPr lang="en-US" sz="2000" dirty="0">
                <a:solidFill>
                  <a:srgbClr val="538CD5"/>
                </a:solidFill>
              </a:rPr>
              <a:t>The original Act contained 94 sections, divided into 13 chapters and 4 schedules. The laws apply to the whole of India. If a crime involves a computer or network located in India, persons of other nationalities can also be indicted under the law.</a:t>
            </a:r>
            <a:endParaRPr dirty="0"/>
          </a:p>
          <a:p>
            <a:pPr marL="0" lvl="0" indent="0" algn="l" rtl="0">
              <a:lnSpc>
                <a:spcPct val="100000"/>
              </a:lnSpc>
              <a:spcBef>
                <a:spcPts val="0"/>
              </a:spcBef>
              <a:spcAft>
                <a:spcPts val="0"/>
              </a:spcAft>
              <a:buSzPts val="2000"/>
              <a:buNone/>
            </a:pPr>
            <a:endParaRPr sz="2000" dirty="0">
              <a:solidFill>
                <a:srgbClr val="538CD5"/>
              </a:solidFill>
            </a:endParaRPr>
          </a:p>
          <a:p>
            <a:pPr marL="0" lvl="0" indent="0" algn="l" rtl="0">
              <a:lnSpc>
                <a:spcPct val="100000"/>
              </a:lnSpc>
              <a:spcBef>
                <a:spcPts val="0"/>
              </a:spcBef>
              <a:spcAft>
                <a:spcPts val="0"/>
              </a:spcAft>
              <a:buSzPts val="2000"/>
              <a:buNone/>
            </a:pPr>
            <a:r>
              <a:rPr lang="en-US" sz="2000" dirty="0">
                <a:solidFill>
                  <a:srgbClr val="538CD5"/>
                </a:solidFill>
              </a:rPr>
              <a:t>The Act provides a legal framework for electronic governance by giving recognition to electronic records and digital signatures. It also defines cybercrimes and prescribes penalties for them. The Act directed the formation of a Controller of Certifying Authorities to regulate the issuance of digital signatures. </a:t>
            </a:r>
            <a:endParaRPr dirty="0"/>
          </a:p>
        </p:txBody>
      </p:sp>
      <p:sp>
        <p:nvSpPr>
          <p:cNvPr id="207" name="Google Shape;207;p29"/>
          <p:cNvSpPr txBox="1">
            <a:spLocks noGrp="1"/>
          </p:cNvSpPr>
          <p:nvPr>
            <p:ph type="sldNum" idx="12"/>
          </p:nvPr>
        </p:nvSpPr>
        <p:spPr>
          <a:xfrm>
            <a:off x="8534400" y="6400800"/>
            <a:ext cx="457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18</a:t>
            </a:fld>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12" name="Google Shape;212;p30"/>
          <p:cNvSpPr txBox="1">
            <a:spLocks noGrp="1"/>
          </p:cNvSpPr>
          <p:nvPr>
            <p:ph type="title"/>
          </p:nvPr>
        </p:nvSpPr>
        <p:spPr>
          <a:xfrm>
            <a:off x="0" y="0"/>
            <a:ext cx="9144000" cy="8382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4400"/>
              <a:buNone/>
            </a:pPr>
            <a:r>
              <a:rPr lang="en-US" sz="4000"/>
              <a:t>The Indian IT Act</a:t>
            </a:r>
            <a:endParaRPr sz="4000"/>
          </a:p>
        </p:txBody>
      </p:sp>
      <p:sp>
        <p:nvSpPr>
          <p:cNvPr id="213" name="Google Shape;213;p30"/>
          <p:cNvSpPr txBox="1">
            <a:spLocks noGrp="1"/>
          </p:cNvSpPr>
          <p:nvPr>
            <p:ph type="body" idx="1"/>
          </p:nvPr>
        </p:nvSpPr>
        <p:spPr>
          <a:xfrm>
            <a:off x="228600" y="902825"/>
            <a:ext cx="8763000" cy="5863099"/>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2000"/>
              <a:buNone/>
            </a:pPr>
            <a:r>
              <a:rPr lang="en-US" sz="2000">
                <a:solidFill>
                  <a:srgbClr val="538CD5"/>
                </a:solidFill>
              </a:rPr>
              <a:t>- The Act also amended various sections of the Indian Penal Code, 1860, the Indian Evidence Act, 1872, the Banker's Book Evidence Act, 1891, and the Reserve Bank of India Act, 1934 to make them compliant with new technologies.</a:t>
            </a:r>
            <a:endParaRPr/>
          </a:p>
          <a:p>
            <a:pPr marL="0" lvl="0" indent="0" algn="l" rtl="0">
              <a:lnSpc>
                <a:spcPct val="100000"/>
              </a:lnSpc>
              <a:spcBef>
                <a:spcPts val="0"/>
              </a:spcBef>
              <a:spcAft>
                <a:spcPts val="0"/>
              </a:spcAft>
              <a:buSzPts val="2000"/>
              <a:buNone/>
            </a:pPr>
            <a:endParaRPr sz="2000">
              <a:solidFill>
                <a:srgbClr val="538CD5"/>
              </a:solidFill>
            </a:endParaRPr>
          </a:p>
        </p:txBody>
      </p:sp>
      <p:sp>
        <p:nvSpPr>
          <p:cNvPr id="214" name="Google Shape;214;p30"/>
          <p:cNvSpPr txBox="1">
            <a:spLocks noGrp="1"/>
          </p:cNvSpPr>
          <p:nvPr>
            <p:ph type="sldNum" idx="12"/>
          </p:nvPr>
        </p:nvSpPr>
        <p:spPr>
          <a:xfrm>
            <a:off x="8534400" y="6400800"/>
            <a:ext cx="457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19</a:t>
            </a:fld>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18"/>
        <p:cNvGrpSpPr/>
        <p:nvPr/>
      </p:nvGrpSpPr>
      <p:grpSpPr>
        <a:xfrm>
          <a:off x="0" y="0"/>
          <a:ext cx="0" cy="0"/>
          <a:chOff x="0" y="0"/>
          <a:chExt cx="0" cy="0"/>
        </a:xfrm>
      </p:grpSpPr>
      <p:sp>
        <p:nvSpPr>
          <p:cNvPr id="219" name="Google Shape;219;p31"/>
          <p:cNvSpPr txBox="1">
            <a:spLocks noGrp="1"/>
          </p:cNvSpPr>
          <p:nvPr>
            <p:ph type="title"/>
          </p:nvPr>
        </p:nvSpPr>
        <p:spPr>
          <a:xfrm>
            <a:off x="0" y="0"/>
            <a:ext cx="9144000" cy="8382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4400"/>
              <a:buNone/>
            </a:pPr>
            <a:r>
              <a:rPr lang="en-US" sz="4000"/>
              <a:t>The Indian IT Act</a:t>
            </a:r>
            <a:endParaRPr sz="4000"/>
          </a:p>
        </p:txBody>
      </p:sp>
      <p:sp>
        <p:nvSpPr>
          <p:cNvPr id="220" name="Google Shape;220;p31"/>
          <p:cNvSpPr txBox="1">
            <a:spLocks noGrp="1"/>
          </p:cNvSpPr>
          <p:nvPr>
            <p:ph type="body" idx="1"/>
          </p:nvPr>
        </p:nvSpPr>
        <p:spPr>
          <a:xfrm>
            <a:off x="228600" y="902825"/>
            <a:ext cx="8763000" cy="5863099"/>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2000"/>
              <a:buNone/>
            </a:pPr>
            <a:r>
              <a:rPr lang="en-US" sz="2000">
                <a:solidFill>
                  <a:srgbClr val="538CD5"/>
                </a:solidFill>
              </a:rPr>
              <a:t>-</a:t>
            </a:r>
            <a:endParaRPr sz="2000">
              <a:solidFill>
                <a:srgbClr val="538CD5"/>
              </a:solidFill>
            </a:endParaRPr>
          </a:p>
        </p:txBody>
      </p:sp>
      <p:sp>
        <p:nvSpPr>
          <p:cNvPr id="221" name="Google Shape;221;p31"/>
          <p:cNvSpPr txBox="1">
            <a:spLocks noGrp="1"/>
          </p:cNvSpPr>
          <p:nvPr>
            <p:ph type="sldNum" idx="12"/>
          </p:nvPr>
        </p:nvSpPr>
        <p:spPr>
          <a:xfrm>
            <a:off x="8534400" y="6400800"/>
            <a:ext cx="457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20</a:t>
            </a:fld>
            <a:endParaRPr/>
          </a:p>
        </p:txBody>
      </p:sp>
      <p:pic>
        <p:nvPicPr>
          <p:cNvPr id="222" name="Google Shape;222;p31"/>
          <p:cNvPicPr preferRelativeResize="0"/>
          <p:nvPr/>
        </p:nvPicPr>
        <p:blipFill rotWithShape="1">
          <a:blip r:embed="rId3">
            <a:alphaModFix/>
          </a:blip>
          <a:srcRect/>
          <a:stretch/>
        </p:blipFill>
        <p:spPr>
          <a:xfrm>
            <a:off x="332509" y="938241"/>
            <a:ext cx="8562109" cy="5628813"/>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26"/>
        <p:cNvGrpSpPr/>
        <p:nvPr/>
      </p:nvGrpSpPr>
      <p:grpSpPr>
        <a:xfrm>
          <a:off x="0" y="0"/>
          <a:ext cx="0" cy="0"/>
          <a:chOff x="0" y="0"/>
          <a:chExt cx="0" cy="0"/>
        </a:xfrm>
      </p:grpSpPr>
      <p:sp>
        <p:nvSpPr>
          <p:cNvPr id="227" name="Google Shape;227;p32"/>
          <p:cNvSpPr txBox="1">
            <a:spLocks noGrp="1"/>
          </p:cNvSpPr>
          <p:nvPr>
            <p:ph type="title"/>
          </p:nvPr>
        </p:nvSpPr>
        <p:spPr>
          <a:xfrm>
            <a:off x="0" y="0"/>
            <a:ext cx="9144000" cy="8382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4400"/>
              <a:buNone/>
            </a:pPr>
            <a:r>
              <a:rPr lang="en-US" sz="4000"/>
              <a:t>The Indian IT Act</a:t>
            </a:r>
            <a:endParaRPr sz="4000"/>
          </a:p>
        </p:txBody>
      </p:sp>
      <p:sp>
        <p:nvSpPr>
          <p:cNvPr id="228" name="Google Shape;228;p32"/>
          <p:cNvSpPr txBox="1">
            <a:spLocks noGrp="1"/>
          </p:cNvSpPr>
          <p:nvPr>
            <p:ph type="body" idx="1"/>
          </p:nvPr>
        </p:nvSpPr>
        <p:spPr>
          <a:xfrm>
            <a:off x="228600" y="902825"/>
            <a:ext cx="8763000" cy="5863099"/>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2000"/>
              <a:buNone/>
            </a:pPr>
            <a:r>
              <a:rPr lang="en-US" sz="2000">
                <a:solidFill>
                  <a:srgbClr val="538CD5"/>
                </a:solidFill>
              </a:rPr>
              <a:t>-</a:t>
            </a:r>
            <a:endParaRPr sz="2000">
              <a:solidFill>
                <a:srgbClr val="538CD5"/>
              </a:solidFill>
            </a:endParaRPr>
          </a:p>
        </p:txBody>
      </p:sp>
      <p:sp>
        <p:nvSpPr>
          <p:cNvPr id="229" name="Google Shape;229;p32"/>
          <p:cNvSpPr txBox="1">
            <a:spLocks noGrp="1"/>
          </p:cNvSpPr>
          <p:nvPr>
            <p:ph type="sldNum" idx="12"/>
          </p:nvPr>
        </p:nvSpPr>
        <p:spPr>
          <a:xfrm>
            <a:off x="8534400" y="6400800"/>
            <a:ext cx="457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21</a:t>
            </a:fld>
            <a:endParaRPr/>
          </a:p>
        </p:txBody>
      </p:sp>
      <p:pic>
        <p:nvPicPr>
          <p:cNvPr id="230" name="Google Shape;230;p32"/>
          <p:cNvPicPr preferRelativeResize="0"/>
          <p:nvPr/>
        </p:nvPicPr>
        <p:blipFill rotWithShape="1">
          <a:blip r:embed="rId3">
            <a:alphaModFix/>
          </a:blip>
          <a:srcRect/>
          <a:stretch/>
        </p:blipFill>
        <p:spPr>
          <a:xfrm>
            <a:off x="366864" y="997527"/>
            <a:ext cx="8671459" cy="5415148"/>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34"/>
        <p:cNvGrpSpPr/>
        <p:nvPr/>
      </p:nvGrpSpPr>
      <p:grpSpPr>
        <a:xfrm>
          <a:off x="0" y="0"/>
          <a:ext cx="0" cy="0"/>
          <a:chOff x="0" y="0"/>
          <a:chExt cx="0" cy="0"/>
        </a:xfrm>
      </p:grpSpPr>
      <p:sp>
        <p:nvSpPr>
          <p:cNvPr id="235" name="Google Shape;235;p33"/>
          <p:cNvSpPr txBox="1">
            <a:spLocks noGrp="1"/>
          </p:cNvSpPr>
          <p:nvPr>
            <p:ph type="title"/>
          </p:nvPr>
        </p:nvSpPr>
        <p:spPr>
          <a:xfrm>
            <a:off x="0" y="0"/>
            <a:ext cx="9144000" cy="8382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4400"/>
              <a:buNone/>
            </a:pPr>
            <a:r>
              <a:rPr lang="en-US" sz="4000"/>
              <a:t>The Indian IT Act</a:t>
            </a:r>
            <a:endParaRPr sz="4000"/>
          </a:p>
        </p:txBody>
      </p:sp>
      <p:sp>
        <p:nvSpPr>
          <p:cNvPr id="236" name="Google Shape;236;p33"/>
          <p:cNvSpPr txBox="1">
            <a:spLocks noGrp="1"/>
          </p:cNvSpPr>
          <p:nvPr>
            <p:ph type="body" idx="1"/>
          </p:nvPr>
        </p:nvSpPr>
        <p:spPr>
          <a:xfrm>
            <a:off x="228600" y="902825"/>
            <a:ext cx="8763000" cy="5863099"/>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2000"/>
              <a:buNone/>
            </a:pPr>
            <a:r>
              <a:rPr lang="en-US" sz="2000" b="1">
                <a:solidFill>
                  <a:srgbClr val="538CD5"/>
                </a:solidFill>
              </a:rPr>
              <a:t>Notable cases:</a:t>
            </a:r>
            <a:endParaRPr sz="2000" b="1">
              <a:solidFill>
                <a:srgbClr val="538CD5"/>
              </a:solidFill>
            </a:endParaRPr>
          </a:p>
          <a:p>
            <a:pPr marL="0" lvl="0" indent="0" algn="l" rtl="0">
              <a:lnSpc>
                <a:spcPct val="100000"/>
              </a:lnSpc>
              <a:spcBef>
                <a:spcPts val="0"/>
              </a:spcBef>
              <a:spcAft>
                <a:spcPts val="0"/>
              </a:spcAft>
              <a:buSzPts val="2000"/>
              <a:buNone/>
            </a:pPr>
            <a:endParaRPr sz="2000">
              <a:solidFill>
                <a:srgbClr val="538CD5"/>
              </a:solidFill>
            </a:endParaRPr>
          </a:p>
          <a:p>
            <a:pPr marL="0" lvl="0" indent="0" algn="l" rtl="0">
              <a:lnSpc>
                <a:spcPct val="100000"/>
              </a:lnSpc>
              <a:spcBef>
                <a:spcPts val="0"/>
              </a:spcBef>
              <a:spcAft>
                <a:spcPts val="0"/>
              </a:spcAft>
              <a:buSzPts val="2000"/>
              <a:buNone/>
            </a:pPr>
            <a:r>
              <a:rPr lang="en-US" sz="2000" b="1">
                <a:solidFill>
                  <a:srgbClr val="538CD5"/>
                </a:solidFill>
              </a:rPr>
              <a:t>1. Section 66:</a:t>
            </a:r>
            <a:endParaRPr/>
          </a:p>
          <a:p>
            <a:pPr marL="0" lvl="0" indent="0" algn="l" rtl="0">
              <a:lnSpc>
                <a:spcPct val="100000"/>
              </a:lnSpc>
              <a:spcBef>
                <a:spcPts val="0"/>
              </a:spcBef>
              <a:spcAft>
                <a:spcPts val="0"/>
              </a:spcAft>
              <a:buSzPts val="2000"/>
              <a:buNone/>
            </a:pPr>
            <a:endParaRPr sz="2000">
              <a:solidFill>
                <a:srgbClr val="538CD5"/>
              </a:solidFill>
            </a:endParaRPr>
          </a:p>
          <a:p>
            <a:pPr marL="0" lvl="0" indent="0" algn="l" rtl="0">
              <a:lnSpc>
                <a:spcPct val="100000"/>
              </a:lnSpc>
              <a:spcBef>
                <a:spcPts val="0"/>
              </a:spcBef>
              <a:spcAft>
                <a:spcPts val="0"/>
              </a:spcAft>
              <a:buSzPts val="2000"/>
              <a:buNone/>
            </a:pPr>
            <a:r>
              <a:rPr lang="en-US" sz="2000">
                <a:solidFill>
                  <a:srgbClr val="538CD5"/>
                </a:solidFill>
              </a:rPr>
              <a:t>In February 2001, in one of the first cases, the Delhi police arrested two men running a web-hosting company. The company had shut down a website over non-payment of dues. The owner of the site had claimed that he had already paid and complained to the police. The Delhi police had charged the men for hacking under Section 66 of the IT Act and breach of trust under Section 408 of the Indian Penal Code. The two men had to spend 6 days in Tihar jail waiting for bail.</a:t>
            </a:r>
            <a:endParaRPr/>
          </a:p>
          <a:p>
            <a:pPr marL="0" lvl="0" indent="0" algn="l" rtl="0">
              <a:lnSpc>
                <a:spcPct val="100000"/>
              </a:lnSpc>
              <a:spcBef>
                <a:spcPts val="0"/>
              </a:spcBef>
              <a:spcAft>
                <a:spcPts val="0"/>
              </a:spcAft>
              <a:buSzPts val="2000"/>
              <a:buNone/>
            </a:pPr>
            <a:endParaRPr sz="2000">
              <a:solidFill>
                <a:srgbClr val="538CD5"/>
              </a:solidFill>
            </a:endParaRPr>
          </a:p>
          <a:p>
            <a:pPr marL="0" lvl="0" indent="0" algn="l" rtl="0">
              <a:lnSpc>
                <a:spcPct val="100000"/>
              </a:lnSpc>
              <a:spcBef>
                <a:spcPts val="0"/>
              </a:spcBef>
              <a:spcAft>
                <a:spcPts val="0"/>
              </a:spcAft>
              <a:buSzPts val="2000"/>
              <a:buNone/>
            </a:pPr>
            <a:r>
              <a:rPr lang="en-US" sz="2000" b="1">
                <a:solidFill>
                  <a:srgbClr val="538CD5"/>
                </a:solidFill>
              </a:rPr>
              <a:t>2. Section 66A:</a:t>
            </a:r>
            <a:endParaRPr/>
          </a:p>
          <a:p>
            <a:pPr marL="0" lvl="0" indent="0" algn="l" rtl="0">
              <a:lnSpc>
                <a:spcPct val="100000"/>
              </a:lnSpc>
              <a:spcBef>
                <a:spcPts val="0"/>
              </a:spcBef>
              <a:spcAft>
                <a:spcPts val="0"/>
              </a:spcAft>
              <a:buSzPts val="2000"/>
              <a:buNone/>
            </a:pPr>
            <a:endParaRPr sz="2000">
              <a:solidFill>
                <a:srgbClr val="538CD5"/>
              </a:solidFill>
            </a:endParaRPr>
          </a:p>
          <a:p>
            <a:pPr marL="0" lvl="0" indent="0" algn="l" rtl="0">
              <a:lnSpc>
                <a:spcPct val="100000"/>
              </a:lnSpc>
              <a:spcBef>
                <a:spcPts val="0"/>
              </a:spcBef>
              <a:spcAft>
                <a:spcPts val="0"/>
              </a:spcAft>
              <a:buSzPts val="2000"/>
              <a:buNone/>
            </a:pPr>
            <a:r>
              <a:rPr lang="en-US" sz="2000">
                <a:solidFill>
                  <a:srgbClr val="538CD5"/>
                </a:solidFill>
              </a:rPr>
              <a:t>In September 2012, a freelance cartoonist Aseem Trivedi was arrested under the Section 66A of the IT Act, Section 2 of Prevention of Insults to National Honour Act, 1971 and for sedition under the Section 124 of the Indian Penal Code. His cartoons depicting widespread corruption in India were considered offensive.</a:t>
            </a:r>
            <a:endParaRPr/>
          </a:p>
          <a:p>
            <a:pPr marL="0" lvl="0" indent="0" algn="l" rtl="0">
              <a:lnSpc>
                <a:spcPct val="100000"/>
              </a:lnSpc>
              <a:spcBef>
                <a:spcPts val="0"/>
              </a:spcBef>
              <a:spcAft>
                <a:spcPts val="0"/>
              </a:spcAft>
              <a:buSzPts val="2000"/>
              <a:buNone/>
            </a:pPr>
            <a:endParaRPr sz="2000">
              <a:solidFill>
                <a:srgbClr val="538CD5"/>
              </a:solidFill>
            </a:endParaRPr>
          </a:p>
        </p:txBody>
      </p:sp>
      <p:sp>
        <p:nvSpPr>
          <p:cNvPr id="237" name="Google Shape;237;p33"/>
          <p:cNvSpPr txBox="1">
            <a:spLocks noGrp="1"/>
          </p:cNvSpPr>
          <p:nvPr>
            <p:ph type="sldNum" idx="12"/>
          </p:nvPr>
        </p:nvSpPr>
        <p:spPr>
          <a:xfrm>
            <a:off x="8534400" y="6400800"/>
            <a:ext cx="457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22</a:t>
            </a:fld>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41"/>
        <p:cNvGrpSpPr/>
        <p:nvPr/>
      </p:nvGrpSpPr>
      <p:grpSpPr>
        <a:xfrm>
          <a:off x="0" y="0"/>
          <a:ext cx="0" cy="0"/>
          <a:chOff x="0" y="0"/>
          <a:chExt cx="0" cy="0"/>
        </a:xfrm>
      </p:grpSpPr>
      <p:sp>
        <p:nvSpPr>
          <p:cNvPr id="242" name="Google Shape;242;p34"/>
          <p:cNvSpPr txBox="1">
            <a:spLocks noGrp="1"/>
          </p:cNvSpPr>
          <p:nvPr>
            <p:ph type="title"/>
          </p:nvPr>
        </p:nvSpPr>
        <p:spPr>
          <a:xfrm>
            <a:off x="0" y="0"/>
            <a:ext cx="9144000" cy="8382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4400"/>
              <a:buNone/>
            </a:pPr>
            <a:r>
              <a:rPr lang="en-US" sz="4000"/>
              <a:t>The Indian IT Act</a:t>
            </a:r>
            <a:endParaRPr sz="4000"/>
          </a:p>
        </p:txBody>
      </p:sp>
      <p:sp>
        <p:nvSpPr>
          <p:cNvPr id="243" name="Google Shape;243;p34"/>
          <p:cNvSpPr txBox="1">
            <a:spLocks noGrp="1"/>
          </p:cNvSpPr>
          <p:nvPr>
            <p:ph type="body" idx="1"/>
          </p:nvPr>
        </p:nvSpPr>
        <p:spPr>
          <a:xfrm>
            <a:off x="228600" y="902825"/>
            <a:ext cx="8763000" cy="5863099"/>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2000"/>
              <a:buNone/>
            </a:pPr>
            <a:r>
              <a:rPr lang="en-US" sz="2000">
                <a:solidFill>
                  <a:srgbClr val="538CD5"/>
                </a:solidFill>
              </a:rPr>
              <a:t>- On 12 April 2012, a Chemistry professor from Jadavpur University, Ambikesh Mahapatra, was arrested for sharing a cartoon of West Bengal Chief Minister Mamata Banerjee and then Railway Minister Mukul Roy. The email was sent from the email address of a housing society. Subrata Sengupta, the secretary of the housing society, was also arrested. They were charged under Section 66A and B of the IT Act, for defamation under Sections 500, for obscene gesture to a woman under Section 509, and abetting a crime under Section 114 of the Indian Penal Code.</a:t>
            </a:r>
            <a:endParaRPr/>
          </a:p>
          <a:p>
            <a:pPr marL="0" lvl="0" indent="0" algn="l" rtl="0">
              <a:lnSpc>
                <a:spcPct val="100000"/>
              </a:lnSpc>
              <a:spcBef>
                <a:spcPts val="0"/>
              </a:spcBef>
              <a:spcAft>
                <a:spcPts val="0"/>
              </a:spcAft>
              <a:buSzPts val="2000"/>
              <a:buNone/>
            </a:pPr>
            <a:endParaRPr sz="2000">
              <a:solidFill>
                <a:srgbClr val="538CD5"/>
              </a:solidFill>
            </a:endParaRPr>
          </a:p>
          <a:p>
            <a:pPr marL="0" lvl="0" indent="0" algn="l" rtl="0">
              <a:lnSpc>
                <a:spcPct val="100000"/>
              </a:lnSpc>
              <a:spcBef>
                <a:spcPts val="0"/>
              </a:spcBef>
              <a:spcAft>
                <a:spcPts val="0"/>
              </a:spcAft>
              <a:buSzPts val="2000"/>
              <a:buNone/>
            </a:pPr>
            <a:r>
              <a:rPr lang="en-US" sz="2000">
                <a:solidFill>
                  <a:srgbClr val="538CD5"/>
                </a:solidFill>
              </a:rPr>
              <a:t>- On 30 October 2012, a Puducherry businessman Ravi Srinivasan was arrested under Section 66A. He had sent tweet accusing Karti Chidambaram, son of then Finance Minister P. Chidambaram, of corruption. Karti Chidambaram had complained to the police.</a:t>
            </a:r>
            <a:endParaRPr/>
          </a:p>
          <a:p>
            <a:pPr marL="0" lvl="0" indent="0" algn="l" rtl="0">
              <a:lnSpc>
                <a:spcPct val="100000"/>
              </a:lnSpc>
              <a:spcBef>
                <a:spcPts val="0"/>
              </a:spcBef>
              <a:spcAft>
                <a:spcPts val="0"/>
              </a:spcAft>
              <a:buSzPts val="2000"/>
              <a:buNone/>
            </a:pPr>
            <a:endParaRPr sz="2000">
              <a:solidFill>
                <a:srgbClr val="538CD5"/>
              </a:solidFill>
            </a:endParaRPr>
          </a:p>
          <a:p>
            <a:pPr marL="0" lvl="0" indent="0" algn="l" rtl="0">
              <a:lnSpc>
                <a:spcPct val="100000"/>
              </a:lnSpc>
              <a:spcBef>
                <a:spcPts val="0"/>
              </a:spcBef>
              <a:spcAft>
                <a:spcPts val="0"/>
              </a:spcAft>
              <a:buSzPts val="2000"/>
              <a:buNone/>
            </a:pPr>
            <a:r>
              <a:rPr lang="en-US" sz="2000">
                <a:solidFill>
                  <a:srgbClr val="538CD5"/>
                </a:solidFill>
              </a:rPr>
              <a:t>- On 19 November 2012, a 21-year-old girl was arrested from Palghar for posting a message on Facebook criticizing the shutdown in Mumbai for the funeral of Bal Thackeray. Another 20-year-old girl was arrested for "liking" the post. They were initially charged under Section 295A of the Indian Penal Code (hurting religious sentiments) and Section 66A of the IT Act.</a:t>
            </a:r>
            <a:endParaRPr/>
          </a:p>
        </p:txBody>
      </p:sp>
      <p:sp>
        <p:nvSpPr>
          <p:cNvPr id="244" name="Google Shape;244;p34"/>
          <p:cNvSpPr txBox="1">
            <a:spLocks noGrp="1"/>
          </p:cNvSpPr>
          <p:nvPr>
            <p:ph type="sldNum" idx="12"/>
          </p:nvPr>
        </p:nvSpPr>
        <p:spPr>
          <a:xfrm>
            <a:off x="8534400" y="6400800"/>
            <a:ext cx="457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23</a:t>
            </a:fld>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48"/>
        <p:cNvGrpSpPr/>
        <p:nvPr/>
      </p:nvGrpSpPr>
      <p:grpSpPr>
        <a:xfrm>
          <a:off x="0" y="0"/>
          <a:ext cx="0" cy="0"/>
          <a:chOff x="0" y="0"/>
          <a:chExt cx="0" cy="0"/>
        </a:xfrm>
      </p:grpSpPr>
      <p:sp>
        <p:nvSpPr>
          <p:cNvPr id="249" name="Google Shape;249;p35"/>
          <p:cNvSpPr txBox="1">
            <a:spLocks noGrp="1"/>
          </p:cNvSpPr>
          <p:nvPr>
            <p:ph type="title"/>
          </p:nvPr>
        </p:nvSpPr>
        <p:spPr>
          <a:xfrm>
            <a:off x="0" y="0"/>
            <a:ext cx="9144000" cy="8382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4400"/>
              <a:buNone/>
            </a:pPr>
            <a:r>
              <a:rPr lang="en-US" sz="4000"/>
              <a:t>The Indian IT Act</a:t>
            </a:r>
            <a:endParaRPr sz="4000"/>
          </a:p>
        </p:txBody>
      </p:sp>
      <p:sp>
        <p:nvSpPr>
          <p:cNvPr id="250" name="Google Shape;250;p35"/>
          <p:cNvSpPr txBox="1">
            <a:spLocks noGrp="1"/>
          </p:cNvSpPr>
          <p:nvPr>
            <p:ph type="body" idx="1"/>
          </p:nvPr>
        </p:nvSpPr>
        <p:spPr>
          <a:xfrm>
            <a:off x="228600" y="902825"/>
            <a:ext cx="8763000" cy="5863099"/>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2000"/>
              <a:buNone/>
            </a:pPr>
            <a:r>
              <a:rPr lang="en-US" sz="2000">
                <a:solidFill>
                  <a:srgbClr val="538CD5"/>
                </a:solidFill>
              </a:rPr>
              <a:t>On 18 March 2015, a teenaged boy was arrested from Bareilly, Uttar Pradesh, for making a post on Facebook insulting politician Azam Khan. The post allegedly contained hate speech against a community and was falsely attributed to Azam Khan by the boy. He was charged under Section 66A of the IT Act, and Sections 153A (promoting enmity between different religions), 504 (intentional insult with intent to provoke breach of peace) and 505 (public mischief) of Indian Penal Code.</a:t>
            </a:r>
            <a:endParaRPr/>
          </a:p>
          <a:p>
            <a:pPr marL="0" lvl="0" indent="0" algn="l" rtl="0">
              <a:lnSpc>
                <a:spcPct val="100000"/>
              </a:lnSpc>
              <a:spcBef>
                <a:spcPts val="0"/>
              </a:spcBef>
              <a:spcAft>
                <a:spcPts val="0"/>
              </a:spcAft>
              <a:buSzPts val="2000"/>
              <a:buNone/>
            </a:pPr>
            <a:endParaRPr sz="2000">
              <a:solidFill>
                <a:srgbClr val="538CD5"/>
              </a:solidFill>
            </a:endParaRPr>
          </a:p>
          <a:p>
            <a:pPr marL="0" lvl="0" indent="0" algn="l" rtl="0">
              <a:lnSpc>
                <a:spcPct val="100000"/>
              </a:lnSpc>
              <a:spcBef>
                <a:spcPts val="0"/>
              </a:spcBef>
              <a:spcAft>
                <a:spcPts val="0"/>
              </a:spcAft>
              <a:buSzPts val="2000"/>
              <a:buNone/>
            </a:pPr>
            <a:r>
              <a:rPr lang="en-US" sz="2000" b="1">
                <a:solidFill>
                  <a:srgbClr val="538CD5"/>
                </a:solidFill>
              </a:rPr>
              <a:t>3. Section 69A:</a:t>
            </a:r>
            <a:endParaRPr/>
          </a:p>
          <a:p>
            <a:pPr marL="0" lvl="0" indent="0" algn="l" rtl="0">
              <a:lnSpc>
                <a:spcPct val="100000"/>
              </a:lnSpc>
              <a:spcBef>
                <a:spcPts val="0"/>
              </a:spcBef>
              <a:spcAft>
                <a:spcPts val="0"/>
              </a:spcAft>
              <a:buSzPts val="2000"/>
              <a:buNone/>
            </a:pPr>
            <a:endParaRPr sz="2000">
              <a:solidFill>
                <a:srgbClr val="538CD5"/>
              </a:solidFill>
            </a:endParaRPr>
          </a:p>
          <a:p>
            <a:pPr marL="0" lvl="0" indent="0" algn="l" rtl="0">
              <a:lnSpc>
                <a:spcPct val="100000"/>
              </a:lnSpc>
              <a:spcBef>
                <a:spcPts val="0"/>
              </a:spcBef>
              <a:spcAft>
                <a:spcPts val="0"/>
              </a:spcAft>
              <a:buSzPts val="2000"/>
              <a:buNone/>
            </a:pPr>
            <a:r>
              <a:rPr lang="en-US" sz="2000">
                <a:solidFill>
                  <a:srgbClr val="538CD5"/>
                </a:solidFill>
              </a:rPr>
              <a:t>On 29 June 2020, the Indian Government banned 59 Chinese mobile apps, most notably TikTok, supported by Section 69A and citing national security interests.</a:t>
            </a:r>
            <a:endParaRPr/>
          </a:p>
          <a:p>
            <a:pPr marL="0" lvl="0" indent="0" algn="l" rtl="0">
              <a:lnSpc>
                <a:spcPct val="100000"/>
              </a:lnSpc>
              <a:spcBef>
                <a:spcPts val="0"/>
              </a:spcBef>
              <a:spcAft>
                <a:spcPts val="0"/>
              </a:spcAft>
              <a:buSzPts val="2000"/>
              <a:buNone/>
            </a:pPr>
            <a:endParaRPr sz="2000">
              <a:solidFill>
                <a:srgbClr val="538CD5"/>
              </a:solidFill>
            </a:endParaRPr>
          </a:p>
          <a:p>
            <a:pPr marL="0" lvl="0" indent="0" algn="l" rtl="0">
              <a:lnSpc>
                <a:spcPct val="100000"/>
              </a:lnSpc>
              <a:spcBef>
                <a:spcPts val="0"/>
              </a:spcBef>
              <a:spcAft>
                <a:spcPts val="0"/>
              </a:spcAft>
              <a:buSzPts val="2000"/>
              <a:buNone/>
            </a:pPr>
            <a:r>
              <a:rPr lang="en-US" sz="2000">
                <a:solidFill>
                  <a:srgbClr val="538CD5"/>
                </a:solidFill>
              </a:rPr>
              <a:t>On 24 November 2020, another 43 Chinese mobile apps were banned supported by the same reasoning, most notably AliExpress.</a:t>
            </a:r>
            <a:endParaRPr/>
          </a:p>
        </p:txBody>
      </p:sp>
      <p:sp>
        <p:nvSpPr>
          <p:cNvPr id="251" name="Google Shape;251;p35"/>
          <p:cNvSpPr txBox="1">
            <a:spLocks noGrp="1"/>
          </p:cNvSpPr>
          <p:nvPr>
            <p:ph type="sldNum" idx="12"/>
          </p:nvPr>
        </p:nvSpPr>
        <p:spPr>
          <a:xfrm>
            <a:off x="8534400" y="6400800"/>
            <a:ext cx="457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24</a:t>
            </a:fld>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55"/>
        <p:cNvGrpSpPr/>
        <p:nvPr/>
      </p:nvGrpSpPr>
      <p:grpSpPr>
        <a:xfrm>
          <a:off x="0" y="0"/>
          <a:ext cx="0" cy="0"/>
          <a:chOff x="0" y="0"/>
          <a:chExt cx="0" cy="0"/>
        </a:xfrm>
      </p:grpSpPr>
      <p:sp>
        <p:nvSpPr>
          <p:cNvPr id="256" name="Google Shape;256;p36"/>
          <p:cNvSpPr txBox="1">
            <a:spLocks noGrp="1"/>
          </p:cNvSpPr>
          <p:nvPr>
            <p:ph type="title"/>
          </p:nvPr>
        </p:nvSpPr>
        <p:spPr>
          <a:xfrm>
            <a:off x="0" y="0"/>
            <a:ext cx="9144000" cy="8382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4400"/>
              <a:buNone/>
            </a:pPr>
            <a:r>
              <a:rPr lang="en-US" sz="4000"/>
              <a:t>Amendments to the Indian IT Act</a:t>
            </a:r>
            <a:endParaRPr sz="4000"/>
          </a:p>
        </p:txBody>
      </p:sp>
      <p:sp>
        <p:nvSpPr>
          <p:cNvPr id="257" name="Google Shape;257;p36"/>
          <p:cNvSpPr txBox="1">
            <a:spLocks noGrp="1"/>
          </p:cNvSpPr>
          <p:nvPr>
            <p:ph type="body" idx="1"/>
          </p:nvPr>
        </p:nvSpPr>
        <p:spPr>
          <a:xfrm>
            <a:off x="228600" y="902825"/>
            <a:ext cx="8763000" cy="5863099"/>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2000"/>
              <a:buNone/>
            </a:pPr>
            <a:r>
              <a:rPr lang="en-US" sz="2000" b="1" dirty="0">
                <a:solidFill>
                  <a:srgbClr val="538CD5"/>
                </a:solidFill>
              </a:rPr>
              <a:t>Amendments:</a:t>
            </a:r>
            <a:endParaRPr dirty="0"/>
          </a:p>
          <a:p>
            <a:pPr marL="0" lvl="0" indent="0" algn="l" rtl="0">
              <a:lnSpc>
                <a:spcPct val="100000"/>
              </a:lnSpc>
              <a:spcBef>
                <a:spcPts val="0"/>
              </a:spcBef>
              <a:spcAft>
                <a:spcPts val="0"/>
              </a:spcAft>
              <a:buSzPts val="2000"/>
              <a:buNone/>
            </a:pPr>
            <a:endParaRPr sz="2000" dirty="0">
              <a:solidFill>
                <a:srgbClr val="538CD5"/>
              </a:solidFill>
            </a:endParaRPr>
          </a:p>
          <a:p>
            <a:pPr marL="0" lvl="0" indent="0" algn="l" rtl="0">
              <a:lnSpc>
                <a:spcPct val="100000"/>
              </a:lnSpc>
              <a:spcBef>
                <a:spcPts val="0"/>
              </a:spcBef>
              <a:spcAft>
                <a:spcPts val="0"/>
              </a:spcAft>
              <a:buSzPts val="2000"/>
              <a:buNone/>
            </a:pPr>
            <a:r>
              <a:rPr lang="en-US" sz="2000" dirty="0">
                <a:solidFill>
                  <a:srgbClr val="538CD5"/>
                </a:solidFill>
              </a:rPr>
              <a:t>- A major amendment was made in 2008. The Amendment was created to address issues that the original bill failed to cover and to accommodate further development of IT and related security concerns since the original law was passed.</a:t>
            </a:r>
            <a:endParaRPr sz="2000" dirty="0">
              <a:solidFill>
                <a:srgbClr val="538CD5"/>
              </a:solidFill>
            </a:endParaRPr>
          </a:p>
          <a:p>
            <a:pPr marL="0" lvl="0" indent="0" algn="l" rtl="0">
              <a:lnSpc>
                <a:spcPct val="100000"/>
              </a:lnSpc>
              <a:spcBef>
                <a:spcPts val="0"/>
              </a:spcBef>
              <a:spcAft>
                <a:spcPts val="0"/>
              </a:spcAft>
              <a:buSzPts val="2000"/>
              <a:buNone/>
            </a:pPr>
            <a:endParaRPr sz="2000" dirty="0">
              <a:solidFill>
                <a:srgbClr val="538CD5"/>
              </a:solidFill>
            </a:endParaRPr>
          </a:p>
          <a:p>
            <a:pPr marL="0" lvl="0" indent="0" algn="l" rtl="0">
              <a:lnSpc>
                <a:spcPct val="100000"/>
              </a:lnSpc>
              <a:spcBef>
                <a:spcPts val="0"/>
              </a:spcBef>
              <a:spcAft>
                <a:spcPts val="0"/>
              </a:spcAft>
              <a:buSzPts val="2000"/>
              <a:buNone/>
            </a:pPr>
            <a:r>
              <a:rPr lang="en-US" sz="2000" dirty="0">
                <a:solidFill>
                  <a:srgbClr val="538CD5"/>
                </a:solidFill>
              </a:rPr>
              <a:t>It introduced Section 66A which penalized sending "offensive messages". It also introduced Section 69, which gave authorities the power of "interception or monitoring or decryption of any information through any computer resource". Additionally, it introduced provisions addressing - pornography, child porn, cyber terrorism and voyeurism. </a:t>
            </a:r>
            <a:endParaRPr sz="2000" dirty="0">
              <a:solidFill>
                <a:srgbClr val="538CD5"/>
              </a:solidFill>
            </a:endParaRPr>
          </a:p>
          <a:p>
            <a:pPr marL="0" lvl="0" indent="0" algn="l" rtl="0">
              <a:lnSpc>
                <a:spcPct val="100000"/>
              </a:lnSpc>
              <a:spcBef>
                <a:spcPts val="0"/>
              </a:spcBef>
              <a:spcAft>
                <a:spcPts val="0"/>
              </a:spcAft>
              <a:buSzPts val="2000"/>
              <a:buNone/>
            </a:pPr>
            <a:endParaRPr sz="2000" dirty="0">
              <a:solidFill>
                <a:srgbClr val="538CD5"/>
              </a:solidFill>
            </a:endParaRPr>
          </a:p>
          <a:p>
            <a:pPr marL="0" lvl="0" indent="0" algn="l" rtl="0">
              <a:lnSpc>
                <a:spcPct val="100000"/>
              </a:lnSpc>
              <a:spcBef>
                <a:spcPts val="0"/>
              </a:spcBef>
              <a:spcAft>
                <a:spcPts val="0"/>
              </a:spcAft>
              <a:buSzPts val="2000"/>
              <a:buNone/>
            </a:pPr>
            <a:r>
              <a:rPr lang="en-US" sz="2000" dirty="0">
                <a:solidFill>
                  <a:srgbClr val="538CD5"/>
                </a:solidFill>
              </a:rPr>
              <a:t>- The amendment was passed on 22 December 2008 without any debate in Lok Sabha. The next day it was passed by the Rajya Sabha. It was signed into law by President Pratibha Patil, on 5 February 2009. </a:t>
            </a:r>
            <a:endParaRPr dirty="0"/>
          </a:p>
        </p:txBody>
      </p:sp>
      <p:sp>
        <p:nvSpPr>
          <p:cNvPr id="258" name="Google Shape;258;p36"/>
          <p:cNvSpPr txBox="1">
            <a:spLocks noGrp="1"/>
          </p:cNvSpPr>
          <p:nvPr>
            <p:ph type="sldNum" idx="12"/>
          </p:nvPr>
        </p:nvSpPr>
        <p:spPr>
          <a:xfrm>
            <a:off x="8534400" y="6400800"/>
            <a:ext cx="457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25</a:t>
            </a:fld>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62"/>
        <p:cNvGrpSpPr/>
        <p:nvPr/>
      </p:nvGrpSpPr>
      <p:grpSpPr>
        <a:xfrm>
          <a:off x="0" y="0"/>
          <a:ext cx="0" cy="0"/>
          <a:chOff x="0" y="0"/>
          <a:chExt cx="0" cy="0"/>
        </a:xfrm>
      </p:grpSpPr>
      <p:sp>
        <p:nvSpPr>
          <p:cNvPr id="263" name="Google Shape;263;p37"/>
          <p:cNvSpPr txBox="1">
            <a:spLocks noGrp="1"/>
          </p:cNvSpPr>
          <p:nvPr>
            <p:ph type="title"/>
          </p:nvPr>
        </p:nvSpPr>
        <p:spPr>
          <a:xfrm>
            <a:off x="0" y="0"/>
            <a:ext cx="9144000" cy="8382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4400"/>
              <a:buNone/>
            </a:pPr>
            <a:r>
              <a:rPr lang="en-US" sz="2800"/>
              <a:t>Challenges to Indian Law and Cybercrime Scenario in India</a:t>
            </a:r>
            <a:endParaRPr sz="2800"/>
          </a:p>
        </p:txBody>
      </p:sp>
      <p:sp>
        <p:nvSpPr>
          <p:cNvPr id="264" name="Google Shape;264;p37"/>
          <p:cNvSpPr txBox="1">
            <a:spLocks noGrp="1"/>
          </p:cNvSpPr>
          <p:nvPr>
            <p:ph type="body" idx="1"/>
          </p:nvPr>
        </p:nvSpPr>
        <p:spPr>
          <a:xfrm>
            <a:off x="228600" y="902825"/>
            <a:ext cx="8763000" cy="5863099"/>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2000"/>
              <a:buNone/>
            </a:pPr>
            <a:r>
              <a:rPr lang="en-US" sz="2000">
                <a:solidFill>
                  <a:srgbClr val="538CD5"/>
                </a:solidFill>
              </a:rPr>
              <a:t>Some of the Cybersecurity challenges in India are as follows:</a:t>
            </a:r>
            <a:endParaRPr/>
          </a:p>
          <a:p>
            <a:pPr marL="0" lvl="0" indent="0" algn="l" rtl="0">
              <a:lnSpc>
                <a:spcPct val="100000"/>
              </a:lnSpc>
              <a:spcBef>
                <a:spcPts val="0"/>
              </a:spcBef>
              <a:spcAft>
                <a:spcPts val="0"/>
              </a:spcAft>
              <a:buSzPts val="2000"/>
              <a:buNone/>
            </a:pPr>
            <a:endParaRPr sz="2000">
              <a:solidFill>
                <a:srgbClr val="538CD5"/>
              </a:solidFill>
            </a:endParaRPr>
          </a:p>
          <a:p>
            <a:pPr marL="0" lvl="0" indent="0" algn="l" rtl="0">
              <a:lnSpc>
                <a:spcPct val="100000"/>
              </a:lnSpc>
              <a:spcBef>
                <a:spcPts val="0"/>
              </a:spcBef>
              <a:spcAft>
                <a:spcPts val="0"/>
              </a:spcAft>
              <a:buSzPts val="2000"/>
              <a:buNone/>
            </a:pPr>
            <a:r>
              <a:rPr lang="en-US" sz="2000" b="1">
                <a:solidFill>
                  <a:srgbClr val="538CD5"/>
                </a:solidFill>
              </a:rPr>
              <a:t>1. Lack of uniformity in devices used for internet access:</a:t>
            </a:r>
            <a:endParaRPr/>
          </a:p>
          <a:p>
            <a:pPr marL="0" lvl="0" indent="0" algn="l" rtl="0">
              <a:lnSpc>
                <a:spcPct val="100000"/>
              </a:lnSpc>
              <a:spcBef>
                <a:spcPts val="0"/>
              </a:spcBef>
              <a:spcAft>
                <a:spcPts val="0"/>
              </a:spcAft>
              <a:buSzPts val="2000"/>
              <a:buNone/>
            </a:pPr>
            <a:endParaRPr sz="2000">
              <a:solidFill>
                <a:srgbClr val="538CD5"/>
              </a:solidFill>
            </a:endParaRPr>
          </a:p>
          <a:p>
            <a:pPr marL="0" lvl="0" indent="0" algn="l" rtl="0">
              <a:lnSpc>
                <a:spcPct val="100000"/>
              </a:lnSpc>
              <a:spcBef>
                <a:spcPts val="0"/>
              </a:spcBef>
              <a:spcAft>
                <a:spcPts val="0"/>
              </a:spcAft>
              <a:buSzPts val="2000"/>
              <a:buNone/>
            </a:pPr>
            <a:r>
              <a:rPr lang="en-US" sz="2000">
                <a:solidFill>
                  <a:srgbClr val="538CD5"/>
                </a:solidFill>
              </a:rPr>
              <a:t>With varying income groups in India, not everyone can afford expensive phones. In the US, Apple has over 44% market share. However, in India the iPhones with their higher security norms are used by less than 1% of mobile users. </a:t>
            </a:r>
            <a:endParaRPr sz="2000">
              <a:solidFill>
                <a:srgbClr val="538CD5"/>
              </a:solidFill>
            </a:endParaRPr>
          </a:p>
          <a:p>
            <a:pPr marL="0" lvl="0" indent="0" algn="l" rtl="0">
              <a:lnSpc>
                <a:spcPct val="100000"/>
              </a:lnSpc>
              <a:spcBef>
                <a:spcPts val="0"/>
              </a:spcBef>
              <a:spcAft>
                <a:spcPts val="0"/>
              </a:spcAft>
              <a:buSzPts val="2000"/>
              <a:buNone/>
            </a:pPr>
            <a:endParaRPr sz="2000">
              <a:solidFill>
                <a:srgbClr val="538CD5"/>
              </a:solidFill>
            </a:endParaRPr>
          </a:p>
          <a:p>
            <a:pPr marL="0" lvl="0" indent="0" algn="l" rtl="0">
              <a:lnSpc>
                <a:spcPct val="100000"/>
              </a:lnSpc>
              <a:spcBef>
                <a:spcPts val="0"/>
              </a:spcBef>
              <a:spcAft>
                <a:spcPts val="0"/>
              </a:spcAft>
              <a:buSzPts val="2000"/>
              <a:buNone/>
            </a:pPr>
            <a:r>
              <a:rPr lang="en-US" sz="2000">
                <a:solidFill>
                  <a:srgbClr val="538CD5"/>
                </a:solidFill>
              </a:rPr>
              <a:t>The widening gap between the security offered by the high-end iPhone and lower cost mobiles make it almost impossible for legal and technical standards to be set for data protection by the regulators.</a:t>
            </a:r>
            <a:endParaRPr/>
          </a:p>
          <a:p>
            <a:pPr marL="0" lvl="0" indent="0" algn="l" rtl="0">
              <a:lnSpc>
                <a:spcPct val="100000"/>
              </a:lnSpc>
              <a:spcBef>
                <a:spcPts val="0"/>
              </a:spcBef>
              <a:spcAft>
                <a:spcPts val="0"/>
              </a:spcAft>
              <a:buSzPts val="2000"/>
              <a:buNone/>
            </a:pPr>
            <a:endParaRPr sz="2000">
              <a:solidFill>
                <a:srgbClr val="538CD5"/>
              </a:solidFill>
            </a:endParaRPr>
          </a:p>
          <a:p>
            <a:pPr marL="0" lvl="0" indent="0" algn="l" rtl="0">
              <a:lnSpc>
                <a:spcPct val="100000"/>
              </a:lnSpc>
              <a:spcBef>
                <a:spcPts val="0"/>
              </a:spcBef>
              <a:spcAft>
                <a:spcPts val="0"/>
              </a:spcAft>
              <a:buSzPts val="2000"/>
              <a:buNone/>
            </a:pPr>
            <a:r>
              <a:rPr lang="en-US" sz="2000" b="1">
                <a:solidFill>
                  <a:srgbClr val="538CD5"/>
                </a:solidFill>
              </a:rPr>
              <a:t>2. Lack of national level architecture for Cybersecurity:</a:t>
            </a:r>
            <a:endParaRPr/>
          </a:p>
          <a:p>
            <a:pPr marL="0" lvl="0" indent="0" algn="l" rtl="0">
              <a:lnSpc>
                <a:spcPct val="100000"/>
              </a:lnSpc>
              <a:spcBef>
                <a:spcPts val="0"/>
              </a:spcBef>
              <a:spcAft>
                <a:spcPts val="0"/>
              </a:spcAft>
              <a:buSzPts val="2000"/>
              <a:buNone/>
            </a:pPr>
            <a:endParaRPr sz="2000">
              <a:solidFill>
                <a:srgbClr val="538CD5"/>
              </a:solidFill>
            </a:endParaRPr>
          </a:p>
          <a:p>
            <a:pPr marL="0" lvl="0" indent="0" algn="l" rtl="0">
              <a:lnSpc>
                <a:spcPct val="100000"/>
              </a:lnSpc>
              <a:spcBef>
                <a:spcPts val="0"/>
              </a:spcBef>
              <a:spcAft>
                <a:spcPts val="0"/>
              </a:spcAft>
              <a:buSzPts val="2000"/>
              <a:buNone/>
            </a:pPr>
            <a:r>
              <a:rPr lang="en-US" sz="2000">
                <a:solidFill>
                  <a:srgbClr val="538CD5"/>
                </a:solidFill>
              </a:rPr>
              <a:t>Critical infrastructure is owned by private sector, and the armed forces have their own firefighting agencies. However there is no national security architecture that unifies the efforts of all these agencies to be able to assess the nature of any threat and tackle them effectively. </a:t>
            </a:r>
            <a:endParaRPr/>
          </a:p>
        </p:txBody>
      </p:sp>
      <p:sp>
        <p:nvSpPr>
          <p:cNvPr id="265" name="Google Shape;265;p37"/>
          <p:cNvSpPr txBox="1">
            <a:spLocks noGrp="1"/>
          </p:cNvSpPr>
          <p:nvPr>
            <p:ph type="sldNum" idx="12"/>
          </p:nvPr>
        </p:nvSpPr>
        <p:spPr>
          <a:xfrm>
            <a:off x="8534400" y="6400800"/>
            <a:ext cx="457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26</a:t>
            </a:fld>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69"/>
        <p:cNvGrpSpPr/>
        <p:nvPr/>
      </p:nvGrpSpPr>
      <p:grpSpPr>
        <a:xfrm>
          <a:off x="0" y="0"/>
          <a:ext cx="0" cy="0"/>
          <a:chOff x="0" y="0"/>
          <a:chExt cx="0" cy="0"/>
        </a:xfrm>
      </p:grpSpPr>
      <p:sp>
        <p:nvSpPr>
          <p:cNvPr id="270" name="Google Shape;270;p38"/>
          <p:cNvSpPr txBox="1">
            <a:spLocks noGrp="1"/>
          </p:cNvSpPr>
          <p:nvPr>
            <p:ph type="title"/>
          </p:nvPr>
        </p:nvSpPr>
        <p:spPr>
          <a:xfrm>
            <a:off x="0" y="0"/>
            <a:ext cx="9144000" cy="8382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4400"/>
              <a:buNone/>
            </a:pPr>
            <a:r>
              <a:rPr lang="en-US" sz="2800"/>
              <a:t>Challenges to Indian Law and Cybercrime Scenario in India</a:t>
            </a:r>
            <a:endParaRPr sz="2800"/>
          </a:p>
        </p:txBody>
      </p:sp>
      <p:sp>
        <p:nvSpPr>
          <p:cNvPr id="271" name="Google Shape;271;p38"/>
          <p:cNvSpPr txBox="1">
            <a:spLocks noGrp="1"/>
          </p:cNvSpPr>
          <p:nvPr>
            <p:ph type="body" idx="1"/>
          </p:nvPr>
        </p:nvSpPr>
        <p:spPr>
          <a:xfrm>
            <a:off x="228600" y="902825"/>
            <a:ext cx="8763000" cy="5863099"/>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2000"/>
              <a:buNone/>
            </a:pPr>
            <a:r>
              <a:rPr lang="en-US" sz="2000">
                <a:solidFill>
                  <a:srgbClr val="538CD5"/>
                </a:solidFill>
              </a:rPr>
              <a:t>The Prime Minister’s Office has created a position towards this cause but there is a long way to go before India has the necessary structure in place.</a:t>
            </a:r>
            <a:endParaRPr/>
          </a:p>
          <a:p>
            <a:pPr marL="0" lvl="0" indent="0" algn="l" rtl="0">
              <a:lnSpc>
                <a:spcPct val="100000"/>
              </a:lnSpc>
              <a:spcBef>
                <a:spcPts val="0"/>
              </a:spcBef>
              <a:spcAft>
                <a:spcPts val="0"/>
              </a:spcAft>
              <a:buSzPts val="2000"/>
              <a:buNone/>
            </a:pPr>
            <a:endParaRPr sz="2000">
              <a:solidFill>
                <a:srgbClr val="538CD5"/>
              </a:solidFill>
            </a:endParaRPr>
          </a:p>
          <a:p>
            <a:pPr marL="0" lvl="0" indent="0" algn="l" rtl="0">
              <a:lnSpc>
                <a:spcPct val="100000"/>
              </a:lnSpc>
              <a:spcBef>
                <a:spcPts val="0"/>
              </a:spcBef>
              <a:spcAft>
                <a:spcPts val="0"/>
              </a:spcAft>
              <a:buSzPts val="2000"/>
              <a:buNone/>
            </a:pPr>
            <a:r>
              <a:rPr lang="en-US" sz="2000" b="1">
                <a:solidFill>
                  <a:srgbClr val="538CD5"/>
                </a:solidFill>
              </a:rPr>
              <a:t>3. Lack of separation:</a:t>
            </a:r>
            <a:endParaRPr/>
          </a:p>
          <a:p>
            <a:pPr marL="0" lvl="0" indent="0" algn="l" rtl="0">
              <a:lnSpc>
                <a:spcPct val="100000"/>
              </a:lnSpc>
              <a:spcBef>
                <a:spcPts val="0"/>
              </a:spcBef>
              <a:spcAft>
                <a:spcPts val="0"/>
              </a:spcAft>
              <a:buSzPts val="2000"/>
              <a:buNone/>
            </a:pPr>
            <a:endParaRPr sz="2000">
              <a:solidFill>
                <a:srgbClr val="538CD5"/>
              </a:solidFill>
            </a:endParaRPr>
          </a:p>
          <a:p>
            <a:pPr marL="0" lvl="0" indent="0" algn="l" rtl="0">
              <a:lnSpc>
                <a:spcPct val="100000"/>
              </a:lnSpc>
              <a:spcBef>
                <a:spcPts val="0"/>
              </a:spcBef>
              <a:spcAft>
                <a:spcPts val="0"/>
              </a:spcAft>
              <a:buSzPts val="2000"/>
              <a:buNone/>
            </a:pPr>
            <a:r>
              <a:rPr lang="en-US" sz="2000">
                <a:solidFill>
                  <a:srgbClr val="538CD5"/>
                </a:solidFill>
              </a:rPr>
              <a:t>Unlike countries or states, in cyberspace there are no boundaries, thus making the armed forces, digital assets of ONGC, banking functions, etc. vulnerable to cyber-attacks from anywhere. This could result in security breaches at a national level, causing loss of money, property or lives. To respond to possible threats on the country’s most precious resources, there is a need for a technically equipped multi-agency organization that can base its decisions on policy inputs and a sound strategy.</a:t>
            </a:r>
            <a:endParaRPr/>
          </a:p>
          <a:p>
            <a:pPr marL="0" lvl="0" indent="0" algn="l" rtl="0">
              <a:lnSpc>
                <a:spcPct val="100000"/>
              </a:lnSpc>
              <a:spcBef>
                <a:spcPts val="0"/>
              </a:spcBef>
              <a:spcAft>
                <a:spcPts val="0"/>
              </a:spcAft>
              <a:buSzPts val="2000"/>
              <a:buNone/>
            </a:pPr>
            <a:endParaRPr sz="2000">
              <a:solidFill>
                <a:srgbClr val="538CD5"/>
              </a:solidFill>
            </a:endParaRPr>
          </a:p>
          <a:p>
            <a:pPr marL="0" lvl="0" indent="0" algn="l" rtl="0">
              <a:lnSpc>
                <a:spcPct val="100000"/>
              </a:lnSpc>
              <a:spcBef>
                <a:spcPts val="0"/>
              </a:spcBef>
              <a:spcAft>
                <a:spcPts val="0"/>
              </a:spcAft>
              <a:buSzPts val="2000"/>
              <a:buNone/>
            </a:pPr>
            <a:r>
              <a:rPr lang="en-US" sz="2000" b="1">
                <a:solidFill>
                  <a:srgbClr val="538CD5"/>
                </a:solidFill>
              </a:rPr>
              <a:t>4. Lack of awareness:</a:t>
            </a:r>
            <a:endParaRPr/>
          </a:p>
          <a:p>
            <a:pPr marL="0" lvl="0" indent="0" algn="l" rtl="0">
              <a:lnSpc>
                <a:spcPct val="100000"/>
              </a:lnSpc>
              <a:spcBef>
                <a:spcPts val="0"/>
              </a:spcBef>
              <a:spcAft>
                <a:spcPts val="0"/>
              </a:spcAft>
              <a:buSzPts val="2000"/>
              <a:buNone/>
            </a:pPr>
            <a:endParaRPr sz="2000">
              <a:solidFill>
                <a:srgbClr val="538CD5"/>
              </a:solidFill>
            </a:endParaRPr>
          </a:p>
          <a:p>
            <a:pPr marL="0" lvl="0" indent="0" algn="l" rtl="0">
              <a:lnSpc>
                <a:spcPct val="100000"/>
              </a:lnSpc>
              <a:spcBef>
                <a:spcPts val="0"/>
              </a:spcBef>
              <a:spcAft>
                <a:spcPts val="0"/>
              </a:spcAft>
              <a:buSzPts val="2000"/>
              <a:buNone/>
            </a:pPr>
            <a:r>
              <a:rPr lang="en-US" sz="2000">
                <a:solidFill>
                  <a:srgbClr val="538CD5"/>
                </a:solidFill>
              </a:rPr>
              <a:t>As there is no National regulatory policy in place for cyber security there is a lack of awareness at both company level as well as individual level. Domestic netizens can protect and be protected from the cyber-attacks only if there is a guided and supervised legal framework.</a:t>
            </a:r>
            <a:endParaRPr/>
          </a:p>
          <a:p>
            <a:pPr marL="0" lvl="0" indent="0" algn="l" rtl="0">
              <a:lnSpc>
                <a:spcPct val="100000"/>
              </a:lnSpc>
              <a:spcBef>
                <a:spcPts val="0"/>
              </a:spcBef>
              <a:spcAft>
                <a:spcPts val="0"/>
              </a:spcAft>
              <a:buSzPts val="2000"/>
              <a:buNone/>
            </a:pPr>
            <a:endParaRPr sz="2000">
              <a:solidFill>
                <a:srgbClr val="538CD5"/>
              </a:solidFill>
            </a:endParaRPr>
          </a:p>
        </p:txBody>
      </p:sp>
      <p:sp>
        <p:nvSpPr>
          <p:cNvPr id="272" name="Google Shape;272;p38"/>
          <p:cNvSpPr txBox="1">
            <a:spLocks noGrp="1"/>
          </p:cNvSpPr>
          <p:nvPr>
            <p:ph type="sldNum" idx="12"/>
          </p:nvPr>
        </p:nvSpPr>
        <p:spPr>
          <a:xfrm>
            <a:off x="8534400" y="6400800"/>
            <a:ext cx="457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27</a:t>
            </a:fld>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76"/>
        <p:cNvGrpSpPr/>
        <p:nvPr/>
      </p:nvGrpSpPr>
      <p:grpSpPr>
        <a:xfrm>
          <a:off x="0" y="0"/>
          <a:ext cx="0" cy="0"/>
          <a:chOff x="0" y="0"/>
          <a:chExt cx="0" cy="0"/>
        </a:xfrm>
      </p:grpSpPr>
      <p:sp>
        <p:nvSpPr>
          <p:cNvPr id="277" name="Google Shape;277;p39"/>
          <p:cNvSpPr txBox="1">
            <a:spLocks noGrp="1"/>
          </p:cNvSpPr>
          <p:nvPr>
            <p:ph type="title"/>
          </p:nvPr>
        </p:nvSpPr>
        <p:spPr>
          <a:xfrm>
            <a:off x="0" y="0"/>
            <a:ext cx="9144000" cy="8382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1800"/>
              <a:buNone/>
            </a:pPr>
            <a:r>
              <a:rPr lang="en-US"/>
              <a:t>Cybercrime and Punishment</a:t>
            </a:r>
            <a:endParaRPr/>
          </a:p>
        </p:txBody>
      </p:sp>
      <p:sp>
        <p:nvSpPr>
          <p:cNvPr id="278" name="Google Shape;278;p39"/>
          <p:cNvSpPr txBox="1">
            <a:spLocks noGrp="1"/>
          </p:cNvSpPr>
          <p:nvPr>
            <p:ph type="body" idx="1"/>
          </p:nvPr>
        </p:nvSpPr>
        <p:spPr>
          <a:xfrm>
            <a:off x="228600" y="902825"/>
            <a:ext cx="8763000" cy="5863099"/>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2000"/>
              <a:buNone/>
            </a:pPr>
            <a:r>
              <a:rPr lang="en-US" sz="2000">
                <a:solidFill>
                  <a:srgbClr val="538CD5"/>
                </a:solidFill>
              </a:rPr>
              <a:t>1. Section 65. Tampering with computer source documents</a:t>
            </a:r>
            <a:endParaRPr/>
          </a:p>
          <a:p>
            <a:pPr marL="0" lvl="0" indent="0" algn="l" rtl="0">
              <a:lnSpc>
                <a:spcPct val="100000"/>
              </a:lnSpc>
              <a:spcBef>
                <a:spcPts val="0"/>
              </a:spcBef>
              <a:spcAft>
                <a:spcPts val="0"/>
              </a:spcAft>
              <a:buSzPts val="2000"/>
              <a:buNone/>
            </a:pPr>
            <a:r>
              <a:rPr lang="en-US" sz="2000">
                <a:solidFill>
                  <a:srgbClr val="538CD5"/>
                </a:solidFill>
              </a:rPr>
              <a:t>Penalties: Imprisonment up to 3 years and / or </a:t>
            </a:r>
            <a:endParaRPr/>
          </a:p>
          <a:p>
            <a:pPr marL="0" lvl="0" indent="0" algn="l" rtl="0">
              <a:lnSpc>
                <a:spcPct val="100000"/>
              </a:lnSpc>
              <a:spcBef>
                <a:spcPts val="0"/>
              </a:spcBef>
              <a:spcAft>
                <a:spcPts val="0"/>
              </a:spcAft>
              <a:buSzPts val="2000"/>
              <a:buNone/>
            </a:pPr>
            <a:r>
              <a:rPr lang="en-US" sz="2000">
                <a:solidFill>
                  <a:srgbClr val="538CD5"/>
                </a:solidFill>
              </a:rPr>
              <a:t>Fine: Two lakh rupees.</a:t>
            </a:r>
            <a:endParaRPr/>
          </a:p>
          <a:p>
            <a:pPr marL="0" lvl="0" indent="0" algn="l" rtl="0">
              <a:lnSpc>
                <a:spcPct val="100000"/>
              </a:lnSpc>
              <a:spcBef>
                <a:spcPts val="0"/>
              </a:spcBef>
              <a:spcAft>
                <a:spcPts val="0"/>
              </a:spcAft>
              <a:buSzPts val="2000"/>
              <a:buNone/>
            </a:pPr>
            <a:endParaRPr sz="2000">
              <a:solidFill>
                <a:srgbClr val="538CD5"/>
              </a:solidFill>
            </a:endParaRPr>
          </a:p>
          <a:p>
            <a:pPr marL="0" lvl="0" indent="0" algn="l" rtl="0">
              <a:lnSpc>
                <a:spcPct val="100000"/>
              </a:lnSpc>
              <a:spcBef>
                <a:spcPts val="0"/>
              </a:spcBef>
              <a:spcAft>
                <a:spcPts val="0"/>
              </a:spcAft>
              <a:buSzPts val="2000"/>
              <a:buNone/>
            </a:pPr>
            <a:r>
              <a:rPr lang="en-US" sz="2000">
                <a:solidFill>
                  <a:srgbClr val="538CD5"/>
                </a:solidFill>
              </a:rPr>
              <a:t>2. Section 66. Hacking with the computer system:</a:t>
            </a:r>
            <a:endParaRPr sz="2000">
              <a:solidFill>
                <a:srgbClr val="538CD5"/>
              </a:solidFill>
            </a:endParaRPr>
          </a:p>
          <a:p>
            <a:pPr marL="0" lvl="0" indent="0" algn="l" rtl="0">
              <a:lnSpc>
                <a:spcPct val="100000"/>
              </a:lnSpc>
              <a:spcBef>
                <a:spcPts val="0"/>
              </a:spcBef>
              <a:spcAft>
                <a:spcPts val="0"/>
              </a:spcAft>
              <a:buSzPts val="2000"/>
              <a:buNone/>
            </a:pPr>
            <a:r>
              <a:rPr lang="en-US" sz="2000">
                <a:solidFill>
                  <a:srgbClr val="538CD5"/>
                </a:solidFill>
              </a:rPr>
              <a:t>Penalties: Punishment: Imprisoned up to three years and </a:t>
            </a:r>
            <a:endParaRPr/>
          </a:p>
          <a:p>
            <a:pPr marL="0" lvl="0" indent="0" algn="l" rtl="0">
              <a:lnSpc>
                <a:spcPct val="100000"/>
              </a:lnSpc>
              <a:spcBef>
                <a:spcPts val="0"/>
              </a:spcBef>
              <a:spcAft>
                <a:spcPts val="0"/>
              </a:spcAft>
              <a:buSzPts val="2000"/>
              <a:buNone/>
            </a:pPr>
            <a:r>
              <a:rPr lang="en-US" sz="2000">
                <a:solidFill>
                  <a:srgbClr val="538CD5"/>
                </a:solidFill>
              </a:rPr>
              <a:t>Fine: which may extend up to two lakh rupees. Or with both.</a:t>
            </a:r>
            <a:endParaRPr/>
          </a:p>
          <a:p>
            <a:pPr marL="0" lvl="0" indent="0" algn="l" rtl="0">
              <a:lnSpc>
                <a:spcPct val="100000"/>
              </a:lnSpc>
              <a:spcBef>
                <a:spcPts val="0"/>
              </a:spcBef>
              <a:spcAft>
                <a:spcPts val="0"/>
              </a:spcAft>
              <a:buSzPts val="2000"/>
              <a:buNone/>
            </a:pPr>
            <a:endParaRPr sz="2000">
              <a:solidFill>
                <a:srgbClr val="538CD5"/>
              </a:solidFill>
            </a:endParaRPr>
          </a:p>
          <a:p>
            <a:pPr marL="0" lvl="0" indent="0" algn="l" rtl="0">
              <a:lnSpc>
                <a:spcPct val="100000"/>
              </a:lnSpc>
              <a:spcBef>
                <a:spcPts val="0"/>
              </a:spcBef>
              <a:spcAft>
                <a:spcPts val="0"/>
              </a:spcAft>
              <a:buSzPts val="2000"/>
              <a:buNone/>
            </a:pPr>
            <a:r>
              <a:rPr lang="en-US" sz="2000">
                <a:solidFill>
                  <a:srgbClr val="538CD5"/>
                </a:solidFill>
              </a:rPr>
              <a:t>3. Section 67. Publishing of obscene information in electronic form:</a:t>
            </a:r>
            <a:endParaRPr/>
          </a:p>
          <a:p>
            <a:pPr marL="0" lvl="0" indent="0" algn="l" rtl="0">
              <a:lnSpc>
                <a:spcPct val="100000"/>
              </a:lnSpc>
              <a:spcBef>
                <a:spcPts val="0"/>
              </a:spcBef>
              <a:spcAft>
                <a:spcPts val="0"/>
              </a:spcAft>
              <a:buSzPts val="2000"/>
              <a:buNone/>
            </a:pPr>
            <a:r>
              <a:rPr lang="en-US" sz="2000">
                <a:solidFill>
                  <a:srgbClr val="538CD5"/>
                </a:solidFill>
              </a:rPr>
              <a:t>Penalties: Punishment: (1) On first conviction --- imprisonment which may extend up to five years.</a:t>
            </a:r>
            <a:endParaRPr/>
          </a:p>
          <a:p>
            <a:pPr marL="0" lvl="0" indent="0" algn="l" rtl="0">
              <a:lnSpc>
                <a:spcPct val="100000"/>
              </a:lnSpc>
              <a:spcBef>
                <a:spcPts val="0"/>
              </a:spcBef>
              <a:spcAft>
                <a:spcPts val="0"/>
              </a:spcAft>
              <a:buSzPts val="2000"/>
              <a:buNone/>
            </a:pPr>
            <a:r>
              <a:rPr lang="en-US" sz="2000">
                <a:solidFill>
                  <a:srgbClr val="538CD5"/>
                </a:solidFill>
              </a:rPr>
              <a:t>Fine: up to on first conviction which may extend to one lakh rupees.</a:t>
            </a:r>
            <a:endParaRPr/>
          </a:p>
          <a:p>
            <a:pPr marL="0" lvl="0" indent="0" algn="l" rtl="0">
              <a:lnSpc>
                <a:spcPct val="100000"/>
              </a:lnSpc>
              <a:spcBef>
                <a:spcPts val="0"/>
              </a:spcBef>
              <a:spcAft>
                <a:spcPts val="0"/>
              </a:spcAft>
              <a:buSzPts val="2000"/>
              <a:buNone/>
            </a:pPr>
            <a:endParaRPr sz="2000">
              <a:solidFill>
                <a:srgbClr val="538CD5"/>
              </a:solidFill>
            </a:endParaRPr>
          </a:p>
          <a:p>
            <a:pPr marL="0" lvl="0" indent="0" algn="l" rtl="0">
              <a:lnSpc>
                <a:spcPct val="100000"/>
              </a:lnSpc>
              <a:spcBef>
                <a:spcPts val="0"/>
              </a:spcBef>
              <a:spcAft>
                <a:spcPts val="0"/>
              </a:spcAft>
              <a:buSzPts val="2000"/>
              <a:buNone/>
            </a:pPr>
            <a:r>
              <a:rPr lang="en-US" sz="2000">
                <a:solidFill>
                  <a:srgbClr val="538CD5"/>
                </a:solidFill>
              </a:rPr>
              <a:t>4. Section 70. Protected System:</a:t>
            </a:r>
            <a:endParaRPr/>
          </a:p>
          <a:p>
            <a:pPr marL="0" lvl="0" indent="0" algn="l" rtl="0">
              <a:lnSpc>
                <a:spcPct val="100000"/>
              </a:lnSpc>
              <a:spcBef>
                <a:spcPts val="0"/>
              </a:spcBef>
              <a:spcAft>
                <a:spcPts val="0"/>
              </a:spcAft>
              <a:buSzPts val="2000"/>
              <a:buNone/>
            </a:pPr>
            <a:r>
              <a:rPr lang="en-US" sz="2000">
                <a:solidFill>
                  <a:srgbClr val="538CD5"/>
                </a:solidFill>
              </a:rPr>
              <a:t>Penalties: Punishment: the imprisonment which may extend to ten years and fine.</a:t>
            </a:r>
            <a:endParaRPr/>
          </a:p>
        </p:txBody>
      </p:sp>
      <p:sp>
        <p:nvSpPr>
          <p:cNvPr id="279" name="Google Shape;279;p39"/>
          <p:cNvSpPr txBox="1">
            <a:spLocks noGrp="1"/>
          </p:cNvSpPr>
          <p:nvPr>
            <p:ph type="sldNum" idx="12"/>
          </p:nvPr>
        </p:nvSpPr>
        <p:spPr>
          <a:xfrm>
            <a:off x="8534400" y="6400800"/>
            <a:ext cx="457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28</a:t>
            </a:fld>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83"/>
        <p:cNvGrpSpPr/>
        <p:nvPr/>
      </p:nvGrpSpPr>
      <p:grpSpPr>
        <a:xfrm>
          <a:off x="0" y="0"/>
          <a:ext cx="0" cy="0"/>
          <a:chOff x="0" y="0"/>
          <a:chExt cx="0" cy="0"/>
        </a:xfrm>
      </p:grpSpPr>
      <p:sp>
        <p:nvSpPr>
          <p:cNvPr id="284" name="Google Shape;284;p40"/>
          <p:cNvSpPr txBox="1">
            <a:spLocks noGrp="1"/>
          </p:cNvSpPr>
          <p:nvPr>
            <p:ph type="title"/>
          </p:nvPr>
        </p:nvSpPr>
        <p:spPr>
          <a:xfrm>
            <a:off x="0" y="0"/>
            <a:ext cx="9144000" cy="8382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1800"/>
              <a:buNone/>
            </a:pPr>
            <a:r>
              <a:rPr lang="en-US"/>
              <a:t>Cybercrime and Punishment</a:t>
            </a:r>
            <a:endParaRPr/>
          </a:p>
        </p:txBody>
      </p:sp>
      <p:sp>
        <p:nvSpPr>
          <p:cNvPr id="285" name="Google Shape;285;p40"/>
          <p:cNvSpPr txBox="1">
            <a:spLocks noGrp="1"/>
          </p:cNvSpPr>
          <p:nvPr>
            <p:ph type="body" idx="1"/>
          </p:nvPr>
        </p:nvSpPr>
        <p:spPr>
          <a:xfrm>
            <a:off x="228600" y="902825"/>
            <a:ext cx="8763000" cy="5863099"/>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2000"/>
              <a:buNone/>
            </a:pPr>
            <a:r>
              <a:rPr lang="en-US" sz="2000">
                <a:solidFill>
                  <a:srgbClr val="538CD5"/>
                </a:solidFill>
              </a:rPr>
              <a:t>5. Section 71. Penalty for misrepresentation:</a:t>
            </a:r>
            <a:endParaRPr/>
          </a:p>
          <a:p>
            <a:pPr marL="0" lvl="0" indent="0" algn="l" rtl="0">
              <a:lnSpc>
                <a:spcPct val="100000"/>
              </a:lnSpc>
              <a:spcBef>
                <a:spcPts val="0"/>
              </a:spcBef>
              <a:spcAft>
                <a:spcPts val="0"/>
              </a:spcAft>
              <a:buSzPts val="2000"/>
              <a:buNone/>
            </a:pPr>
            <a:r>
              <a:rPr lang="en-US" sz="2000">
                <a:solidFill>
                  <a:srgbClr val="538CD5"/>
                </a:solidFill>
              </a:rPr>
              <a:t>Penalties: Punishment: imprisonment which may extend to two years</a:t>
            </a:r>
            <a:endParaRPr/>
          </a:p>
          <a:p>
            <a:pPr marL="0" lvl="0" indent="0" algn="l" rtl="0">
              <a:lnSpc>
                <a:spcPct val="100000"/>
              </a:lnSpc>
              <a:spcBef>
                <a:spcPts val="0"/>
              </a:spcBef>
              <a:spcAft>
                <a:spcPts val="0"/>
              </a:spcAft>
              <a:buSzPts val="2000"/>
              <a:buNone/>
            </a:pPr>
            <a:r>
              <a:rPr lang="en-US" sz="2000">
                <a:solidFill>
                  <a:srgbClr val="538CD5"/>
                </a:solidFill>
              </a:rPr>
              <a:t>Fine: may extend to one lakh rupees or with both.</a:t>
            </a:r>
            <a:endParaRPr/>
          </a:p>
          <a:p>
            <a:pPr marL="0" lvl="0" indent="0" algn="l" rtl="0">
              <a:lnSpc>
                <a:spcPct val="100000"/>
              </a:lnSpc>
              <a:spcBef>
                <a:spcPts val="0"/>
              </a:spcBef>
              <a:spcAft>
                <a:spcPts val="0"/>
              </a:spcAft>
              <a:buSzPts val="2000"/>
              <a:buNone/>
            </a:pPr>
            <a:endParaRPr sz="2000">
              <a:solidFill>
                <a:srgbClr val="538CD5"/>
              </a:solidFill>
            </a:endParaRPr>
          </a:p>
          <a:p>
            <a:pPr marL="0" lvl="0" indent="0" algn="l" rtl="0">
              <a:lnSpc>
                <a:spcPct val="100000"/>
              </a:lnSpc>
              <a:spcBef>
                <a:spcPts val="0"/>
              </a:spcBef>
              <a:spcAft>
                <a:spcPts val="0"/>
              </a:spcAft>
              <a:buSzPts val="2000"/>
              <a:buNone/>
            </a:pPr>
            <a:r>
              <a:rPr lang="en-US" sz="2000">
                <a:solidFill>
                  <a:srgbClr val="538CD5"/>
                </a:solidFill>
              </a:rPr>
              <a:t>6. Section 72. Penalty for breach of confidentiality and privacy:</a:t>
            </a:r>
            <a:endParaRPr/>
          </a:p>
          <a:p>
            <a:pPr marL="0" lvl="0" indent="0" algn="l" rtl="0">
              <a:lnSpc>
                <a:spcPct val="100000"/>
              </a:lnSpc>
              <a:spcBef>
                <a:spcPts val="0"/>
              </a:spcBef>
              <a:spcAft>
                <a:spcPts val="0"/>
              </a:spcAft>
              <a:buSzPts val="2000"/>
              <a:buNone/>
            </a:pPr>
            <a:r>
              <a:rPr lang="en-US" sz="2000">
                <a:solidFill>
                  <a:srgbClr val="538CD5"/>
                </a:solidFill>
              </a:rPr>
              <a:t>Penalties: Punishment: term which may extend to two years.</a:t>
            </a:r>
            <a:endParaRPr/>
          </a:p>
          <a:p>
            <a:pPr marL="0" lvl="0" indent="0" algn="l" rtl="0">
              <a:lnSpc>
                <a:spcPct val="100000"/>
              </a:lnSpc>
              <a:spcBef>
                <a:spcPts val="0"/>
              </a:spcBef>
              <a:spcAft>
                <a:spcPts val="0"/>
              </a:spcAft>
              <a:buSzPts val="2000"/>
              <a:buNone/>
            </a:pPr>
            <a:r>
              <a:rPr lang="en-US" sz="2000">
                <a:solidFill>
                  <a:srgbClr val="538CD5"/>
                </a:solidFill>
              </a:rPr>
              <a:t>Fine: one lakh rupees or with both.</a:t>
            </a:r>
            <a:endParaRPr/>
          </a:p>
          <a:p>
            <a:pPr marL="0" lvl="0" indent="0" algn="l" rtl="0">
              <a:lnSpc>
                <a:spcPct val="100000"/>
              </a:lnSpc>
              <a:spcBef>
                <a:spcPts val="0"/>
              </a:spcBef>
              <a:spcAft>
                <a:spcPts val="0"/>
              </a:spcAft>
              <a:buSzPts val="2000"/>
              <a:buNone/>
            </a:pPr>
            <a:endParaRPr sz="2000">
              <a:solidFill>
                <a:srgbClr val="538CD5"/>
              </a:solidFill>
            </a:endParaRPr>
          </a:p>
          <a:p>
            <a:pPr marL="0" lvl="0" indent="0" algn="l" rtl="0">
              <a:lnSpc>
                <a:spcPct val="100000"/>
              </a:lnSpc>
              <a:spcBef>
                <a:spcPts val="0"/>
              </a:spcBef>
              <a:spcAft>
                <a:spcPts val="0"/>
              </a:spcAft>
              <a:buSzPts val="2000"/>
              <a:buNone/>
            </a:pPr>
            <a:r>
              <a:rPr lang="en-US" sz="2000">
                <a:solidFill>
                  <a:srgbClr val="538CD5"/>
                </a:solidFill>
              </a:rPr>
              <a:t>7. Section 73. Penalty for publishing Digital Signature Certificate false in certain particulars:</a:t>
            </a:r>
            <a:endParaRPr/>
          </a:p>
          <a:p>
            <a:pPr marL="0" lvl="0" indent="0" algn="l" rtl="0">
              <a:lnSpc>
                <a:spcPct val="100000"/>
              </a:lnSpc>
              <a:spcBef>
                <a:spcPts val="0"/>
              </a:spcBef>
              <a:spcAft>
                <a:spcPts val="0"/>
              </a:spcAft>
              <a:buSzPts val="2000"/>
              <a:buNone/>
            </a:pPr>
            <a:r>
              <a:rPr lang="en-US" sz="2000">
                <a:solidFill>
                  <a:srgbClr val="538CD5"/>
                </a:solidFill>
              </a:rPr>
              <a:t>Penalties: Punishment imprisonment of a term of which may extend to two years.</a:t>
            </a:r>
            <a:endParaRPr/>
          </a:p>
          <a:p>
            <a:pPr marL="0" lvl="0" indent="0" algn="l" rtl="0">
              <a:lnSpc>
                <a:spcPct val="100000"/>
              </a:lnSpc>
              <a:spcBef>
                <a:spcPts val="0"/>
              </a:spcBef>
              <a:spcAft>
                <a:spcPts val="0"/>
              </a:spcAft>
              <a:buSzPts val="2000"/>
              <a:buNone/>
            </a:pPr>
            <a:r>
              <a:rPr lang="en-US" sz="2000">
                <a:solidFill>
                  <a:srgbClr val="538CD5"/>
                </a:solidFill>
              </a:rPr>
              <a:t>Fine: fine may extend to 1 lakh rupees or with both.</a:t>
            </a:r>
            <a:endParaRPr/>
          </a:p>
          <a:p>
            <a:pPr marL="0" lvl="0" indent="0" algn="l" rtl="0">
              <a:lnSpc>
                <a:spcPct val="100000"/>
              </a:lnSpc>
              <a:spcBef>
                <a:spcPts val="0"/>
              </a:spcBef>
              <a:spcAft>
                <a:spcPts val="0"/>
              </a:spcAft>
              <a:buSzPts val="2000"/>
              <a:buNone/>
            </a:pPr>
            <a:endParaRPr sz="2000">
              <a:solidFill>
                <a:srgbClr val="538CD5"/>
              </a:solidFill>
            </a:endParaRPr>
          </a:p>
        </p:txBody>
      </p:sp>
      <p:sp>
        <p:nvSpPr>
          <p:cNvPr id="286" name="Google Shape;286;p40"/>
          <p:cNvSpPr txBox="1">
            <a:spLocks noGrp="1"/>
          </p:cNvSpPr>
          <p:nvPr>
            <p:ph type="sldNum" idx="12"/>
          </p:nvPr>
        </p:nvSpPr>
        <p:spPr>
          <a:xfrm>
            <a:off x="8534400" y="6400800"/>
            <a:ext cx="457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29</a:t>
            </a:fld>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90"/>
        <p:cNvGrpSpPr/>
        <p:nvPr/>
      </p:nvGrpSpPr>
      <p:grpSpPr>
        <a:xfrm>
          <a:off x="0" y="0"/>
          <a:ext cx="0" cy="0"/>
          <a:chOff x="0" y="0"/>
          <a:chExt cx="0" cy="0"/>
        </a:xfrm>
      </p:grpSpPr>
      <p:sp>
        <p:nvSpPr>
          <p:cNvPr id="291" name="Google Shape;291;p41"/>
          <p:cNvSpPr txBox="1">
            <a:spLocks noGrp="1"/>
          </p:cNvSpPr>
          <p:nvPr>
            <p:ph type="title"/>
          </p:nvPr>
        </p:nvSpPr>
        <p:spPr>
          <a:xfrm>
            <a:off x="0" y="0"/>
            <a:ext cx="9144000" cy="8382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1800"/>
              <a:buNone/>
            </a:pPr>
            <a:r>
              <a:rPr lang="en-US"/>
              <a:t>Digital Signatures and the Indian IT Act</a:t>
            </a:r>
            <a:endParaRPr/>
          </a:p>
        </p:txBody>
      </p:sp>
      <p:sp>
        <p:nvSpPr>
          <p:cNvPr id="292" name="Google Shape;292;p41"/>
          <p:cNvSpPr txBox="1">
            <a:spLocks noGrp="1"/>
          </p:cNvSpPr>
          <p:nvPr>
            <p:ph type="body" idx="1"/>
          </p:nvPr>
        </p:nvSpPr>
        <p:spPr>
          <a:xfrm>
            <a:off x="228600" y="902825"/>
            <a:ext cx="8763000" cy="5863099"/>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2000"/>
              <a:buNone/>
            </a:pPr>
            <a:r>
              <a:rPr lang="en-US" sz="2000" dirty="0">
                <a:solidFill>
                  <a:srgbClr val="538CD5"/>
                </a:solidFill>
              </a:rPr>
              <a:t>What is a Digital Signature?</a:t>
            </a:r>
            <a:endParaRPr dirty="0"/>
          </a:p>
          <a:p>
            <a:pPr marL="0" lvl="0" indent="0" algn="l" rtl="0">
              <a:lnSpc>
                <a:spcPct val="100000"/>
              </a:lnSpc>
              <a:spcBef>
                <a:spcPts val="0"/>
              </a:spcBef>
              <a:spcAft>
                <a:spcPts val="0"/>
              </a:spcAft>
              <a:buSzPts val="2000"/>
              <a:buNone/>
            </a:pPr>
            <a:endParaRPr sz="2000" dirty="0">
              <a:solidFill>
                <a:srgbClr val="538CD5"/>
              </a:solidFill>
            </a:endParaRPr>
          </a:p>
          <a:p>
            <a:pPr marL="0" lvl="0" indent="0" algn="l" rtl="0">
              <a:lnSpc>
                <a:spcPct val="100000"/>
              </a:lnSpc>
              <a:spcBef>
                <a:spcPts val="0"/>
              </a:spcBef>
              <a:spcAft>
                <a:spcPts val="0"/>
              </a:spcAft>
              <a:buSzPts val="2000"/>
              <a:buNone/>
            </a:pPr>
            <a:r>
              <a:rPr lang="en-US" sz="2000" dirty="0">
                <a:solidFill>
                  <a:srgbClr val="538CD5"/>
                </a:solidFill>
              </a:rPr>
              <a:t>A digital signature is a mathematical scheme for verifying the authenticity of digital messages or documents. A valid digital signature, where the prerequisites are satisfied, gives a recipient very strong reason to believe that the message was created by a known sender (authentication), and that the message was not altered in transit (integrity).</a:t>
            </a:r>
            <a:endParaRPr sz="2000" dirty="0">
              <a:solidFill>
                <a:srgbClr val="538CD5"/>
              </a:solidFill>
            </a:endParaRPr>
          </a:p>
          <a:p>
            <a:pPr marL="0" lvl="0" indent="0" algn="l" rtl="0">
              <a:lnSpc>
                <a:spcPct val="100000"/>
              </a:lnSpc>
              <a:spcBef>
                <a:spcPts val="0"/>
              </a:spcBef>
              <a:spcAft>
                <a:spcPts val="0"/>
              </a:spcAft>
              <a:buSzPts val="2000"/>
              <a:buNone/>
            </a:pPr>
            <a:endParaRPr sz="2000" dirty="0">
              <a:solidFill>
                <a:srgbClr val="538CD5"/>
              </a:solidFill>
            </a:endParaRPr>
          </a:p>
          <a:p>
            <a:pPr marL="0" lvl="0" indent="0" algn="l" rtl="0">
              <a:lnSpc>
                <a:spcPct val="100000"/>
              </a:lnSpc>
              <a:spcBef>
                <a:spcPts val="0"/>
              </a:spcBef>
              <a:spcAft>
                <a:spcPts val="0"/>
              </a:spcAft>
              <a:buSzPts val="2000"/>
              <a:buNone/>
            </a:pPr>
            <a:r>
              <a:rPr lang="en-US" sz="2000" dirty="0">
                <a:solidFill>
                  <a:srgbClr val="538CD5"/>
                </a:solidFill>
              </a:rPr>
              <a:t>Digital signatures are a standard element of most cryptographic protocol suites, and are commonly used for software distribution, financial transactions, contract management software, and in other cases where it is important to detect forgery or tampering. </a:t>
            </a:r>
            <a:endParaRPr sz="2000" dirty="0">
              <a:solidFill>
                <a:srgbClr val="538CD5"/>
              </a:solidFill>
            </a:endParaRPr>
          </a:p>
          <a:p>
            <a:pPr marL="0" lvl="0" indent="0" algn="l" rtl="0">
              <a:lnSpc>
                <a:spcPct val="100000"/>
              </a:lnSpc>
              <a:spcBef>
                <a:spcPts val="0"/>
              </a:spcBef>
              <a:spcAft>
                <a:spcPts val="0"/>
              </a:spcAft>
              <a:buSzPts val="2000"/>
              <a:buNone/>
            </a:pPr>
            <a:endParaRPr sz="2000" dirty="0">
              <a:solidFill>
                <a:srgbClr val="538CD5"/>
              </a:solidFill>
            </a:endParaRPr>
          </a:p>
          <a:p>
            <a:pPr marL="0" lvl="0" indent="0" algn="l" rtl="0">
              <a:lnSpc>
                <a:spcPct val="100000"/>
              </a:lnSpc>
              <a:spcBef>
                <a:spcPts val="0"/>
              </a:spcBef>
              <a:spcAft>
                <a:spcPts val="0"/>
              </a:spcAft>
              <a:buSzPts val="2000"/>
              <a:buNone/>
            </a:pPr>
            <a:r>
              <a:rPr lang="en-US" sz="2000" dirty="0">
                <a:solidFill>
                  <a:srgbClr val="538CD5"/>
                </a:solidFill>
              </a:rPr>
              <a:t>Digital signatures are often used to implement electronic signatures, which includes any electronic data that carries the intent of a signature, but not all electronic signatures use digital signatures. Electronic signatures have legal significance in our country</a:t>
            </a:r>
            <a:endParaRPr sz="2000" dirty="0">
              <a:solidFill>
                <a:srgbClr val="538CD5"/>
              </a:solidFill>
            </a:endParaRPr>
          </a:p>
          <a:p>
            <a:pPr marL="0" lvl="0" indent="0" algn="l" rtl="0">
              <a:lnSpc>
                <a:spcPct val="100000"/>
              </a:lnSpc>
              <a:spcBef>
                <a:spcPts val="0"/>
              </a:spcBef>
              <a:spcAft>
                <a:spcPts val="0"/>
              </a:spcAft>
              <a:buSzPts val="2000"/>
              <a:buNone/>
            </a:pPr>
            <a:endParaRPr sz="2000" dirty="0">
              <a:solidFill>
                <a:srgbClr val="538CD5"/>
              </a:solidFill>
            </a:endParaRPr>
          </a:p>
        </p:txBody>
      </p:sp>
      <p:sp>
        <p:nvSpPr>
          <p:cNvPr id="293" name="Google Shape;293;p41"/>
          <p:cNvSpPr txBox="1">
            <a:spLocks noGrp="1"/>
          </p:cNvSpPr>
          <p:nvPr>
            <p:ph type="sldNum" idx="12"/>
          </p:nvPr>
        </p:nvSpPr>
        <p:spPr>
          <a:xfrm>
            <a:off x="8534400" y="6400800"/>
            <a:ext cx="457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30</a:t>
            </a:fld>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97"/>
        <p:cNvGrpSpPr/>
        <p:nvPr/>
      </p:nvGrpSpPr>
      <p:grpSpPr>
        <a:xfrm>
          <a:off x="0" y="0"/>
          <a:ext cx="0" cy="0"/>
          <a:chOff x="0" y="0"/>
          <a:chExt cx="0" cy="0"/>
        </a:xfrm>
      </p:grpSpPr>
      <p:sp>
        <p:nvSpPr>
          <p:cNvPr id="298" name="Google Shape;298;p42"/>
          <p:cNvSpPr txBox="1">
            <a:spLocks noGrp="1"/>
          </p:cNvSpPr>
          <p:nvPr>
            <p:ph type="title"/>
          </p:nvPr>
        </p:nvSpPr>
        <p:spPr>
          <a:xfrm>
            <a:off x="0" y="0"/>
            <a:ext cx="9144000" cy="8382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1800"/>
              <a:buNone/>
            </a:pPr>
            <a:r>
              <a:rPr lang="en-US"/>
              <a:t>Digital Signatures and the Indian IT Act</a:t>
            </a:r>
            <a:endParaRPr/>
          </a:p>
        </p:txBody>
      </p:sp>
      <p:sp>
        <p:nvSpPr>
          <p:cNvPr id="299" name="Google Shape;299;p42"/>
          <p:cNvSpPr txBox="1">
            <a:spLocks noGrp="1"/>
          </p:cNvSpPr>
          <p:nvPr>
            <p:ph type="body" idx="1"/>
          </p:nvPr>
        </p:nvSpPr>
        <p:spPr>
          <a:xfrm>
            <a:off x="228600" y="902825"/>
            <a:ext cx="8763000" cy="5863099"/>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2000"/>
              <a:buNone/>
            </a:pPr>
            <a:r>
              <a:rPr lang="en-US" sz="2000">
                <a:solidFill>
                  <a:srgbClr val="538CD5"/>
                </a:solidFill>
              </a:rPr>
              <a:t>In relation with IT Act:</a:t>
            </a:r>
            <a:endParaRPr/>
          </a:p>
          <a:p>
            <a:pPr marL="0" lvl="0" indent="0" algn="l" rtl="0">
              <a:lnSpc>
                <a:spcPct val="100000"/>
              </a:lnSpc>
              <a:spcBef>
                <a:spcPts val="0"/>
              </a:spcBef>
              <a:spcAft>
                <a:spcPts val="0"/>
              </a:spcAft>
              <a:buSzPts val="2000"/>
              <a:buNone/>
            </a:pPr>
            <a:endParaRPr sz="2000">
              <a:solidFill>
                <a:srgbClr val="538CD5"/>
              </a:solidFill>
            </a:endParaRPr>
          </a:p>
          <a:p>
            <a:pPr marL="0" lvl="0" indent="0" algn="l" rtl="0">
              <a:lnSpc>
                <a:spcPct val="100000"/>
              </a:lnSpc>
              <a:spcBef>
                <a:spcPts val="0"/>
              </a:spcBef>
              <a:spcAft>
                <a:spcPts val="0"/>
              </a:spcAft>
              <a:buSzPts val="2000"/>
              <a:buNone/>
            </a:pPr>
            <a:r>
              <a:rPr lang="en-US" sz="2000">
                <a:solidFill>
                  <a:srgbClr val="538CD5"/>
                </a:solidFill>
              </a:rPr>
              <a:t>- Digital signatures were given legal status in India, by Information Technology (IT ACT 2000) in the year 2000. It granted e-signatures on electronic documents, the same legal status as the handwritten signatures on physical documents. </a:t>
            </a:r>
            <a:endParaRPr sz="2000">
              <a:solidFill>
                <a:srgbClr val="538CD5"/>
              </a:solidFill>
            </a:endParaRPr>
          </a:p>
          <a:p>
            <a:pPr marL="0" lvl="0" indent="0" algn="l" rtl="0">
              <a:lnSpc>
                <a:spcPct val="100000"/>
              </a:lnSpc>
              <a:spcBef>
                <a:spcPts val="0"/>
              </a:spcBef>
              <a:spcAft>
                <a:spcPts val="0"/>
              </a:spcAft>
              <a:buSzPts val="2000"/>
              <a:buNone/>
            </a:pPr>
            <a:endParaRPr sz="2000">
              <a:solidFill>
                <a:srgbClr val="538CD5"/>
              </a:solidFill>
            </a:endParaRPr>
          </a:p>
          <a:p>
            <a:pPr marL="0" lvl="0" indent="0" algn="l" rtl="0">
              <a:lnSpc>
                <a:spcPct val="100000"/>
              </a:lnSpc>
              <a:spcBef>
                <a:spcPts val="0"/>
              </a:spcBef>
              <a:spcAft>
                <a:spcPts val="0"/>
              </a:spcAft>
              <a:buSzPts val="2000"/>
              <a:buNone/>
            </a:pPr>
            <a:r>
              <a:rPr lang="en-US" sz="2000">
                <a:solidFill>
                  <a:srgbClr val="538CD5"/>
                </a:solidFill>
              </a:rPr>
              <a:t>- The IT Act 2000 applies to whole of India and it provides for enabling a person to use digital signature just like the traditional signature. The basic purpose of digital signature is same as a conventional signature, ie to authenticate the document, to identify the person and to make the contents of the document binding on person putting digital signature. </a:t>
            </a:r>
            <a:endParaRPr sz="2000">
              <a:solidFill>
                <a:srgbClr val="538CD5"/>
              </a:solidFill>
            </a:endParaRPr>
          </a:p>
          <a:p>
            <a:pPr marL="0" lvl="0" indent="0" algn="l" rtl="0">
              <a:lnSpc>
                <a:spcPct val="100000"/>
              </a:lnSpc>
              <a:spcBef>
                <a:spcPts val="0"/>
              </a:spcBef>
              <a:spcAft>
                <a:spcPts val="0"/>
              </a:spcAft>
              <a:buSzPts val="2000"/>
              <a:buNone/>
            </a:pPr>
            <a:endParaRPr sz="2000">
              <a:solidFill>
                <a:srgbClr val="538CD5"/>
              </a:solidFill>
            </a:endParaRPr>
          </a:p>
          <a:p>
            <a:pPr marL="0" lvl="0" indent="0" algn="l" rtl="0">
              <a:lnSpc>
                <a:spcPct val="100000"/>
              </a:lnSpc>
              <a:spcBef>
                <a:spcPts val="0"/>
              </a:spcBef>
              <a:spcAft>
                <a:spcPts val="0"/>
              </a:spcAft>
              <a:buSzPts val="2000"/>
              <a:buNone/>
            </a:pPr>
            <a:r>
              <a:rPr lang="en-US" sz="2000">
                <a:solidFill>
                  <a:srgbClr val="538CD5"/>
                </a:solidFill>
              </a:rPr>
              <a:t>- Under Indian law, a written signature is not necessarily required for a valid contract - contracts are generally valid if legally competent parties reach an agreement, whether they agree verbally, electronically or in a physical paper document. The Information Technology Act, 2000 (IT Act) specifically confirms that contracts cannot be denied enforceability merely because they are concluded electronically. </a:t>
            </a:r>
            <a:endParaRPr sz="2000">
              <a:solidFill>
                <a:srgbClr val="538CD5"/>
              </a:solidFill>
            </a:endParaRPr>
          </a:p>
        </p:txBody>
      </p:sp>
      <p:sp>
        <p:nvSpPr>
          <p:cNvPr id="300" name="Google Shape;300;p42"/>
          <p:cNvSpPr txBox="1">
            <a:spLocks noGrp="1"/>
          </p:cNvSpPr>
          <p:nvPr>
            <p:ph type="sldNum" idx="12"/>
          </p:nvPr>
        </p:nvSpPr>
        <p:spPr>
          <a:xfrm>
            <a:off x="8534400" y="6400800"/>
            <a:ext cx="457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31</a:t>
            </a:fld>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304"/>
        <p:cNvGrpSpPr/>
        <p:nvPr/>
      </p:nvGrpSpPr>
      <p:grpSpPr>
        <a:xfrm>
          <a:off x="0" y="0"/>
          <a:ext cx="0" cy="0"/>
          <a:chOff x="0" y="0"/>
          <a:chExt cx="0" cy="0"/>
        </a:xfrm>
      </p:grpSpPr>
      <p:sp>
        <p:nvSpPr>
          <p:cNvPr id="305" name="Google Shape;305;p43"/>
          <p:cNvSpPr txBox="1">
            <a:spLocks noGrp="1"/>
          </p:cNvSpPr>
          <p:nvPr>
            <p:ph type="title"/>
          </p:nvPr>
        </p:nvSpPr>
        <p:spPr>
          <a:xfrm>
            <a:off x="0" y="0"/>
            <a:ext cx="9144000" cy="8382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1800"/>
              <a:buNone/>
            </a:pPr>
            <a:r>
              <a:rPr lang="en-US"/>
              <a:t>Digital Signatures and the Indian IT Act</a:t>
            </a:r>
            <a:endParaRPr/>
          </a:p>
        </p:txBody>
      </p:sp>
      <p:sp>
        <p:nvSpPr>
          <p:cNvPr id="306" name="Google Shape;306;p43"/>
          <p:cNvSpPr txBox="1">
            <a:spLocks noGrp="1"/>
          </p:cNvSpPr>
          <p:nvPr>
            <p:ph type="body" idx="1"/>
          </p:nvPr>
        </p:nvSpPr>
        <p:spPr>
          <a:xfrm>
            <a:off x="228600" y="902825"/>
            <a:ext cx="8763000" cy="5863099"/>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2000"/>
              <a:buNone/>
            </a:pPr>
            <a:r>
              <a:rPr lang="en-US" sz="2000">
                <a:solidFill>
                  <a:srgbClr val="538CD5"/>
                </a:solidFill>
              </a:rPr>
              <a:t>Though most electronic documents are allowed to be signed digitally, there are few exceptions that need to be executed using handwritten signatures. These documents are:</a:t>
            </a:r>
            <a:endParaRPr/>
          </a:p>
          <a:p>
            <a:pPr marL="0" lvl="0" indent="0" algn="l" rtl="0">
              <a:lnSpc>
                <a:spcPct val="100000"/>
              </a:lnSpc>
              <a:spcBef>
                <a:spcPts val="0"/>
              </a:spcBef>
              <a:spcAft>
                <a:spcPts val="0"/>
              </a:spcAft>
              <a:buSzPts val="2000"/>
              <a:buNone/>
            </a:pPr>
            <a:endParaRPr sz="2000">
              <a:solidFill>
                <a:srgbClr val="538CD5"/>
              </a:solidFill>
            </a:endParaRPr>
          </a:p>
          <a:p>
            <a:pPr marL="0" lvl="0" indent="0" algn="l" rtl="0">
              <a:lnSpc>
                <a:spcPct val="100000"/>
              </a:lnSpc>
              <a:spcBef>
                <a:spcPts val="0"/>
              </a:spcBef>
              <a:spcAft>
                <a:spcPts val="0"/>
              </a:spcAft>
              <a:buSzPts val="2000"/>
              <a:buNone/>
            </a:pPr>
            <a:r>
              <a:rPr lang="en-US" sz="2000">
                <a:solidFill>
                  <a:srgbClr val="538CD5"/>
                </a:solidFill>
              </a:rPr>
              <a:t>- A negotiable instrument as defined in section 13 of the Negotiable Instruments Act, 1881 (such as promissory note or bill of exchange);</a:t>
            </a:r>
            <a:endParaRPr/>
          </a:p>
          <a:p>
            <a:pPr marL="0" lvl="0" indent="0" algn="l" rtl="0">
              <a:lnSpc>
                <a:spcPct val="100000"/>
              </a:lnSpc>
              <a:spcBef>
                <a:spcPts val="0"/>
              </a:spcBef>
              <a:spcAft>
                <a:spcPts val="0"/>
              </a:spcAft>
              <a:buSzPts val="2000"/>
              <a:buNone/>
            </a:pPr>
            <a:r>
              <a:rPr lang="en-US" sz="2000">
                <a:solidFill>
                  <a:srgbClr val="538CD5"/>
                </a:solidFill>
              </a:rPr>
              <a:t>- A power-of-attorney as defined in section 1A of the Powers-of-Attorney Act, 1882;</a:t>
            </a:r>
            <a:endParaRPr/>
          </a:p>
          <a:p>
            <a:pPr marL="0" lvl="0" indent="0" algn="l" rtl="0">
              <a:lnSpc>
                <a:spcPct val="100000"/>
              </a:lnSpc>
              <a:spcBef>
                <a:spcPts val="0"/>
              </a:spcBef>
              <a:spcAft>
                <a:spcPts val="0"/>
              </a:spcAft>
              <a:buSzPts val="2000"/>
              <a:buNone/>
            </a:pPr>
            <a:r>
              <a:rPr lang="en-US" sz="2000">
                <a:solidFill>
                  <a:srgbClr val="538CD5"/>
                </a:solidFill>
              </a:rPr>
              <a:t>- A trust deed as defined in section 3 of the Indian Trusts Act, 1882;</a:t>
            </a:r>
            <a:endParaRPr/>
          </a:p>
          <a:p>
            <a:pPr marL="0" lvl="0" indent="0" algn="l" rtl="0">
              <a:lnSpc>
                <a:spcPct val="100000"/>
              </a:lnSpc>
              <a:spcBef>
                <a:spcPts val="0"/>
              </a:spcBef>
              <a:spcAft>
                <a:spcPts val="0"/>
              </a:spcAft>
              <a:buSzPts val="2000"/>
              <a:buNone/>
            </a:pPr>
            <a:r>
              <a:rPr lang="en-US" sz="2000">
                <a:solidFill>
                  <a:srgbClr val="538CD5"/>
                </a:solidFill>
              </a:rPr>
              <a:t>- A will as defined in clause (h) of section 2 of the Indian Succession Act, 1925 including any other testamentary disposition by whatever name called;</a:t>
            </a:r>
            <a:endParaRPr/>
          </a:p>
          <a:p>
            <a:pPr marL="0" lvl="0" indent="0" algn="l" rtl="0">
              <a:lnSpc>
                <a:spcPct val="100000"/>
              </a:lnSpc>
              <a:spcBef>
                <a:spcPts val="0"/>
              </a:spcBef>
              <a:spcAft>
                <a:spcPts val="0"/>
              </a:spcAft>
              <a:buSzPts val="2000"/>
              <a:buNone/>
            </a:pPr>
            <a:r>
              <a:rPr lang="en-US" sz="2000">
                <a:solidFill>
                  <a:srgbClr val="538CD5"/>
                </a:solidFill>
              </a:rPr>
              <a:t>- A contract for the sale or conveyance of immovable property or any interest in such property</a:t>
            </a:r>
            <a:endParaRPr/>
          </a:p>
          <a:p>
            <a:pPr marL="0" lvl="0" indent="0" algn="l" rtl="0">
              <a:lnSpc>
                <a:spcPct val="100000"/>
              </a:lnSpc>
              <a:spcBef>
                <a:spcPts val="0"/>
              </a:spcBef>
              <a:spcAft>
                <a:spcPts val="0"/>
              </a:spcAft>
              <a:buSzPts val="2000"/>
              <a:buNone/>
            </a:pPr>
            <a:endParaRPr sz="2000">
              <a:solidFill>
                <a:srgbClr val="538CD5"/>
              </a:solidFill>
            </a:endParaRPr>
          </a:p>
          <a:p>
            <a:pPr marL="0" lvl="0" indent="0" algn="l" rtl="0">
              <a:lnSpc>
                <a:spcPct val="100000"/>
              </a:lnSpc>
              <a:spcBef>
                <a:spcPts val="0"/>
              </a:spcBef>
              <a:spcAft>
                <a:spcPts val="0"/>
              </a:spcAft>
              <a:buSzPts val="2000"/>
              <a:buNone/>
            </a:pPr>
            <a:r>
              <a:rPr lang="en-US" sz="2000">
                <a:solidFill>
                  <a:srgbClr val="538CD5"/>
                </a:solidFill>
              </a:rPr>
              <a:t>“Digital signature” is defined under section 2(p) of IT Act 2000 as follows: "Digital Signature" means authentication of any electronic record by a subscriber by means of an electronic method or procedure in accordance with the provisions of section 3</a:t>
            </a:r>
            <a:endParaRPr/>
          </a:p>
        </p:txBody>
      </p:sp>
      <p:sp>
        <p:nvSpPr>
          <p:cNvPr id="307" name="Google Shape;307;p43"/>
          <p:cNvSpPr txBox="1">
            <a:spLocks noGrp="1"/>
          </p:cNvSpPr>
          <p:nvPr>
            <p:ph type="sldNum" idx="12"/>
          </p:nvPr>
        </p:nvSpPr>
        <p:spPr>
          <a:xfrm>
            <a:off x="8534400" y="6400800"/>
            <a:ext cx="457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32</a:t>
            </a:fld>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311"/>
        <p:cNvGrpSpPr/>
        <p:nvPr/>
      </p:nvGrpSpPr>
      <p:grpSpPr>
        <a:xfrm>
          <a:off x="0" y="0"/>
          <a:ext cx="0" cy="0"/>
          <a:chOff x="0" y="0"/>
          <a:chExt cx="0" cy="0"/>
        </a:xfrm>
      </p:grpSpPr>
      <p:sp>
        <p:nvSpPr>
          <p:cNvPr id="312" name="Google Shape;312;p44"/>
          <p:cNvSpPr txBox="1">
            <a:spLocks noGrp="1"/>
          </p:cNvSpPr>
          <p:nvPr>
            <p:ph type="title"/>
          </p:nvPr>
        </p:nvSpPr>
        <p:spPr>
          <a:xfrm>
            <a:off x="0" y="0"/>
            <a:ext cx="9144000" cy="8382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1800"/>
              <a:buNone/>
            </a:pPr>
            <a:r>
              <a:rPr lang="en-US"/>
              <a:t>Digital Signatures and the Indian IT Act</a:t>
            </a:r>
            <a:endParaRPr/>
          </a:p>
        </p:txBody>
      </p:sp>
      <p:sp>
        <p:nvSpPr>
          <p:cNvPr id="313" name="Google Shape;313;p44"/>
          <p:cNvSpPr txBox="1">
            <a:spLocks noGrp="1"/>
          </p:cNvSpPr>
          <p:nvPr>
            <p:ph type="body" idx="1"/>
          </p:nvPr>
        </p:nvSpPr>
        <p:spPr>
          <a:xfrm>
            <a:off x="228600" y="902825"/>
            <a:ext cx="8763000" cy="5863099"/>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2000"/>
              <a:buNone/>
            </a:pPr>
            <a:r>
              <a:rPr lang="en-US" sz="2000">
                <a:solidFill>
                  <a:srgbClr val="538CD5"/>
                </a:solidFill>
              </a:rPr>
              <a:t>Section 3 explains the digital signature technology as:</a:t>
            </a:r>
            <a:endParaRPr/>
          </a:p>
          <a:p>
            <a:pPr marL="0" lvl="0" indent="0" algn="l" rtl="0">
              <a:lnSpc>
                <a:spcPct val="100000"/>
              </a:lnSpc>
              <a:spcBef>
                <a:spcPts val="0"/>
              </a:spcBef>
              <a:spcAft>
                <a:spcPts val="0"/>
              </a:spcAft>
              <a:buSzPts val="2000"/>
              <a:buNone/>
            </a:pPr>
            <a:endParaRPr sz="2000">
              <a:solidFill>
                <a:srgbClr val="538CD5"/>
              </a:solidFill>
            </a:endParaRPr>
          </a:p>
          <a:p>
            <a:pPr marL="0" lvl="0" indent="0" algn="l" rtl="0">
              <a:lnSpc>
                <a:spcPct val="100000"/>
              </a:lnSpc>
              <a:spcBef>
                <a:spcPts val="0"/>
              </a:spcBef>
              <a:spcAft>
                <a:spcPts val="0"/>
              </a:spcAft>
              <a:buSzPts val="2000"/>
              <a:buNone/>
            </a:pPr>
            <a:r>
              <a:rPr lang="en-US" sz="2000">
                <a:solidFill>
                  <a:srgbClr val="538CD5"/>
                </a:solidFill>
              </a:rPr>
              <a:t>- Subject to the provisions of this section any subscriber may authenticate an electronic record by affixing his digital signature.</a:t>
            </a:r>
            <a:endParaRPr/>
          </a:p>
          <a:p>
            <a:pPr marL="0" lvl="0" indent="0" algn="l" rtl="0">
              <a:lnSpc>
                <a:spcPct val="100000"/>
              </a:lnSpc>
              <a:spcBef>
                <a:spcPts val="0"/>
              </a:spcBef>
              <a:spcAft>
                <a:spcPts val="0"/>
              </a:spcAft>
              <a:buSzPts val="2000"/>
              <a:buNone/>
            </a:pPr>
            <a:r>
              <a:rPr lang="en-US" sz="2000">
                <a:solidFill>
                  <a:srgbClr val="538CD5"/>
                </a:solidFill>
              </a:rPr>
              <a:t>    </a:t>
            </a:r>
            <a:endParaRPr sz="2000">
              <a:solidFill>
                <a:srgbClr val="538CD5"/>
              </a:solidFill>
            </a:endParaRPr>
          </a:p>
          <a:p>
            <a:pPr marL="0" lvl="0" indent="0" algn="l" rtl="0">
              <a:lnSpc>
                <a:spcPct val="100000"/>
              </a:lnSpc>
              <a:spcBef>
                <a:spcPts val="0"/>
              </a:spcBef>
              <a:spcAft>
                <a:spcPts val="0"/>
              </a:spcAft>
              <a:buSzPts val="2000"/>
              <a:buNone/>
            </a:pPr>
            <a:r>
              <a:rPr lang="en-US" sz="2000">
                <a:solidFill>
                  <a:srgbClr val="538CD5"/>
                </a:solidFill>
              </a:rPr>
              <a:t>- The authentication of the electronic record shall be effected by the use of asymmetric crypto system (use of private and public keys) and hash function which envelop and transform the initial electronic record into another electronic record</a:t>
            </a:r>
            <a:endParaRPr/>
          </a:p>
          <a:p>
            <a:pPr marL="0" lvl="0" indent="0" algn="l" rtl="0">
              <a:lnSpc>
                <a:spcPct val="100000"/>
              </a:lnSpc>
              <a:spcBef>
                <a:spcPts val="0"/>
              </a:spcBef>
              <a:spcAft>
                <a:spcPts val="0"/>
              </a:spcAft>
              <a:buSzPts val="2000"/>
              <a:buNone/>
            </a:pPr>
            <a:endParaRPr sz="2000">
              <a:solidFill>
                <a:srgbClr val="538CD5"/>
              </a:solidFill>
            </a:endParaRPr>
          </a:p>
          <a:p>
            <a:pPr marL="0" lvl="0" indent="0" algn="l" rtl="0">
              <a:lnSpc>
                <a:spcPct val="100000"/>
              </a:lnSpc>
              <a:spcBef>
                <a:spcPts val="0"/>
              </a:spcBef>
              <a:spcAft>
                <a:spcPts val="0"/>
              </a:spcAft>
              <a:buSzPts val="2000"/>
              <a:buNone/>
            </a:pPr>
            <a:r>
              <a:rPr lang="en-US" sz="2000">
                <a:solidFill>
                  <a:srgbClr val="538CD5"/>
                </a:solidFill>
              </a:rPr>
              <a:t>- The private key and the public key are unique to the subscriber and constitute a functioning key pair.</a:t>
            </a:r>
            <a:endParaRPr/>
          </a:p>
          <a:p>
            <a:pPr marL="0" lvl="0" indent="0" algn="l" rtl="0">
              <a:lnSpc>
                <a:spcPct val="100000"/>
              </a:lnSpc>
              <a:spcBef>
                <a:spcPts val="0"/>
              </a:spcBef>
              <a:spcAft>
                <a:spcPts val="0"/>
              </a:spcAft>
              <a:buSzPts val="2000"/>
              <a:buNone/>
            </a:pPr>
            <a:endParaRPr sz="2000">
              <a:solidFill>
                <a:srgbClr val="538CD5"/>
              </a:solidFill>
            </a:endParaRPr>
          </a:p>
          <a:p>
            <a:pPr marL="0" lvl="0" indent="0" algn="l" rtl="0">
              <a:lnSpc>
                <a:spcPct val="100000"/>
              </a:lnSpc>
              <a:spcBef>
                <a:spcPts val="0"/>
              </a:spcBef>
              <a:spcAft>
                <a:spcPts val="0"/>
              </a:spcAft>
              <a:buSzPts val="2000"/>
              <a:buNone/>
            </a:pPr>
            <a:r>
              <a:rPr lang="en-US" sz="2000">
                <a:solidFill>
                  <a:srgbClr val="538CD5"/>
                </a:solidFill>
              </a:rPr>
              <a:t>Digital signing is enabled using Digital Signature Certificates (DSC) that contains unique private and public key pair that serves as an identity of an individual / signer. As per the Act, DSC is issued by the authorities known as CA (Certifying Authorities) after following a prescribed procedure. Signing using digital signature certificates (DSC) issued by CA is considered legal.</a:t>
            </a:r>
            <a:endParaRPr sz="2000">
              <a:solidFill>
                <a:srgbClr val="538CD5"/>
              </a:solidFill>
            </a:endParaRPr>
          </a:p>
        </p:txBody>
      </p:sp>
      <p:sp>
        <p:nvSpPr>
          <p:cNvPr id="314" name="Google Shape;314;p44"/>
          <p:cNvSpPr txBox="1">
            <a:spLocks noGrp="1"/>
          </p:cNvSpPr>
          <p:nvPr>
            <p:ph type="sldNum" idx="12"/>
          </p:nvPr>
        </p:nvSpPr>
        <p:spPr>
          <a:xfrm>
            <a:off x="8534400" y="6400800"/>
            <a:ext cx="457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33</a:t>
            </a:fld>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318"/>
        <p:cNvGrpSpPr/>
        <p:nvPr/>
      </p:nvGrpSpPr>
      <p:grpSpPr>
        <a:xfrm>
          <a:off x="0" y="0"/>
          <a:ext cx="0" cy="0"/>
          <a:chOff x="0" y="0"/>
          <a:chExt cx="0" cy="0"/>
        </a:xfrm>
      </p:grpSpPr>
      <p:sp>
        <p:nvSpPr>
          <p:cNvPr id="319" name="Google Shape;319;p45"/>
          <p:cNvSpPr txBox="1">
            <a:spLocks noGrp="1"/>
          </p:cNvSpPr>
          <p:nvPr>
            <p:ph type="title"/>
          </p:nvPr>
        </p:nvSpPr>
        <p:spPr>
          <a:xfrm>
            <a:off x="0" y="0"/>
            <a:ext cx="9144000" cy="8382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1800"/>
              <a:buNone/>
            </a:pPr>
            <a:r>
              <a:rPr lang="en-US"/>
              <a:t>Digital Signatures and the Indian IT Act</a:t>
            </a:r>
            <a:endParaRPr/>
          </a:p>
        </p:txBody>
      </p:sp>
      <p:sp>
        <p:nvSpPr>
          <p:cNvPr id="320" name="Google Shape;320;p45"/>
          <p:cNvSpPr txBox="1">
            <a:spLocks noGrp="1"/>
          </p:cNvSpPr>
          <p:nvPr>
            <p:ph type="body" idx="1"/>
          </p:nvPr>
        </p:nvSpPr>
        <p:spPr>
          <a:xfrm>
            <a:off x="228600" y="902825"/>
            <a:ext cx="8763000" cy="5863099"/>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2000"/>
              <a:buNone/>
            </a:pPr>
            <a:r>
              <a:rPr lang="en-US" sz="2000">
                <a:solidFill>
                  <a:srgbClr val="538CD5"/>
                </a:solidFill>
              </a:rPr>
              <a:t>- There are three types of digital signatures based on security levels: Class-1, Class-2 and Class-3 certificates. </a:t>
            </a:r>
            <a:endParaRPr sz="2000">
              <a:solidFill>
                <a:srgbClr val="538CD5"/>
              </a:solidFill>
            </a:endParaRPr>
          </a:p>
          <a:p>
            <a:pPr marL="0" lvl="0" indent="0" algn="l" rtl="0">
              <a:lnSpc>
                <a:spcPct val="100000"/>
              </a:lnSpc>
              <a:spcBef>
                <a:spcPts val="0"/>
              </a:spcBef>
              <a:spcAft>
                <a:spcPts val="0"/>
              </a:spcAft>
              <a:buSzPts val="2000"/>
              <a:buNone/>
            </a:pPr>
            <a:endParaRPr sz="2000">
              <a:solidFill>
                <a:srgbClr val="538CD5"/>
              </a:solidFill>
            </a:endParaRPr>
          </a:p>
          <a:p>
            <a:pPr marL="0" lvl="0" indent="0" algn="l" rtl="0">
              <a:lnSpc>
                <a:spcPct val="100000"/>
              </a:lnSpc>
              <a:spcBef>
                <a:spcPts val="0"/>
              </a:spcBef>
              <a:spcAft>
                <a:spcPts val="0"/>
              </a:spcAft>
              <a:buSzPts val="2000"/>
              <a:buNone/>
            </a:pPr>
            <a:r>
              <a:rPr lang="en-US" sz="2000">
                <a:solidFill>
                  <a:srgbClr val="538CD5"/>
                </a:solidFill>
              </a:rPr>
              <a:t>- Class 1 certificates do not carry legal recognition since its validation is done on the basis of a valid e-mail and is not based on direct verification. </a:t>
            </a:r>
            <a:endParaRPr sz="2000">
              <a:solidFill>
                <a:srgbClr val="538CD5"/>
              </a:solidFill>
            </a:endParaRPr>
          </a:p>
          <a:p>
            <a:pPr marL="0" lvl="0" indent="0" algn="l" rtl="0">
              <a:lnSpc>
                <a:spcPct val="100000"/>
              </a:lnSpc>
              <a:spcBef>
                <a:spcPts val="0"/>
              </a:spcBef>
              <a:spcAft>
                <a:spcPts val="0"/>
              </a:spcAft>
              <a:buSzPts val="2000"/>
              <a:buNone/>
            </a:pPr>
            <a:endParaRPr sz="2000">
              <a:solidFill>
                <a:srgbClr val="538CD5"/>
              </a:solidFill>
            </a:endParaRPr>
          </a:p>
          <a:p>
            <a:pPr marL="0" lvl="0" indent="0" algn="l" rtl="0">
              <a:lnSpc>
                <a:spcPct val="100000"/>
              </a:lnSpc>
              <a:spcBef>
                <a:spcPts val="0"/>
              </a:spcBef>
              <a:spcAft>
                <a:spcPts val="0"/>
              </a:spcAft>
              <a:buSzPts val="2000"/>
              <a:buNone/>
            </a:pPr>
            <a:r>
              <a:rPr lang="en-US" sz="2000">
                <a:solidFill>
                  <a:srgbClr val="538CD5"/>
                </a:solidFill>
              </a:rPr>
              <a:t>- In case of Class-2 certificates the identity of the person is verified against a trusted pre-verified database. </a:t>
            </a:r>
            <a:endParaRPr sz="2000">
              <a:solidFill>
                <a:srgbClr val="538CD5"/>
              </a:solidFill>
            </a:endParaRPr>
          </a:p>
          <a:p>
            <a:pPr marL="0" lvl="0" indent="0" algn="l" rtl="0">
              <a:lnSpc>
                <a:spcPct val="100000"/>
              </a:lnSpc>
              <a:spcBef>
                <a:spcPts val="0"/>
              </a:spcBef>
              <a:spcAft>
                <a:spcPts val="0"/>
              </a:spcAft>
              <a:buSzPts val="2000"/>
              <a:buNone/>
            </a:pPr>
            <a:endParaRPr sz="2000">
              <a:solidFill>
                <a:srgbClr val="538CD5"/>
              </a:solidFill>
            </a:endParaRPr>
          </a:p>
          <a:p>
            <a:pPr marL="0" lvl="0" indent="0" algn="l" rtl="0">
              <a:lnSpc>
                <a:spcPct val="100000"/>
              </a:lnSpc>
              <a:spcBef>
                <a:spcPts val="0"/>
              </a:spcBef>
              <a:spcAft>
                <a:spcPts val="0"/>
              </a:spcAft>
              <a:buSzPts val="2000"/>
              <a:buNone/>
            </a:pPr>
            <a:r>
              <a:rPr lang="en-US" sz="2000">
                <a:solidFill>
                  <a:srgbClr val="538CD5"/>
                </a:solidFill>
              </a:rPr>
              <a:t>- Class-3 is the highest level where a person is required to be present in front of a RA(Registration Authority) to prove his/her identity. </a:t>
            </a:r>
            <a:endParaRPr sz="2000">
              <a:solidFill>
                <a:srgbClr val="538CD5"/>
              </a:solidFill>
            </a:endParaRPr>
          </a:p>
          <a:p>
            <a:pPr marL="0" lvl="0" indent="0" algn="l" rtl="0">
              <a:lnSpc>
                <a:spcPct val="100000"/>
              </a:lnSpc>
              <a:spcBef>
                <a:spcPts val="0"/>
              </a:spcBef>
              <a:spcAft>
                <a:spcPts val="0"/>
              </a:spcAft>
              <a:buSzPts val="2000"/>
              <a:buNone/>
            </a:pPr>
            <a:endParaRPr sz="2000">
              <a:solidFill>
                <a:srgbClr val="538CD5"/>
              </a:solidFill>
            </a:endParaRPr>
          </a:p>
          <a:p>
            <a:pPr marL="0" lvl="0" indent="0" algn="l" rtl="0">
              <a:lnSpc>
                <a:spcPct val="100000"/>
              </a:lnSpc>
              <a:spcBef>
                <a:spcPts val="0"/>
              </a:spcBef>
              <a:spcAft>
                <a:spcPts val="0"/>
              </a:spcAft>
              <a:buSzPts val="2000"/>
              <a:buNone/>
            </a:pPr>
            <a:r>
              <a:rPr lang="en-US" sz="2000">
                <a:solidFill>
                  <a:srgbClr val="538CD5"/>
                </a:solidFill>
              </a:rPr>
              <a:t>- Typically Class 2 certificate is required for signing most of the documents. DSC is typically issued on a USB token containing the digital-certificate-based digital ID, along with a personal PIN, to sign a document.</a:t>
            </a:r>
            <a:endParaRPr/>
          </a:p>
          <a:p>
            <a:pPr marL="0" lvl="0" indent="0" algn="l" rtl="0">
              <a:lnSpc>
                <a:spcPct val="100000"/>
              </a:lnSpc>
              <a:spcBef>
                <a:spcPts val="0"/>
              </a:spcBef>
              <a:spcAft>
                <a:spcPts val="0"/>
              </a:spcAft>
              <a:buSzPts val="2000"/>
              <a:buNone/>
            </a:pPr>
            <a:endParaRPr sz="2000">
              <a:solidFill>
                <a:srgbClr val="538CD5"/>
              </a:solidFill>
            </a:endParaRPr>
          </a:p>
          <a:p>
            <a:pPr marL="0" lvl="0" indent="0" algn="l" rtl="0">
              <a:lnSpc>
                <a:spcPct val="100000"/>
              </a:lnSpc>
              <a:spcBef>
                <a:spcPts val="0"/>
              </a:spcBef>
              <a:spcAft>
                <a:spcPts val="0"/>
              </a:spcAft>
              <a:buSzPts val="2000"/>
              <a:buNone/>
            </a:pPr>
            <a:r>
              <a:rPr lang="en-US" sz="2000">
                <a:solidFill>
                  <a:srgbClr val="538CD5"/>
                </a:solidFill>
              </a:rPr>
              <a:t>- Businesses in India have been using DSC based digital signatures to sign documents like invoices, form 16’s, PO’s, HR letters, reports, agreements and other documents. </a:t>
            </a:r>
            <a:endParaRPr sz="2000">
              <a:solidFill>
                <a:srgbClr val="538CD5"/>
              </a:solidFill>
            </a:endParaRPr>
          </a:p>
        </p:txBody>
      </p:sp>
      <p:sp>
        <p:nvSpPr>
          <p:cNvPr id="321" name="Google Shape;321;p45"/>
          <p:cNvSpPr txBox="1">
            <a:spLocks noGrp="1"/>
          </p:cNvSpPr>
          <p:nvPr>
            <p:ph type="sldNum" idx="12"/>
          </p:nvPr>
        </p:nvSpPr>
        <p:spPr>
          <a:xfrm>
            <a:off x="8534400" y="6400800"/>
            <a:ext cx="457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34</a:t>
            </a:fld>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325"/>
        <p:cNvGrpSpPr/>
        <p:nvPr/>
      </p:nvGrpSpPr>
      <p:grpSpPr>
        <a:xfrm>
          <a:off x="0" y="0"/>
          <a:ext cx="0" cy="0"/>
          <a:chOff x="0" y="0"/>
          <a:chExt cx="0" cy="0"/>
        </a:xfrm>
      </p:grpSpPr>
      <p:sp>
        <p:nvSpPr>
          <p:cNvPr id="326" name="Google Shape;326;p46"/>
          <p:cNvSpPr txBox="1">
            <a:spLocks noGrp="1"/>
          </p:cNvSpPr>
          <p:nvPr>
            <p:ph type="title"/>
          </p:nvPr>
        </p:nvSpPr>
        <p:spPr>
          <a:xfrm>
            <a:off x="0" y="0"/>
            <a:ext cx="9144000" cy="8382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1800"/>
              <a:buNone/>
            </a:pPr>
            <a:r>
              <a:rPr lang="en-US"/>
              <a:t>Digital Signatures and the Indian IT Act</a:t>
            </a:r>
            <a:endParaRPr/>
          </a:p>
        </p:txBody>
      </p:sp>
      <p:sp>
        <p:nvSpPr>
          <p:cNvPr id="327" name="Google Shape;327;p46"/>
          <p:cNvSpPr txBox="1">
            <a:spLocks noGrp="1"/>
          </p:cNvSpPr>
          <p:nvPr>
            <p:ph type="body" idx="1"/>
          </p:nvPr>
        </p:nvSpPr>
        <p:spPr>
          <a:xfrm>
            <a:off x="228600" y="902825"/>
            <a:ext cx="8763000" cy="5863099"/>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2000"/>
              <a:buNone/>
            </a:pPr>
            <a:r>
              <a:rPr lang="en-US" sz="2000">
                <a:solidFill>
                  <a:srgbClr val="538CD5"/>
                </a:solidFill>
              </a:rPr>
              <a:t>Other type of digital signatures recently allowed in India is the Aadhaar based signing. Aadhaar ID is a unique identification number issued by the Indian government to all Indian residents. In this method, signers can apply e-signatures to any online document by authenticating their identity using an eKYC service such as OTP (one time passcode) provided by an eSign Service Provider.</a:t>
            </a:r>
            <a:endParaRPr sz="2000">
              <a:solidFill>
                <a:srgbClr val="538CD5"/>
              </a:solidFill>
            </a:endParaRPr>
          </a:p>
        </p:txBody>
      </p:sp>
      <p:sp>
        <p:nvSpPr>
          <p:cNvPr id="328" name="Google Shape;328;p46"/>
          <p:cNvSpPr txBox="1">
            <a:spLocks noGrp="1"/>
          </p:cNvSpPr>
          <p:nvPr>
            <p:ph type="sldNum" idx="12"/>
          </p:nvPr>
        </p:nvSpPr>
        <p:spPr>
          <a:xfrm>
            <a:off x="8534400" y="6400800"/>
            <a:ext cx="457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35</a:t>
            </a:fld>
            <a:endParaRPr/>
          </a:p>
        </p:txBody>
      </p:sp>
      <p:pic>
        <p:nvPicPr>
          <p:cNvPr id="329" name="Google Shape;329;p46"/>
          <p:cNvPicPr preferRelativeResize="0"/>
          <p:nvPr/>
        </p:nvPicPr>
        <p:blipFill rotWithShape="1">
          <a:blip r:embed="rId3">
            <a:alphaModFix/>
          </a:blip>
          <a:srcRect/>
          <a:stretch/>
        </p:blipFill>
        <p:spPr>
          <a:xfrm>
            <a:off x="2279247" y="3583957"/>
            <a:ext cx="4980787" cy="2161749"/>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333"/>
        <p:cNvGrpSpPr/>
        <p:nvPr/>
      </p:nvGrpSpPr>
      <p:grpSpPr>
        <a:xfrm>
          <a:off x="0" y="0"/>
          <a:ext cx="0" cy="0"/>
          <a:chOff x="0" y="0"/>
          <a:chExt cx="0" cy="0"/>
        </a:xfrm>
      </p:grpSpPr>
      <p:sp>
        <p:nvSpPr>
          <p:cNvPr id="334" name="Google Shape;334;p47"/>
          <p:cNvSpPr txBox="1">
            <a:spLocks noGrp="1"/>
          </p:cNvSpPr>
          <p:nvPr>
            <p:ph type="title"/>
          </p:nvPr>
        </p:nvSpPr>
        <p:spPr>
          <a:xfrm>
            <a:off x="0" y="0"/>
            <a:ext cx="9144000" cy="8382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1800"/>
              <a:buNone/>
            </a:pPr>
            <a:r>
              <a:rPr lang="en-US" sz="3200"/>
              <a:t>Cyber law, Technology and Students: Indian Scenario</a:t>
            </a:r>
            <a:endParaRPr sz="3200"/>
          </a:p>
        </p:txBody>
      </p:sp>
      <p:sp>
        <p:nvSpPr>
          <p:cNvPr id="335" name="Google Shape;335;p47"/>
          <p:cNvSpPr txBox="1">
            <a:spLocks noGrp="1"/>
          </p:cNvSpPr>
          <p:nvPr>
            <p:ph type="body" idx="1"/>
          </p:nvPr>
        </p:nvSpPr>
        <p:spPr>
          <a:xfrm>
            <a:off x="228600" y="902825"/>
            <a:ext cx="8763000" cy="5863099"/>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2000"/>
              <a:buNone/>
            </a:pPr>
            <a:r>
              <a:rPr lang="en-US" sz="2000">
                <a:solidFill>
                  <a:srgbClr val="538CD5"/>
                </a:solidFill>
              </a:rPr>
              <a:t>- With newer technologies, we are getting exposed to bigger threats from hackers who are rapidly finding sophisticated ways to conduct cybercrimes. It won’t be wrong to say that such cyber-attacks are gaining ground in the education sector as more and more breaches in schools and higher education are widely reported.</a:t>
            </a:r>
            <a:endParaRPr/>
          </a:p>
          <a:p>
            <a:pPr marL="0" lvl="0" indent="0" algn="l" rtl="0">
              <a:lnSpc>
                <a:spcPct val="100000"/>
              </a:lnSpc>
              <a:spcBef>
                <a:spcPts val="0"/>
              </a:spcBef>
              <a:spcAft>
                <a:spcPts val="0"/>
              </a:spcAft>
              <a:buSzPts val="2000"/>
              <a:buNone/>
            </a:pPr>
            <a:endParaRPr sz="2000">
              <a:solidFill>
                <a:srgbClr val="538CD5"/>
              </a:solidFill>
            </a:endParaRPr>
          </a:p>
          <a:p>
            <a:pPr marL="0" lvl="0" indent="0" algn="l" rtl="0">
              <a:lnSpc>
                <a:spcPct val="100000"/>
              </a:lnSpc>
              <a:spcBef>
                <a:spcPts val="0"/>
              </a:spcBef>
              <a:spcAft>
                <a:spcPts val="0"/>
              </a:spcAft>
              <a:buSzPts val="2000"/>
              <a:buNone/>
            </a:pPr>
            <a:r>
              <a:rPr lang="en-US" sz="2000">
                <a:solidFill>
                  <a:srgbClr val="538CD5"/>
                </a:solidFill>
              </a:rPr>
              <a:t>It, therefore, becomes imperative to cover and protect the education sector with cybersecurity.</a:t>
            </a:r>
            <a:endParaRPr/>
          </a:p>
          <a:p>
            <a:pPr marL="0" lvl="0" indent="0" algn="l" rtl="0">
              <a:lnSpc>
                <a:spcPct val="100000"/>
              </a:lnSpc>
              <a:spcBef>
                <a:spcPts val="0"/>
              </a:spcBef>
              <a:spcAft>
                <a:spcPts val="0"/>
              </a:spcAft>
              <a:buSzPts val="2000"/>
              <a:buNone/>
            </a:pPr>
            <a:endParaRPr sz="2000">
              <a:solidFill>
                <a:srgbClr val="538CD5"/>
              </a:solidFill>
            </a:endParaRPr>
          </a:p>
          <a:p>
            <a:pPr marL="0" lvl="0" indent="0" algn="l" rtl="0">
              <a:lnSpc>
                <a:spcPct val="100000"/>
              </a:lnSpc>
              <a:spcBef>
                <a:spcPts val="0"/>
              </a:spcBef>
              <a:spcAft>
                <a:spcPts val="0"/>
              </a:spcAft>
              <a:buSzPts val="2000"/>
              <a:buNone/>
            </a:pPr>
            <a:r>
              <a:rPr lang="en-US" sz="2000">
                <a:solidFill>
                  <a:srgbClr val="538CD5"/>
                </a:solidFill>
              </a:rPr>
              <a:t>Educational institutes, which are trusted to safeguard students’ safety should have a robust cybersecurity infrastructure that cuts down all risks and leaves no scope for breaches. These institutions must understand that cybersecurity is not just crucial to protect against economical loss and avoid disruption but also vital to protect students from any kind of harm.</a:t>
            </a:r>
            <a:endParaRPr/>
          </a:p>
          <a:p>
            <a:pPr marL="0" lvl="0" indent="0" algn="l" rtl="0">
              <a:lnSpc>
                <a:spcPct val="100000"/>
              </a:lnSpc>
              <a:spcBef>
                <a:spcPts val="0"/>
              </a:spcBef>
              <a:spcAft>
                <a:spcPts val="0"/>
              </a:spcAft>
              <a:buSzPts val="2000"/>
              <a:buNone/>
            </a:pPr>
            <a:endParaRPr sz="2000">
              <a:solidFill>
                <a:srgbClr val="538CD5"/>
              </a:solidFill>
            </a:endParaRPr>
          </a:p>
          <a:p>
            <a:pPr marL="0" lvl="0" indent="0" algn="l" rtl="0">
              <a:lnSpc>
                <a:spcPct val="100000"/>
              </a:lnSpc>
              <a:spcBef>
                <a:spcPts val="0"/>
              </a:spcBef>
              <a:spcAft>
                <a:spcPts val="0"/>
              </a:spcAft>
              <a:buSzPts val="2000"/>
              <a:buNone/>
            </a:pPr>
            <a:r>
              <a:rPr lang="en-US" sz="2000">
                <a:solidFill>
                  <a:srgbClr val="538CD5"/>
                </a:solidFill>
              </a:rPr>
              <a:t>The education sector needs to secure its applications and systems and overcome any challenges that come in the way of cybersecurity.</a:t>
            </a:r>
            <a:endParaRPr sz="2000">
              <a:solidFill>
                <a:srgbClr val="538CD5"/>
              </a:solidFill>
            </a:endParaRPr>
          </a:p>
        </p:txBody>
      </p:sp>
      <p:sp>
        <p:nvSpPr>
          <p:cNvPr id="336" name="Google Shape;336;p47"/>
          <p:cNvSpPr txBox="1">
            <a:spLocks noGrp="1"/>
          </p:cNvSpPr>
          <p:nvPr>
            <p:ph type="sldNum" idx="12"/>
          </p:nvPr>
        </p:nvSpPr>
        <p:spPr>
          <a:xfrm>
            <a:off x="8534400" y="6400800"/>
            <a:ext cx="457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36</a:t>
            </a:fld>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340"/>
        <p:cNvGrpSpPr/>
        <p:nvPr/>
      </p:nvGrpSpPr>
      <p:grpSpPr>
        <a:xfrm>
          <a:off x="0" y="0"/>
          <a:ext cx="0" cy="0"/>
          <a:chOff x="0" y="0"/>
          <a:chExt cx="0" cy="0"/>
        </a:xfrm>
      </p:grpSpPr>
      <p:sp>
        <p:nvSpPr>
          <p:cNvPr id="341" name="Google Shape;341;p48"/>
          <p:cNvSpPr txBox="1">
            <a:spLocks noGrp="1"/>
          </p:cNvSpPr>
          <p:nvPr>
            <p:ph type="title"/>
          </p:nvPr>
        </p:nvSpPr>
        <p:spPr>
          <a:xfrm>
            <a:off x="0" y="0"/>
            <a:ext cx="9144000" cy="8382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1800"/>
              <a:buNone/>
            </a:pPr>
            <a:r>
              <a:rPr lang="en-US" sz="3200"/>
              <a:t>Cyber law, Technology and Students: Indian Scenario</a:t>
            </a:r>
            <a:endParaRPr sz="3200"/>
          </a:p>
        </p:txBody>
      </p:sp>
      <p:sp>
        <p:nvSpPr>
          <p:cNvPr id="342" name="Google Shape;342;p48"/>
          <p:cNvSpPr txBox="1">
            <a:spLocks noGrp="1"/>
          </p:cNvSpPr>
          <p:nvPr>
            <p:ph type="body" idx="1"/>
          </p:nvPr>
        </p:nvSpPr>
        <p:spPr>
          <a:xfrm>
            <a:off x="228600" y="902825"/>
            <a:ext cx="8763000" cy="5863099"/>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2000"/>
              <a:buNone/>
            </a:pPr>
            <a:r>
              <a:rPr lang="en-US" sz="2000">
                <a:solidFill>
                  <a:srgbClr val="538CD5"/>
                </a:solidFill>
              </a:rPr>
              <a:t>Educational institutions are an easy target for espionage as well since they are center points of research and hold prized intellectual property.</a:t>
            </a:r>
            <a:endParaRPr/>
          </a:p>
          <a:p>
            <a:pPr marL="0" lvl="0" indent="0" algn="l" rtl="0">
              <a:lnSpc>
                <a:spcPct val="100000"/>
              </a:lnSpc>
              <a:spcBef>
                <a:spcPts val="0"/>
              </a:spcBef>
              <a:spcAft>
                <a:spcPts val="0"/>
              </a:spcAft>
              <a:buSzPts val="2000"/>
              <a:buNone/>
            </a:pPr>
            <a:endParaRPr sz="2000">
              <a:solidFill>
                <a:srgbClr val="538CD5"/>
              </a:solidFill>
            </a:endParaRPr>
          </a:p>
          <a:p>
            <a:pPr marL="0" lvl="0" indent="0" algn="l" rtl="0">
              <a:lnSpc>
                <a:spcPct val="100000"/>
              </a:lnSpc>
              <a:spcBef>
                <a:spcPts val="0"/>
              </a:spcBef>
              <a:spcAft>
                <a:spcPts val="0"/>
              </a:spcAft>
              <a:buSzPts val="2000"/>
              <a:buNone/>
            </a:pPr>
            <a:r>
              <a:rPr lang="en-US" sz="2000">
                <a:solidFill>
                  <a:srgbClr val="538CD5"/>
                </a:solidFill>
              </a:rPr>
              <a:t>Thus, protection is a must which can be enhanced through training and authentication. Basic training for all users of a network to mitigate the risks of cyber-attacks can protect the network at all access points and reduce the chances of human error. Sharing tips with everyone on safe practices for cybersecurity is another way of going about it.</a:t>
            </a:r>
            <a:endParaRPr/>
          </a:p>
          <a:p>
            <a:pPr marL="0" lvl="0" indent="0" algn="l" rtl="0">
              <a:lnSpc>
                <a:spcPct val="100000"/>
              </a:lnSpc>
              <a:spcBef>
                <a:spcPts val="0"/>
              </a:spcBef>
              <a:spcAft>
                <a:spcPts val="0"/>
              </a:spcAft>
              <a:buSzPts val="2000"/>
              <a:buNone/>
            </a:pPr>
            <a:endParaRPr sz="2000">
              <a:solidFill>
                <a:srgbClr val="538CD5"/>
              </a:solidFill>
            </a:endParaRPr>
          </a:p>
          <a:p>
            <a:pPr marL="0" lvl="0" indent="0" algn="l" rtl="0">
              <a:lnSpc>
                <a:spcPct val="100000"/>
              </a:lnSpc>
              <a:spcBef>
                <a:spcPts val="0"/>
              </a:spcBef>
              <a:spcAft>
                <a:spcPts val="0"/>
              </a:spcAft>
              <a:buSzPts val="2000"/>
              <a:buNone/>
            </a:pPr>
            <a:r>
              <a:rPr lang="en-US" sz="2000">
                <a:solidFill>
                  <a:srgbClr val="538CD5"/>
                </a:solidFill>
              </a:rPr>
              <a:t>Additionally, user-friendly multi-factor authentication (MFA) tool could prove to be a highly economical yet safe way to safeguard against a cyber-attack. The process can prevent authorization access with an added layer of security while logging on to the network.</a:t>
            </a:r>
            <a:endParaRPr/>
          </a:p>
          <a:p>
            <a:pPr marL="0" lvl="0" indent="0" algn="l" rtl="0">
              <a:lnSpc>
                <a:spcPct val="100000"/>
              </a:lnSpc>
              <a:spcBef>
                <a:spcPts val="0"/>
              </a:spcBef>
              <a:spcAft>
                <a:spcPts val="0"/>
              </a:spcAft>
              <a:buSzPts val="2000"/>
              <a:buNone/>
            </a:pPr>
            <a:endParaRPr sz="2000">
              <a:solidFill>
                <a:srgbClr val="538CD5"/>
              </a:solidFill>
            </a:endParaRPr>
          </a:p>
          <a:p>
            <a:pPr marL="0" lvl="0" indent="0" algn="l" rtl="0">
              <a:lnSpc>
                <a:spcPct val="100000"/>
              </a:lnSpc>
              <a:spcBef>
                <a:spcPts val="0"/>
              </a:spcBef>
              <a:spcAft>
                <a:spcPts val="0"/>
              </a:spcAft>
              <a:buSzPts val="2000"/>
              <a:buNone/>
            </a:pPr>
            <a:r>
              <a:rPr lang="en-US" sz="2000">
                <a:solidFill>
                  <a:srgbClr val="538CD5"/>
                </a:solidFill>
              </a:rPr>
              <a:t>Education institutions across the world, including India, have been pushed to operate online from homes owing to the COVID-19 pandemic. As more teachers and students coordinate classes via the internet, they are constantly targeted by hackers through various forms of malware and cyber attacks.</a:t>
            </a:r>
            <a:endParaRPr sz="2000">
              <a:solidFill>
                <a:srgbClr val="538CD5"/>
              </a:solidFill>
            </a:endParaRPr>
          </a:p>
        </p:txBody>
      </p:sp>
      <p:sp>
        <p:nvSpPr>
          <p:cNvPr id="343" name="Google Shape;343;p48"/>
          <p:cNvSpPr txBox="1">
            <a:spLocks noGrp="1"/>
          </p:cNvSpPr>
          <p:nvPr>
            <p:ph type="sldNum" idx="12"/>
          </p:nvPr>
        </p:nvSpPr>
        <p:spPr>
          <a:xfrm>
            <a:off x="8534400" y="6400800"/>
            <a:ext cx="457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37</a:t>
            </a:fld>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347"/>
        <p:cNvGrpSpPr/>
        <p:nvPr/>
      </p:nvGrpSpPr>
      <p:grpSpPr>
        <a:xfrm>
          <a:off x="0" y="0"/>
          <a:ext cx="0" cy="0"/>
          <a:chOff x="0" y="0"/>
          <a:chExt cx="0" cy="0"/>
        </a:xfrm>
      </p:grpSpPr>
      <p:sp>
        <p:nvSpPr>
          <p:cNvPr id="348" name="Google Shape;348;p49"/>
          <p:cNvSpPr txBox="1">
            <a:spLocks noGrp="1"/>
          </p:cNvSpPr>
          <p:nvPr>
            <p:ph type="title"/>
          </p:nvPr>
        </p:nvSpPr>
        <p:spPr>
          <a:xfrm>
            <a:off x="0" y="0"/>
            <a:ext cx="9144000" cy="8382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1800"/>
              <a:buNone/>
            </a:pPr>
            <a:r>
              <a:rPr lang="en-US" sz="3200"/>
              <a:t>Cyber law, Technology and Students: Indian Scenario</a:t>
            </a:r>
            <a:endParaRPr sz="3200"/>
          </a:p>
        </p:txBody>
      </p:sp>
      <p:sp>
        <p:nvSpPr>
          <p:cNvPr id="349" name="Google Shape;349;p49"/>
          <p:cNvSpPr txBox="1">
            <a:spLocks noGrp="1"/>
          </p:cNvSpPr>
          <p:nvPr>
            <p:ph type="body" idx="1"/>
          </p:nvPr>
        </p:nvSpPr>
        <p:spPr>
          <a:xfrm>
            <a:off x="228600" y="902825"/>
            <a:ext cx="8763000" cy="5863099"/>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2000"/>
              <a:buNone/>
            </a:pPr>
            <a:r>
              <a:rPr lang="en-US" sz="2000">
                <a:solidFill>
                  <a:srgbClr val="538CD5"/>
                </a:solidFill>
              </a:rPr>
              <a:t>Spear-phishing attacks on Indian schools and colleges via Gmail have increased in September 2020 following a drop during the summer vacations (July-August). Over more than 1000 schools and colleges were targeted.</a:t>
            </a:r>
            <a:endParaRPr/>
          </a:p>
          <a:p>
            <a:pPr marL="0" lvl="0" indent="0" algn="l" rtl="0">
              <a:lnSpc>
                <a:spcPct val="100000"/>
              </a:lnSpc>
              <a:spcBef>
                <a:spcPts val="0"/>
              </a:spcBef>
              <a:spcAft>
                <a:spcPts val="0"/>
              </a:spcAft>
              <a:buSzPts val="2000"/>
              <a:buNone/>
            </a:pPr>
            <a:endParaRPr sz="2000">
              <a:solidFill>
                <a:srgbClr val="538CD5"/>
              </a:solidFill>
            </a:endParaRPr>
          </a:p>
          <a:p>
            <a:pPr marL="0" lvl="0" indent="0" algn="l" rtl="0">
              <a:lnSpc>
                <a:spcPct val="100000"/>
              </a:lnSpc>
              <a:spcBef>
                <a:spcPts val="0"/>
              </a:spcBef>
              <a:spcAft>
                <a:spcPts val="0"/>
              </a:spcAft>
              <a:buSzPts val="2000"/>
              <a:buNone/>
            </a:pPr>
            <a:r>
              <a:rPr lang="en-US" sz="2000">
                <a:solidFill>
                  <a:srgbClr val="538CD5"/>
                </a:solidFill>
              </a:rPr>
              <a:t>A report says, educational institutions are more than twice as vulnerable to phishing attacks than an average organization.</a:t>
            </a:r>
            <a:endParaRPr/>
          </a:p>
          <a:p>
            <a:pPr marL="0" lvl="0" indent="0" algn="l" rtl="0">
              <a:lnSpc>
                <a:spcPct val="100000"/>
              </a:lnSpc>
              <a:spcBef>
                <a:spcPts val="0"/>
              </a:spcBef>
              <a:spcAft>
                <a:spcPts val="0"/>
              </a:spcAft>
              <a:buSzPts val="2000"/>
              <a:buNone/>
            </a:pPr>
            <a:endParaRPr sz="2000">
              <a:solidFill>
                <a:srgbClr val="538CD5"/>
              </a:solidFill>
            </a:endParaRPr>
          </a:p>
          <a:p>
            <a:pPr marL="0" lvl="0" indent="0" algn="l" rtl="0">
              <a:lnSpc>
                <a:spcPct val="100000"/>
              </a:lnSpc>
              <a:spcBef>
                <a:spcPts val="0"/>
              </a:spcBef>
              <a:spcAft>
                <a:spcPts val="0"/>
              </a:spcAft>
              <a:buSzPts val="2000"/>
              <a:buNone/>
            </a:pPr>
            <a:r>
              <a:rPr lang="en-US" sz="2000">
                <a:solidFill>
                  <a:srgbClr val="538CD5"/>
                </a:solidFill>
              </a:rPr>
              <a:t>With the latest technology used by students, lack of awareness and understanding of cyber risks have led that they are highly exposed to the cyber attacks especially due to COVID 19 situation.</a:t>
            </a:r>
            <a:endParaRPr/>
          </a:p>
          <a:p>
            <a:pPr marL="0" lvl="0" indent="0" algn="l" rtl="0">
              <a:lnSpc>
                <a:spcPct val="100000"/>
              </a:lnSpc>
              <a:spcBef>
                <a:spcPts val="0"/>
              </a:spcBef>
              <a:spcAft>
                <a:spcPts val="0"/>
              </a:spcAft>
              <a:buSzPts val="2000"/>
              <a:buNone/>
            </a:pPr>
            <a:endParaRPr sz="2000">
              <a:solidFill>
                <a:srgbClr val="538CD5"/>
              </a:solidFill>
            </a:endParaRPr>
          </a:p>
          <a:p>
            <a:pPr marL="0" lvl="0" indent="0" algn="l" rtl="0">
              <a:lnSpc>
                <a:spcPct val="100000"/>
              </a:lnSpc>
              <a:spcBef>
                <a:spcPts val="0"/>
              </a:spcBef>
              <a:spcAft>
                <a:spcPts val="0"/>
              </a:spcAft>
              <a:buSzPts val="2000"/>
              <a:buNone/>
            </a:pPr>
            <a:r>
              <a:rPr lang="en-US" sz="2000">
                <a:solidFill>
                  <a:srgbClr val="538CD5"/>
                </a:solidFill>
              </a:rPr>
              <a:t>The students should be aware of these attacks and should take precautions while using various technologies on devices like computer, laptop, mobiles etc. since cyber attackers use cutting edge technologies and methods to exploit the students in India.</a:t>
            </a:r>
            <a:endParaRPr/>
          </a:p>
          <a:p>
            <a:pPr marL="0" lvl="0" indent="0" algn="l" rtl="0">
              <a:lnSpc>
                <a:spcPct val="100000"/>
              </a:lnSpc>
              <a:spcBef>
                <a:spcPts val="0"/>
              </a:spcBef>
              <a:spcAft>
                <a:spcPts val="0"/>
              </a:spcAft>
              <a:buSzPts val="2000"/>
              <a:buNone/>
            </a:pPr>
            <a:endParaRPr sz="2000">
              <a:solidFill>
                <a:srgbClr val="538CD5"/>
              </a:solidFill>
            </a:endParaRPr>
          </a:p>
          <a:p>
            <a:pPr marL="0" lvl="0" indent="0" algn="l" rtl="0">
              <a:lnSpc>
                <a:spcPct val="100000"/>
              </a:lnSpc>
              <a:spcBef>
                <a:spcPts val="0"/>
              </a:spcBef>
              <a:spcAft>
                <a:spcPts val="0"/>
              </a:spcAft>
              <a:buSzPts val="2000"/>
              <a:buNone/>
            </a:pPr>
            <a:endParaRPr sz="2000">
              <a:solidFill>
                <a:srgbClr val="538CD5"/>
              </a:solidFill>
            </a:endParaRPr>
          </a:p>
        </p:txBody>
      </p:sp>
      <p:sp>
        <p:nvSpPr>
          <p:cNvPr id="350" name="Google Shape;350;p49"/>
          <p:cNvSpPr txBox="1">
            <a:spLocks noGrp="1"/>
          </p:cNvSpPr>
          <p:nvPr>
            <p:ph type="sldNum" idx="12"/>
          </p:nvPr>
        </p:nvSpPr>
        <p:spPr>
          <a:xfrm>
            <a:off x="8534400" y="6400800"/>
            <a:ext cx="457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38</a:t>
            </a:fld>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347"/>
        <p:cNvGrpSpPr/>
        <p:nvPr/>
      </p:nvGrpSpPr>
      <p:grpSpPr>
        <a:xfrm>
          <a:off x="0" y="0"/>
          <a:ext cx="0" cy="0"/>
          <a:chOff x="0" y="0"/>
          <a:chExt cx="0" cy="0"/>
        </a:xfrm>
      </p:grpSpPr>
      <p:sp>
        <p:nvSpPr>
          <p:cNvPr id="348" name="Google Shape;348;p49"/>
          <p:cNvSpPr txBox="1">
            <a:spLocks noGrp="1"/>
          </p:cNvSpPr>
          <p:nvPr>
            <p:ph type="title"/>
          </p:nvPr>
        </p:nvSpPr>
        <p:spPr>
          <a:xfrm>
            <a:off x="0" y="0"/>
            <a:ext cx="9144000" cy="8382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1800"/>
              <a:buNone/>
            </a:pPr>
            <a:r>
              <a:rPr lang="en-US" sz="3200" dirty="0"/>
              <a:t>Latest News</a:t>
            </a:r>
            <a:endParaRPr sz="3200" dirty="0"/>
          </a:p>
        </p:txBody>
      </p:sp>
      <p:sp>
        <p:nvSpPr>
          <p:cNvPr id="349" name="Google Shape;349;p49"/>
          <p:cNvSpPr txBox="1">
            <a:spLocks noGrp="1"/>
          </p:cNvSpPr>
          <p:nvPr>
            <p:ph type="body" idx="1"/>
          </p:nvPr>
        </p:nvSpPr>
        <p:spPr>
          <a:xfrm>
            <a:off x="228600" y="902825"/>
            <a:ext cx="8763000" cy="5863099"/>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2000"/>
              <a:buNone/>
            </a:pPr>
            <a:endParaRPr sz="2000" dirty="0">
              <a:solidFill>
                <a:srgbClr val="538CD5"/>
              </a:solidFill>
            </a:endParaRPr>
          </a:p>
        </p:txBody>
      </p:sp>
      <p:sp>
        <p:nvSpPr>
          <p:cNvPr id="350" name="Google Shape;350;p49"/>
          <p:cNvSpPr txBox="1">
            <a:spLocks noGrp="1"/>
          </p:cNvSpPr>
          <p:nvPr>
            <p:ph type="sldNum" idx="12"/>
          </p:nvPr>
        </p:nvSpPr>
        <p:spPr>
          <a:xfrm>
            <a:off x="8534400" y="6400800"/>
            <a:ext cx="457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39</a:t>
            </a:fld>
            <a:endParaRPr/>
          </a:p>
        </p:txBody>
      </p:sp>
      <p:pic>
        <p:nvPicPr>
          <p:cNvPr id="3" name="Picture 2">
            <a:extLst>
              <a:ext uri="{FF2B5EF4-FFF2-40B4-BE49-F238E27FC236}">
                <a16:creationId xmlns:a16="http://schemas.microsoft.com/office/drawing/2014/main" id="{636ADF9D-1783-7DB1-CCFC-1DFA39CE265A}"/>
              </a:ext>
            </a:extLst>
          </p:cNvPr>
          <p:cNvPicPr>
            <a:picLocks noChangeAspect="1"/>
          </p:cNvPicPr>
          <p:nvPr/>
        </p:nvPicPr>
        <p:blipFill>
          <a:blip r:embed="rId3"/>
          <a:stretch>
            <a:fillRect/>
          </a:stretch>
        </p:blipFill>
        <p:spPr>
          <a:xfrm>
            <a:off x="2026716" y="1010919"/>
            <a:ext cx="4709568" cy="5646909"/>
          </a:xfrm>
          <a:prstGeom prst="rect">
            <a:avLst/>
          </a:prstGeom>
        </p:spPr>
      </p:pic>
    </p:spTree>
    <p:extLst>
      <p:ext uri="{BB962C8B-B14F-4D97-AF65-F5344CB8AC3E}">
        <p14:creationId xmlns:p14="http://schemas.microsoft.com/office/powerpoint/2010/main" val="147346044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347"/>
        <p:cNvGrpSpPr/>
        <p:nvPr/>
      </p:nvGrpSpPr>
      <p:grpSpPr>
        <a:xfrm>
          <a:off x="0" y="0"/>
          <a:ext cx="0" cy="0"/>
          <a:chOff x="0" y="0"/>
          <a:chExt cx="0" cy="0"/>
        </a:xfrm>
      </p:grpSpPr>
      <p:sp>
        <p:nvSpPr>
          <p:cNvPr id="348" name="Google Shape;348;p49"/>
          <p:cNvSpPr txBox="1">
            <a:spLocks noGrp="1"/>
          </p:cNvSpPr>
          <p:nvPr>
            <p:ph type="title"/>
          </p:nvPr>
        </p:nvSpPr>
        <p:spPr>
          <a:xfrm>
            <a:off x="0" y="0"/>
            <a:ext cx="9144000" cy="8382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1800"/>
              <a:buNone/>
            </a:pPr>
            <a:r>
              <a:rPr lang="en-US" sz="3200" dirty="0"/>
              <a:t>Latest News</a:t>
            </a:r>
            <a:endParaRPr sz="3200" dirty="0"/>
          </a:p>
        </p:txBody>
      </p:sp>
      <p:sp>
        <p:nvSpPr>
          <p:cNvPr id="349" name="Google Shape;349;p49"/>
          <p:cNvSpPr txBox="1">
            <a:spLocks noGrp="1"/>
          </p:cNvSpPr>
          <p:nvPr>
            <p:ph type="body" idx="1"/>
          </p:nvPr>
        </p:nvSpPr>
        <p:spPr>
          <a:xfrm>
            <a:off x="228600" y="902825"/>
            <a:ext cx="8763000" cy="5863099"/>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2000"/>
              <a:buNone/>
            </a:pPr>
            <a:endParaRPr sz="2000" dirty="0">
              <a:solidFill>
                <a:srgbClr val="538CD5"/>
              </a:solidFill>
            </a:endParaRPr>
          </a:p>
        </p:txBody>
      </p:sp>
      <p:sp>
        <p:nvSpPr>
          <p:cNvPr id="350" name="Google Shape;350;p49"/>
          <p:cNvSpPr txBox="1">
            <a:spLocks noGrp="1"/>
          </p:cNvSpPr>
          <p:nvPr>
            <p:ph type="sldNum" idx="12"/>
          </p:nvPr>
        </p:nvSpPr>
        <p:spPr>
          <a:xfrm>
            <a:off x="8534400" y="6400800"/>
            <a:ext cx="457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40</a:t>
            </a:fld>
            <a:endParaRPr/>
          </a:p>
        </p:txBody>
      </p:sp>
      <p:pic>
        <p:nvPicPr>
          <p:cNvPr id="4" name="Picture 3">
            <a:extLst>
              <a:ext uri="{FF2B5EF4-FFF2-40B4-BE49-F238E27FC236}">
                <a16:creationId xmlns:a16="http://schemas.microsoft.com/office/drawing/2014/main" id="{57C4033E-35B2-06DA-762F-C08C7C2D6CF4}"/>
              </a:ext>
            </a:extLst>
          </p:cNvPr>
          <p:cNvPicPr>
            <a:picLocks noChangeAspect="1"/>
          </p:cNvPicPr>
          <p:nvPr/>
        </p:nvPicPr>
        <p:blipFill>
          <a:blip r:embed="rId3"/>
          <a:stretch>
            <a:fillRect/>
          </a:stretch>
        </p:blipFill>
        <p:spPr>
          <a:xfrm>
            <a:off x="3181229" y="1836282"/>
            <a:ext cx="2781541" cy="3185436"/>
          </a:xfrm>
          <a:prstGeom prst="rect">
            <a:avLst/>
          </a:prstGeom>
        </p:spPr>
      </p:pic>
    </p:spTree>
    <p:extLst>
      <p:ext uri="{BB962C8B-B14F-4D97-AF65-F5344CB8AC3E}">
        <p14:creationId xmlns:p14="http://schemas.microsoft.com/office/powerpoint/2010/main" val="332854766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347"/>
        <p:cNvGrpSpPr/>
        <p:nvPr/>
      </p:nvGrpSpPr>
      <p:grpSpPr>
        <a:xfrm>
          <a:off x="0" y="0"/>
          <a:ext cx="0" cy="0"/>
          <a:chOff x="0" y="0"/>
          <a:chExt cx="0" cy="0"/>
        </a:xfrm>
      </p:grpSpPr>
      <p:sp>
        <p:nvSpPr>
          <p:cNvPr id="348" name="Google Shape;348;p49"/>
          <p:cNvSpPr txBox="1">
            <a:spLocks noGrp="1"/>
          </p:cNvSpPr>
          <p:nvPr>
            <p:ph type="title"/>
          </p:nvPr>
        </p:nvSpPr>
        <p:spPr>
          <a:xfrm>
            <a:off x="0" y="0"/>
            <a:ext cx="9144000" cy="8382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1800"/>
              <a:buNone/>
            </a:pPr>
            <a:r>
              <a:rPr lang="en-US" sz="3200" dirty="0"/>
              <a:t>Latest News</a:t>
            </a:r>
            <a:endParaRPr sz="3200" dirty="0"/>
          </a:p>
        </p:txBody>
      </p:sp>
      <p:sp>
        <p:nvSpPr>
          <p:cNvPr id="349" name="Google Shape;349;p49"/>
          <p:cNvSpPr txBox="1">
            <a:spLocks noGrp="1"/>
          </p:cNvSpPr>
          <p:nvPr>
            <p:ph type="body" idx="1"/>
          </p:nvPr>
        </p:nvSpPr>
        <p:spPr>
          <a:xfrm>
            <a:off x="228600" y="902825"/>
            <a:ext cx="8763000" cy="5863099"/>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2000"/>
              <a:buNone/>
            </a:pPr>
            <a:r>
              <a:rPr lang="en-US" sz="2000" dirty="0">
                <a:solidFill>
                  <a:srgbClr val="538CD5"/>
                </a:solidFill>
              </a:rPr>
              <a:t>The Pimpri Chinchwad police have filed two cases against seven different internet users for uploading child pornography or child sexual exploitation content online.</a:t>
            </a:r>
          </a:p>
          <a:p>
            <a:pPr marL="0" lvl="0" indent="0" algn="l" rtl="0">
              <a:lnSpc>
                <a:spcPct val="100000"/>
              </a:lnSpc>
              <a:spcBef>
                <a:spcPts val="0"/>
              </a:spcBef>
              <a:spcAft>
                <a:spcPts val="0"/>
              </a:spcAft>
              <a:buSzPts val="2000"/>
              <a:buNone/>
            </a:pPr>
            <a:endParaRPr lang="en-US" sz="2000" dirty="0">
              <a:solidFill>
                <a:srgbClr val="538CD5"/>
              </a:solidFill>
            </a:endParaRPr>
          </a:p>
          <a:p>
            <a:pPr marL="0" lvl="0" indent="0" algn="l" rtl="0">
              <a:lnSpc>
                <a:spcPct val="100000"/>
              </a:lnSpc>
              <a:spcBef>
                <a:spcPts val="0"/>
              </a:spcBef>
              <a:spcAft>
                <a:spcPts val="0"/>
              </a:spcAft>
              <a:buSzPts val="2000"/>
              <a:buNone/>
            </a:pPr>
            <a:r>
              <a:rPr lang="en-US" sz="2000" dirty="0">
                <a:solidFill>
                  <a:srgbClr val="538CD5"/>
                </a:solidFill>
              </a:rPr>
              <a:t>The two cases were registered following ‘Tipline reports’ generated from an arrangement between the National Crime Records Bureau (NCRB) of India and the National Centre for Missing and Exploited Children (NCMEC), based in the US.</a:t>
            </a:r>
          </a:p>
          <a:p>
            <a:pPr marL="0" lvl="0" indent="0" algn="l" rtl="0">
              <a:lnSpc>
                <a:spcPct val="100000"/>
              </a:lnSpc>
              <a:spcBef>
                <a:spcPts val="0"/>
              </a:spcBef>
              <a:spcAft>
                <a:spcPts val="0"/>
              </a:spcAft>
              <a:buSzPts val="2000"/>
              <a:buNone/>
            </a:pPr>
            <a:endParaRPr lang="en-US" sz="2000" dirty="0">
              <a:solidFill>
                <a:srgbClr val="538CD5"/>
              </a:solidFill>
            </a:endParaRPr>
          </a:p>
          <a:p>
            <a:pPr marL="0" lvl="0" indent="0" algn="l" rtl="0">
              <a:lnSpc>
                <a:spcPct val="100000"/>
              </a:lnSpc>
              <a:spcBef>
                <a:spcPts val="0"/>
              </a:spcBef>
              <a:spcAft>
                <a:spcPts val="0"/>
              </a:spcAft>
              <a:buSzPts val="2000"/>
              <a:buNone/>
            </a:pPr>
            <a:r>
              <a:rPr lang="en-US" sz="2000" dirty="0">
                <a:solidFill>
                  <a:srgbClr val="538CD5"/>
                </a:solidFill>
              </a:rPr>
              <a:t>The NCMEC generates a ‘Tipline report’ after it gets a tip about content linked to child pornography or child sexual exploitation, verifies it and determines the possible location of the suspect. The report is made available to the concerned law enforcement agency of the country, which in India’s case, is the NCRB. The NCRB forwards this information to state police authorities.</a:t>
            </a:r>
          </a:p>
          <a:p>
            <a:pPr marL="0" lvl="0" indent="0" algn="l" rtl="0">
              <a:lnSpc>
                <a:spcPct val="100000"/>
              </a:lnSpc>
              <a:spcBef>
                <a:spcPts val="0"/>
              </a:spcBef>
              <a:spcAft>
                <a:spcPts val="0"/>
              </a:spcAft>
              <a:buSzPts val="2000"/>
              <a:buNone/>
            </a:pPr>
            <a:endParaRPr lang="en-US" sz="2000" dirty="0">
              <a:solidFill>
                <a:srgbClr val="538CD5"/>
              </a:solidFill>
            </a:endParaRPr>
          </a:p>
          <a:p>
            <a:pPr marL="0" lvl="0" indent="0" algn="l" rtl="0">
              <a:lnSpc>
                <a:spcPct val="100000"/>
              </a:lnSpc>
              <a:spcBef>
                <a:spcPts val="0"/>
              </a:spcBef>
              <a:spcAft>
                <a:spcPts val="0"/>
              </a:spcAft>
              <a:buSzPts val="2000"/>
              <a:buNone/>
            </a:pPr>
            <a:r>
              <a:rPr lang="en-US" sz="2000" dirty="0">
                <a:solidFill>
                  <a:srgbClr val="538CD5"/>
                </a:solidFill>
              </a:rPr>
              <a:t>It was based on seven such ‘Tipline reports’ that the Pimpri Chinchwad police registered two separate offences at </a:t>
            </a:r>
            <a:r>
              <a:rPr lang="en-US" sz="2000" dirty="0" err="1">
                <a:solidFill>
                  <a:srgbClr val="538CD5"/>
                </a:solidFill>
              </a:rPr>
              <a:t>Wakad</a:t>
            </a:r>
            <a:r>
              <a:rPr lang="en-US" sz="2000" dirty="0">
                <a:solidFill>
                  <a:srgbClr val="538CD5"/>
                </a:solidFill>
              </a:rPr>
              <a:t> and Chinchwad police stations on Wednesday. In the case registered at </a:t>
            </a:r>
            <a:r>
              <a:rPr lang="en-US" sz="2000" dirty="0" err="1">
                <a:solidFill>
                  <a:srgbClr val="538CD5"/>
                </a:solidFill>
              </a:rPr>
              <a:t>Wakad</a:t>
            </a:r>
            <a:r>
              <a:rPr lang="en-US" sz="2000" dirty="0">
                <a:solidFill>
                  <a:srgbClr val="538CD5"/>
                </a:solidFill>
              </a:rPr>
              <a:t> police station, two users who posted child pornography or child sexual exploitation content in May and June 2021 were booked. In the offence registered at Chinchwad police station, five users who posted such content between August 2020 and August 2021 were booked.</a:t>
            </a:r>
            <a:endParaRPr lang="en-IN" sz="2000" dirty="0">
              <a:solidFill>
                <a:srgbClr val="538CD5"/>
              </a:solidFill>
            </a:endParaRPr>
          </a:p>
        </p:txBody>
      </p:sp>
      <p:sp>
        <p:nvSpPr>
          <p:cNvPr id="350" name="Google Shape;350;p49"/>
          <p:cNvSpPr txBox="1">
            <a:spLocks noGrp="1"/>
          </p:cNvSpPr>
          <p:nvPr>
            <p:ph type="sldNum" idx="12"/>
          </p:nvPr>
        </p:nvSpPr>
        <p:spPr>
          <a:xfrm>
            <a:off x="8534400" y="6400800"/>
            <a:ext cx="457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41</a:t>
            </a:fld>
            <a:endParaRPr/>
          </a:p>
        </p:txBody>
      </p:sp>
    </p:spTree>
    <p:extLst>
      <p:ext uri="{BB962C8B-B14F-4D97-AF65-F5344CB8AC3E}">
        <p14:creationId xmlns:p14="http://schemas.microsoft.com/office/powerpoint/2010/main" val="335291112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347"/>
        <p:cNvGrpSpPr/>
        <p:nvPr/>
      </p:nvGrpSpPr>
      <p:grpSpPr>
        <a:xfrm>
          <a:off x="0" y="0"/>
          <a:ext cx="0" cy="0"/>
          <a:chOff x="0" y="0"/>
          <a:chExt cx="0" cy="0"/>
        </a:xfrm>
      </p:grpSpPr>
      <p:sp>
        <p:nvSpPr>
          <p:cNvPr id="348" name="Google Shape;348;p49"/>
          <p:cNvSpPr txBox="1">
            <a:spLocks noGrp="1"/>
          </p:cNvSpPr>
          <p:nvPr>
            <p:ph type="title"/>
          </p:nvPr>
        </p:nvSpPr>
        <p:spPr>
          <a:xfrm>
            <a:off x="0" y="0"/>
            <a:ext cx="9144000" cy="8382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1800"/>
              <a:buNone/>
            </a:pPr>
            <a:r>
              <a:rPr lang="en-US" sz="3200" dirty="0"/>
              <a:t>Latest News</a:t>
            </a:r>
            <a:endParaRPr sz="3200" dirty="0"/>
          </a:p>
        </p:txBody>
      </p:sp>
      <p:sp>
        <p:nvSpPr>
          <p:cNvPr id="349" name="Google Shape;349;p49"/>
          <p:cNvSpPr txBox="1">
            <a:spLocks noGrp="1"/>
          </p:cNvSpPr>
          <p:nvPr>
            <p:ph type="body" idx="1"/>
          </p:nvPr>
        </p:nvSpPr>
        <p:spPr>
          <a:xfrm>
            <a:off x="228600" y="902825"/>
            <a:ext cx="8763000" cy="5863099"/>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2000"/>
              <a:buNone/>
            </a:pPr>
            <a:r>
              <a:rPr lang="en-US" sz="2000" dirty="0">
                <a:solidFill>
                  <a:srgbClr val="538CD5"/>
                </a:solidFill>
              </a:rPr>
              <a:t>In both cases, the police invoked the Information Technology Act, 2000 and Protection of Children from Sexual Offences Act, 2012. The police have also launched a probe into the cell phone numbers, email addresses and social media accounts used by the offenders to upload the content. In most of these cases, the content was uploaded on social media websites.</a:t>
            </a:r>
          </a:p>
          <a:p>
            <a:pPr marL="0" lvl="0" indent="0" algn="l" rtl="0">
              <a:lnSpc>
                <a:spcPct val="100000"/>
              </a:lnSpc>
              <a:spcBef>
                <a:spcPts val="0"/>
              </a:spcBef>
              <a:spcAft>
                <a:spcPts val="0"/>
              </a:spcAft>
              <a:buSzPts val="2000"/>
              <a:buNone/>
            </a:pPr>
            <a:endParaRPr lang="en-US" sz="2000" dirty="0">
              <a:solidFill>
                <a:srgbClr val="538CD5"/>
              </a:solidFill>
            </a:endParaRPr>
          </a:p>
          <a:p>
            <a:pPr marL="0" lvl="0" indent="0" algn="l" rtl="0">
              <a:lnSpc>
                <a:spcPct val="100000"/>
              </a:lnSpc>
              <a:spcBef>
                <a:spcPts val="0"/>
              </a:spcBef>
              <a:spcAft>
                <a:spcPts val="0"/>
              </a:spcAft>
              <a:buSzPts val="2000"/>
              <a:buNone/>
            </a:pPr>
            <a:r>
              <a:rPr lang="en-US" sz="2000" dirty="0">
                <a:solidFill>
                  <a:srgbClr val="538CD5"/>
                </a:solidFill>
              </a:rPr>
              <a:t>Since 2019, thousands of ‘Tipline reports’ have been generated about child pornography or child sexual exploitation content being posted online from India. Once individual police stations get the reports, they are registered as FIRs and are investigated. Maharashtra Cyber, the cyber crime and cyber security wing of the state police, is the nodal agency for such cases in the state.</a:t>
            </a:r>
            <a:endParaRPr lang="en-IN" sz="2000" dirty="0">
              <a:solidFill>
                <a:srgbClr val="538CD5"/>
              </a:solidFill>
            </a:endParaRPr>
          </a:p>
        </p:txBody>
      </p:sp>
      <p:sp>
        <p:nvSpPr>
          <p:cNvPr id="350" name="Google Shape;350;p49"/>
          <p:cNvSpPr txBox="1">
            <a:spLocks noGrp="1"/>
          </p:cNvSpPr>
          <p:nvPr>
            <p:ph type="sldNum" idx="12"/>
          </p:nvPr>
        </p:nvSpPr>
        <p:spPr>
          <a:xfrm>
            <a:off x="8534400" y="6400800"/>
            <a:ext cx="457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42</a:t>
            </a:fld>
            <a:endParaRPr/>
          </a:p>
        </p:txBody>
      </p:sp>
    </p:spTree>
    <p:extLst>
      <p:ext uri="{BB962C8B-B14F-4D97-AF65-F5344CB8AC3E}">
        <p14:creationId xmlns:p14="http://schemas.microsoft.com/office/powerpoint/2010/main" val="383409558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347"/>
        <p:cNvGrpSpPr/>
        <p:nvPr/>
      </p:nvGrpSpPr>
      <p:grpSpPr>
        <a:xfrm>
          <a:off x="0" y="0"/>
          <a:ext cx="0" cy="0"/>
          <a:chOff x="0" y="0"/>
          <a:chExt cx="0" cy="0"/>
        </a:xfrm>
      </p:grpSpPr>
      <p:sp>
        <p:nvSpPr>
          <p:cNvPr id="348" name="Google Shape;348;p49"/>
          <p:cNvSpPr txBox="1">
            <a:spLocks noGrp="1"/>
          </p:cNvSpPr>
          <p:nvPr>
            <p:ph type="title"/>
          </p:nvPr>
        </p:nvSpPr>
        <p:spPr>
          <a:xfrm>
            <a:off x="0" y="0"/>
            <a:ext cx="9144000" cy="8382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1800"/>
              <a:buNone/>
            </a:pPr>
            <a:r>
              <a:rPr lang="en-US" sz="3200" dirty="0"/>
              <a:t>Latest News</a:t>
            </a:r>
            <a:endParaRPr sz="3200" dirty="0"/>
          </a:p>
        </p:txBody>
      </p:sp>
      <p:sp>
        <p:nvSpPr>
          <p:cNvPr id="349" name="Google Shape;349;p49"/>
          <p:cNvSpPr txBox="1">
            <a:spLocks noGrp="1"/>
          </p:cNvSpPr>
          <p:nvPr>
            <p:ph type="body" idx="1"/>
          </p:nvPr>
        </p:nvSpPr>
        <p:spPr>
          <a:xfrm>
            <a:off x="228600" y="902825"/>
            <a:ext cx="8763000" cy="5863099"/>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2000"/>
              <a:buNone/>
            </a:pPr>
            <a:r>
              <a:rPr lang="en-US" sz="2000" b="1" dirty="0">
                <a:solidFill>
                  <a:srgbClr val="538CD5"/>
                </a:solidFill>
              </a:rPr>
              <a:t>CBI Launches Operation </a:t>
            </a:r>
            <a:r>
              <a:rPr lang="en-US" sz="2000" b="1" dirty="0" err="1">
                <a:solidFill>
                  <a:srgbClr val="538CD5"/>
                </a:solidFill>
              </a:rPr>
              <a:t>Meghchakra</a:t>
            </a:r>
            <a:r>
              <a:rPr lang="en-US" sz="2000" b="1" dirty="0">
                <a:solidFill>
                  <a:srgbClr val="538CD5"/>
                </a:solidFill>
              </a:rPr>
              <a:t>, The Biggest Crackdown On Child Porn, Raid In 20 States</a:t>
            </a:r>
          </a:p>
          <a:p>
            <a:pPr marL="0" lvl="0" indent="0" algn="l" rtl="0">
              <a:lnSpc>
                <a:spcPct val="100000"/>
              </a:lnSpc>
              <a:spcBef>
                <a:spcPts val="0"/>
              </a:spcBef>
              <a:spcAft>
                <a:spcPts val="0"/>
              </a:spcAft>
              <a:buSzPts val="2000"/>
              <a:buNone/>
            </a:pPr>
            <a:endParaRPr lang="en-US" sz="2000" dirty="0">
              <a:solidFill>
                <a:srgbClr val="538CD5"/>
              </a:solidFill>
            </a:endParaRPr>
          </a:p>
          <a:p>
            <a:pPr marL="0" lvl="0" indent="0" algn="l" rtl="0">
              <a:lnSpc>
                <a:spcPct val="100000"/>
              </a:lnSpc>
              <a:spcBef>
                <a:spcPts val="0"/>
              </a:spcBef>
              <a:spcAft>
                <a:spcPts val="0"/>
              </a:spcAft>
              <a:buSzPts val="2000"/>
              <a:buNone/>
            </a:pPr>
            <a:r>
              <a:rPr lang="en-US" sz="2000" dirty="0">
                <a:solidFill>
                  <a:srgbClr val="538CD5"/>
                </a:solidFill>
              </a:rPr>
              <a:t>The Central Bureau of Investigation (CBI) has launched a massive nationwide crackdown on child pornography, with raids at 56 locations across 20 states on Saturday.</a:t>
            </a:r>
          </a:p>
          <a:p>
            <a:pPr marL="0" lvl="0" indent="0" algn="l" rtl="0">
              <a:lnSpc>
                <a:spcPct val="100000"/>
              </a:lnSpc>
              <a:spcBef>
                <a:spcPts val="0"/>
              </a:spcBef>
              <a:spcAft>
                <a:spcPts val="0"/>
              </a:spcAft>
              <a:buSzPts val="2000"/>
              <a:buNone/>
            </a:pPr>
            <a:endParaRPr lang="en-US" sz="2000" dirty="0">
              <a:solidFill>
                <a:srgbClr val="538CD5"/>
              </a:solidFill>
            </a:endParaRPr>
          </a:p>
          <a:p>
            <a:pPr marL="0" lvl="0" indent="0" algn="l" rtl="0">
              <a:lnSpc>
                <a:spcPct val="100000"/>
              </a:lnSpc>
              <a:spcBef>
                <a:spcPts val="0"/>
              </a:spcBef>
              <a:spcAft>
                <a:spcPts val="0"/>
              </a:spcAft>
              <a:buSzPts val="2000"/>
              <a:buNone/>
            </a:pPr>
            <a:r>
              <a:rPr lang="en-US" sz="2000" dirty="0">
                <a:solidFill>
                  <a:srgbClr val="538CD5"/>
                </a:solidFill>
              </a:rPr>
              <a:t>According to reports, the operation has been code-named Operation </a:t>
            </a:r>
            <a:r>
              <a:rPr lang="en-US" sz="2000" dirty="0" err="1">
                <a:solidFill>
                  <a:srgbClr val="538CD5"/>
                </a:solidFill>
              </a:rPr>
              <a:t>Meghchakra</a:t>
            </a:r>
            <a:r>
              <a:rPr lang="en-US" sz="2000" dirty="0">
                <a:solidFill>
                  <a:srgbClr val="538CD5"/>
                </a:solidFill>
              </a:rPr>
              <a:t> and is the biggest crackdown on child pornography by the agency to date.</a:t>
            </a:r>
          </a:p>
          <a:p>
            <a:pPr marL="0" lvl="0" indent="0" algn="l" rtl="0">
              <a:lnSpc>
                <a:spcPct val="100000"/>
              </a:lnSpc>
              <a:spcBef>
                <a:spcPts val="0"/>
              </a:spcBef>
              <a:spcAft>
                <a:spcPts val="0"/>
              </a:spcAft>
              <a:buSzPts val="2000"/>
              <a:buNone/>
            </a:pPr>
            <a:endParaRPr lang="en-US" sz="2000" dirty="0">
              <a:solidFill>
                <a:srgbClr val="538CD5"/>
              </a:solidFill>
            </a:endParaRPr>
          </a:p>
          <a:p>
            <a:pPr marL="0" lvl="0" indent="0" algn="l" rtl="0">
              <a:lnSpc>
                <a:spcPct val="100000"/>
              </a:lnSpc>
              <a:spcBef>
                <a:spcPts val="0"/>
              </a:spcBef>
              <a:spcAft>
                <a:spcPts val="0"/>
              </a:spcAft>
              <a:buSzPts val="2000"/>
              <a:buNone/>
            </a:pPr>
            <a:r>
              <a:rPr lang="en-US" sz="2000" dirty="0">
                <a:solidFill>
                  <a:srgbClr val="538CD5"/>
                </a:solidFill>
              </a:rPr>
              <a:t>Some 200 CBI officials have been involved in the crackdown, based on inputs from Interpol's Singapore-based Crime Against Child Unit against peddlers of Child Sexual Abuse Material (CSAM) are using cloud storage to circulate them online.</a:t>
            </a:r>
          </a:p>
          <a:p>
            <a:pPr marL="0" lvl="0" indent="0" algn="l" rtl="0">
              <a:lnSpc>
                <a:spcPct val="100000"/>
              </a:lnSpc>
              <a:spcBef>
                <a:spcPts val="0"/>
              </a:spcBef>
              <a:spcAft>
                <a:spcPts val="0"/>
              </a:spcAft>
              <a:buSzPts val="2000"/>
              <a:buNone/>
            </a:pPr>
            <a:endParaRPr lang="en-US" sz="2000" dirty="0">
              <a:solidFill>
                <a:srgbClr val="538CD5"/>
              </a:solidFill>
            </a:endParaRPr>
          </a:p>
          <a:p>
            <a:pPr marL="0" lvl="0" indent="0" algn="l" rtl="0">
              <a:lnSpc>
                <a:spcPct val="100000"/>
              </a:lnSpc>
              <a:spcBef>
                <a:spcPts val="0"/>
              </a:spcBef>
              <a:spcAft>
                <a:spcPts val="0"/>
              </a:spcAft>
              <a:buSzPts val="2000"/>
              <a:buNone/>
            </a:pPr>
            <a:r>
              <a:rPr lang="en-US" sz="2000" dirty="0">
                <a:solidFill>
                  <a:srgbClr val="538CD5"/>
                </a:solidFill>
              </a:rPr>
              <a:t>The ongoing operation was a follow-up of raids that were conducted in November 2021 in connection with the same crime, when it was named 'Operation Carbon'.</a:t>
            </a:r>
            <a:endParaRPr lang="en-IN" sz="2000" dirty="0">
              <a:solidFill>
                <a:srgbClr val="538CD5"/>
              </a:solidFill>
            </a:endParaRPr>
          </a:p>
        </p:txBody>
      </p:sp>
      <p:sp>
        <p:nvSpPr>
          <p:cNvPr id="350" name="Google Shape;350;p49"/>
          <p:cNvSpPr txBox="1">
            <a:spLocks noGrp="1"/>
          </p:cNvSpPr>
          <p:nvPr>
            <p:ph type="sldNum" idx="12"/>
          </p:nvPr>
        </p:nvSpPr>
        <p:spPr>
          <a:xfrm>
            <a:off x="8534400" y="6400800"/>
            <a:ext cx="457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43</a:t>
            </a:fld>
            <a:endParaRPr/>
          </a:p>
        </p:txBody>
      </p:sp>
    </p:spTree>
    <p:extLst>
      <p:ext uri="{BB962C8B-B14F-4D97-AF65-F5344CB8AC3E}">
        <p14:creationId xmlns:p14="http://schemas.microsoft.com/office/powerpoint/2010/main" val="175057422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347"/>
        <p:cNvGrpSpPr/>
        <p:nvPr/>
      </p:nvGrpSpPr>
      <p:grpSpPr>
        <a:xfrm>
          <a:off x="0" y="0"/>
          <a:ext cx="0" cy="0"/>
          <a:chOff x="0" y="0"/>
          <a:chExt cx="0" cy="0"/>
        </a:xfrm>
      </p:grpSpPr>
      <p:sp>
        <p:nvSpPr>
          <p:cNvPr id="348" name="Google Shape;348;p49"/>
          <p:cNvSpPr txBox="1">
            <a:spLocks noGrp="1"/>
          </p:cNvSpPr>
          <p:nvPr>
            <p:ph type="title"/>
          </p:nvPr>
        </p:nvSpPr>
        <p:spPr>
          <a:xfrm>
            <a:off x="0" y="0"/>
            <a:ext cx="9144000" cy="8382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1800"/>
              <a:buNone/>
            </a:pPr>
            <a:r>
              <a:rPr lang="en-US" sz="3200" dirty="0"/>
              <a:t>Latest News</a:t>
            </a:r>
            <a:endParaRPr sz="3200" dirty="0"/>
          </a:p>
        </p:txBody>
      </p:sp>
      <p:sp>
        <p:nvSpPr>
          <p:cNvPr id="349" name="Google Shape;349;p49"/>
          <p:cNvSpPr txBox="1">
            <a:spLocks noGrp="1"/>
          </p:cNvSpPr>
          <p:nvPr>
            <p:ph type="body" idx="1"/>
          </p:nvPr>
        </p:nvSpPr>
        <p:spPr>
          <a:xfrm>
            <a:off x="228600" y="902825"/>
            <a:ext cx="8763000" cy="5863099"/>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2000"/>
              <a:buNone/>
            </a:pPr>
            <a:r>
              <a:rPr lang="en-US" sz="2000" dirty="0">
                <a:solidFill>
                  <a:srgbClr val="538CD5"/>
                </a:solidFill>
              </a:rPr>
              <a:t>"We have learnt that Cloud storage is being used by the accused in distribution of child sexual abuse material. We got inputs and developed it on our own. We located their hideouts based on technical surveillance and are now raiding them," a CBI source told.</a:t>
            </a:r>
          </a:p>
          <a:p>
            <a:pPr marL="0" lvl="0" indent="0" algn="l" rtl="0">
              <a:lnSpc>
                <a:spcPct val="100000"/>
              </a:lnSpc>
              <a:spcBef>
                <a:spcPts val="0"/>
              </a:spcBef>
              <a:spcAft>
                <a:spcPts val="0"/>
              </a:spcAft>
              <a:buSzPts val="2000"/>
              <a:buNone/>
            </a:pPr>
            <a:endParaRPr lang="en-US" sz="2000" dirty="0">
              <a:solidFill>
                <a:srgbClr val="538CD5"/>
              </a:solidFill>
            </a:endParaRPr>
          </a:p>
          <a:p>
            <a:pPr marL="0" lvl="0" indent="0" algn="l" rtl="0">
              <a:lnSpc>
                <a:spcPct val="100000"/>
              </a:lnSpc>
              <a:spcBef>
                <a:spcPts val="0"/>
              </a:spcBef>
              <a:spcAft>
                <a:spcPts val="0"/>
              </a:spcAft>
              <a:buSzPts val="2000"/>
              <a:buNone/>
            </a:pPr>
            <a:r>
              <a:rPr lang="en-US" sz="2000" dirty="0">
                <a:solidFill>
                  <a:srgbClr val="538CD5"/>
                </a:solidFill>
              </a:rPr>
              <a:t>In India publishing, transmitting or possession of materials in any electronic form which depicts children engaged in sexually explicit acts is a punishable offence.</a:t>
            </a:r>
            <a:endParaRPr lang="en-IN" sz="2000" dirty="0">
              <a:solidFill>
                <a:srgbClr val="538CD5"/>
              </a:solidFill>
            </a:endParaRPr>
          </a:p>
        </p:txBody>
      </p:sp>
      <p:sp>
        <p:nvSpPr>
          <p:cNvPr id="350" name="Google Shape;350;p49"/>
          <p:cNvSpPr txBox="1">
            <a:spLocks noGrp="1"/>
          </p:cNvSpPr>
          <p:nvPr>
            <p:ph type="sldNum" idx="12"/>
          </p:nvPr>
        </p:nvSpPr>
        <p:spPr>
          <a:xfrm>
            <a:off x="8534400" y="6400800"/>
            <a:ext cx="457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44</a:t>
            </a:fld>
            <a:endParaRPr/>
          </a:p>
        </p:txBody>
      </p:sp>
    </p:spTree>
    <p:extLst>
      <p:ext uri="{BB962C8B-B14F-4D97-AF65-F5344CB8AC3E}">
        <p14:creationId xmlns:p14="http://schemas.microsoft.com/office/powerpoint/2010/main" val="289639667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347"/>
        <p:cNvGrpSpPr/>
        <p:nvPr/>
      </p:nvGrpSpPr>
      <p:grpSpPr>
        <a:xfrm>
          <a:off x="0" y="0"/>
          <a:ext cx="0" cy="0"/>
          <a:chOff x="0" y="0"/>
          <a:chExt cx="0" cy="0"/>
        </a:xfrm>
      </p:grpSpPr>
      <p:sp>
        <p:nvSpPr>
          <p:cNvPr id="348" name="Google Shape;348;p49"/>
          <p:cNvSpPr txBox="1">
            <a:spLocks noGrp="1"/>
          </p:cNvSpPr>
          <p:nvPr>
            <p:ph type="title"/>
          </p:nvPr>
        </p:nvSpPr>
        <p:spPr>
          <a:xfrm>
            <a:off x="0" y="0"/>
            <a:ext cx="9144000" cy="8382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1800"/>
              <a:buNone/>
            </a:pPr>
            <a:r>
              <a:rPr lang="en-US" sz="3200" dirty="0"/>
              <a:t>Latest News</a:t>
            </a:r>
            <a:endParaRPr sz="3200" dirty="0"/>
          </a:p>
        </p:txBody>
      </p:sp>
      <p:sp>
        <p:nvSpPr>
          <p:cNvPr id="349" name="Google Shape;349;p49"/>
          <p:cNvSpPr txBox="1">
            <a:spLocks noGrp="1"/>
          </p:cNvSpPr>
          <p:nvPr>
            <p:ph type="body" idx="1"/>
          </p:nvPr>
        </p:nvSpPr>
        <p:spPr>
          <a:xfrm>
            <a:off x="228600" y="902825"/>
            <a:ext cx="8763000" cy="5863099"/>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2000"/>
              <a:buNone/>
            </a:pPr>
            <a:r>
              <a:rPr lang="en-US" sz="2000" b="1" dirty="0" err="1">
                <a:solidFill>
                  <a:srgbClr val="538CD5"/>
                </a:solidFill>
              </a:rPr>
              <a:t>Razorpay</a:t>
            </a:r>
            <a:r>
              <a:rPr lang="en-US" sz="2000" b="1" dirty="0">
                <a:solidFill>
                  <a:srgbClr val="538CD5"/>
                </a:solidFill>
              </a:rPr>
              <a:t> – Lost ₹7.3 Crores</a:t>
            </a:r>
          </a:p>
          <a:p>
            <a:pPr marL="0" lvl="0" indent="0" algn="l" rtl="0">
              <a:lnSpc>
                <a:spcPct val="100000"/>
              </a:lnSpc>
              <a:spcBef>
                <a:spcPts val="0"/>
              </a:spcBef>
              <a:spcAft>
                <a:spcPts val="0"/>
              </a:spcAft>
              <a:buSzPts val="2000"/>
              <a:buNone/>
            </a:pPr>
            <a:endParaRPr lang="en-US" sz="2000" dirty="0">
              <a:solidFill>
                <a:srgbClr val="538CD5"/>
              </a:solidFill>
            </a:endParaRPr>
          </a:p>
          <a:p>
            <a:pPr marL="0" lvl="0" indent="0" algn="l" rtl="0">
              <a:lnSpc>
                <a:spcPct val="100000"/>
              </a:lnSpc>
              <a:spcBef>
                <a:spcPts val="0"/>
              </a:spcBef>
              <a:spcAft>
                <a:spcPts val="0"/>
              </a:spcAft>
              <a:buSzPts val="2000"/>
              <a:buNone/>
            </a:pPr>
            <a:r>
              <a:rPr lang="en-US" sz="2000" dirty="0">
                <a:solidFill>
                  <a:srgbClr val="538CD5"/>
                </a:solidFill>
              </a:rPr>
              <a:t>Online payment gateway </a:t>
            </a:r>
            <a:r>
              <a:rPr lang="en-US" sz="2000" dirty="0" err="1">
                <a:solidFill>
                  <a:srgbClr val="538CD5"/>
                </a:solidFill>
              </a:rPr>
              <a:t>Razorpay</a:t>
            </a:r>
            <a:r>
              <a:rPr lang="en-US" sz="2000" dirty="0">
                <a:solidFill>
                  <a:srgbClr val="538CD5"/>
                </a:solidFill>
              </a:rPr>
              <a:t> said hackers stole ₹7.3 crore worth of funds in 831 transactions over a period of 3 months.</a:t>
            </a:r>
          </a:p>
          <a:p>
            <a:pPr marL="0" lvl="0" indent="0" algn="l" rtl="0">
              <a:lnSpc>
                <a:spcPct val="100000"/>
              </a:lnSpc>
              <a:spcBef>
                <a:spcPts val="0"/>
              </a:spcBef>
              <a:spcAft>
                <a:spcPts val="0"/>
              </a:spcAft>
              <a:buSzPts val="2000"/>
              <a:buNone/>
            </a:pPr>
            <a:endParaRPr lang="en-US" sz="2000" dirty="0">
              <a:solidFill>
                <a:srgbClr val="538CD5"/>
              </a:solidFill>
            </a:endParaRPr>
          </a:p>
          <a:p>
            <a:pPr marL="0" lvl="0" indent="0" algn="l" rtl="0">
              <a:lnSpc>
                <a:spcPct val="100000"/>
              </a:lnSpc>
              <a:spcBef>
                <a:spcPts val="0"/>
              </a:spcBef>
              <a:spcAft>
                <a:spcPts val="0"/>
              </a:spcAft>
              <a:buSzPts val="2000"/>
              <a:buNone/>
            </a:pPr>
            <a:r>
              <a:rPr lang="en-US" sz="2000" dirty="0">
                <a:solidFill>
                  <a:srgbClr val="538CD5"/>
                </a:solidFill>
              </a:rPr>
              <a:t>According to media reports, “an unauthorized actor(s) with malicious intent” manipulated the authorization process of the gateway to authenticate these transactions.</a:t>
            </a:r>
          </a:p>
          <a:p>
            <a:pPr marL="0" lvl="0" indent="0" algn="l" rtl="0">
              <a:lnSpc>
                <a:spcPct val="100000"/>
              </a:lnSpc>
              <a:spcBef>
                <a:spcPts val="0"/>
              </a:spcBef>
              <a:spcAft>
                <a:spcPts val="0"/>
              </a:spcAft>
              <a:buSzPts val="2000"/>
              <a:buNone/>
            </a:pPr>
            <a:endParaRPr lang="en-US" sz="2000" dirty="0">
              <a:solidFill>
                <a:srgbClr val="538CD5"/>
              </a:solidFill>
            </a:endParaRPr>
          </a:p>
          <a:p>
            <a:pPr marL="0" lvl="0" indent="0" algn="l" rtl="0">
              <a:lnSpc>
                <a:spcPct val="100000"/>
              </a:lnSpc>
              <a:spcBef>
                <a:spcPts val="0"/>
              </a:spcBef>
              <a:spcAft>
                <a:spcPts val="0"/>
              </a:spcAft>
              <a:buSzPts val="2000"/>
              <a:buNone/>
            </a:pPr>
            <a:r>
              <a:rPr lang="en-US" sz="2000" b="1" dirty="0">
                <a:solidFill>
                  <a:srgbClr val="538CD5"/>
                </a:solidFill>
              </a:rPr>
              <a:t>Amazon, Flipkart, Airtel &amp; </a:t>
            </a:r>
            <a:r>
              <a:rPr lang="en-US" sz="2000" b="1" dirty="0" err="1">
                <a:solidFill>
                  <a:srgbClr val="538CD5"/>
                </a:solidFill>
              </a:rPr>
              <a:t>JioMart</a:t>
            </a:r>
            <a:r>
              <a:rPr lang="en-US" sz="2000" b="1" dirty="0">
                <a:solidFill>
                  <a:srgbClr val="538CD5"/>
                </a:solidFill>
              </a:rPr>
              <a:t> – 10 Crore Data Sold</a:t>
            </a:r>
          </a:p>
          <a:p>
            <a:pPr marL="0" lvl="0" indent="0" algn="l" rtl="0">
              <a:lnSpc>
                <a:spcPct val="100000"/>
              </a:lnSpc>
              <a:spcBef>
                <a:spcPts val="0"/>
              </a:spcBef>
              <a:spcAft>
                <a:spcPts val="0"/>
              </a:spcAft>
              <a:buSzPts val="2000"/>
              <a:buNone/>
            </a:pPr>
            <a:endParaRPr lang="en-US" sz="2000" dirty="0">
              <a:solidFill>
                <a:srgbClr val="538CD5"/>
              </a:solidFill>
            </a:endParaRPr>
          </a:p>
          <a:p>
            <a:pPr marL="0" lvl="0" indent="0" algn="l" rtl="0">
              <a:lnSpc>
                <a:spcPct val="100000"/>
              </a:lnSpc>
              <a:spcBef>
                <a:spcPts val="0"/>
              </a:spcBef>
              <a:spcAft>
                <a:spcPts val="0"/>
              </a:spcAft>
              <a:buSzPts val="2000"/>
              <a:buNone/>
            </a:pPr>
            <a:r>
              <a:rPr lang="en-US" sz="2000" dirty="0">
                <a:solidFill>
                  <a:srgbClr val="538CD5"/>
                </a:solidFill>
              </a:rPr>
              <a:t>As per media reports, due to the cyberattack on </a:t>
            </a:r>
            <a:r>
              <a:rPr lang="en-US" sz="2000" dirty="0" err="1">
                <a:solidFill>
                  <a:srgbClr val="538CD5"/>
                </a:solidFill>
              </a:rPr>
              <a:t>Juspay</a:t>
            </a:r>
            <a:r>
              <a:rPr lang="en-US" sz="2000" dirty="0">
                <a:solidFill>
                  <a:srgbClr val="538CD5"/>
                </a:solidFill>
              </a:rPr>
              <a:t> in 2021, data of over 100 million client customers including those of Amazon, Flipkart,  Airtel, and </a:t>
            </a:r>
            <a:r>
              <a:rPr lang="en-US" sz="2000" dirty="0" err="1">
                <a:solidFill>
                  <a:srgbClr val="538CD5"/>
                </a:solidFill>
              </a:rPr>
              <a:t>Jiomart</a:t>
            </a:r>
            <a:r>
              <a:rPr lang="en-US" sz="2000" dirty="0">
                <a:solidFill>
                  <a:srgbClr val="538CD5"/>
                </a:solidFill>
              </a:rPr>
              <a:t> was leaked and sold on the dark web for bitcoins worth $6,000.</a:t>
            </a:r>
            <a:endParaRPr lang="en-IN" sz="2000" dirty="0">
              <a:solidFill>
                <a:srgbClr val="538CD5"/>
              </a:solidFill>
            </a:endParaRPr>
          </a:p>
        </p:txBody>
      </p:sp>
      <p:sp>
        <p:nvSpPr>
          <p:cNvPr id="350" name="Google Shape;350;p49"/>
          <p:cNvSpPr txBox="1">
            <a:spLocks noGrp="1"/>
          </p:cNvSpPr>
          <p:nvPr>
            <p:ph type="sldNum" idx="12"/>
          </p:nvPr>
        </p:nvSpPr>
        <p:spPr>
          <a:xfrm>
            <a:off x="8534400" y="6400800"/>
            <a:ext cx="457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45</a:t>
            </a:fld>
            <a:endParaRPr/>
          </a:p>
        </p:txBody>
      </p:sp>
    </p:spTree>
    <p:extLst>
      <p:ext uri="{BB962C8B-B14F-4D97-AF65-F5344CB8AC3E}">
        <p14:creationId xmlns:p14="http://schemas.microsoft.com/office/powerpoint/2010/main" val="134658375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347"/>
        <p:cNvGrpSpPr/>
        <p:nvPr/>
      </p:nvGrpSpPr>
      <p:grpSpPr>
        <a:xfrm>
          <a:off x="0" y="0"/>
          <a:ext cx="0" cy="0"/>
          <a:chOff x="0" y="0"/>
          <a:chExt cx="0" cy="0"/>
        </a:xfrm>
      </p:grpSpPr>
      <p:sp>
        <p:nvSpPr>
          <p:cNvPr id="348" name="Google Shape;348;p49"/>
          <p:cNvSpPr txBox="1">
            <a:spLocks noGrp="1"/>
          </p:cNvSpPr>
          <p:nvPr>
            <p:ph type="title"/>
          </p:nvPr>
        </p:nvSpPr>
        <p:spPr>
          <a:xfrm>
            <a:off x="0" y="0"/>
            <a:ext cx="9144000" cy="8382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1800"/>
              <a:buNone/>
            </a:pPr>
            <a:r>
              <a:rPr lang="en-US" sz="3200" dirty="0"/>
              <a:t>Latest News</a:t>
            </a:r>
            <a:endParaRPr sz="3200" dirty="0"/>
          </a:p>
        </p:txBody>
      </p:sp>
      <p:sp>
        <p:nvSpPr>
          <p:cNvPr id="349" name="Google Shape;349;p49"/>
          <p:cNvSpPr txBox="1">
            <a:spLocks noGrp="1"/>
          </p:cNvSpPr>
          <p:nvPr>
            <p:ph type="body" idx="1"/>
          </p:nvPr>
        </p:nvSpPr>
        <p:spPr>
          <a:xfrm>
            <a:off x="228600" y="902825"/>
            <a:ext cx="8763000" cy="5863099"/>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2000"/>
              <a:buNone/>
            </a:pPr>
            <a:r>
              <a:rPr lang="en-US" sz="2000" b="1" dirty="0">
                <a:solidFill>
                  <a:srgbClr val="538CD5"/>
                </a:solidFill>
              </a:rPr>
              <a:t>Oil India Ltd. – Ransom of ₹58 Crore</a:t>
            </a:r>
          </a:p>
          <a:p>
            <a:pPr marL="0" lvl="0" indent="0" algn="l" rtl="0">
              <a:lnSpc>
                <a:spcPct val="100000"/>
              </a:lnSpc>
              <a:spcBef>
                <a:spcPts val="0"/>
              </a:spcBef>
              <a:spcAft>
                <a:spcPts val="0"/>
              </a:spcAft>
              <a:buSzPts val="2000"/>
              <a:buNone/>
            </a:pPr>
            <a:endParaRPr lang="en-US" sz="2000" dirty="0">
              <a:solidFill>
                <a:srgbClr val="538CD5"/>
              </a:solidFill>
            </a:endParaRPr>
          </a:p>
          <a:p>
            <a:pPr marL="0" lvl="0" indent="0" algn="l" rtl="0">
              <a:lnSpc>
                <a:spcPct val="100000"/>
              </a:lnSpc>
              <a:spcBef>
                <a:spcPts val="0"/>
              </a:spcBef>
              <a:spcAft>
                <a:spcPts val="0"/>
              </a:spcAft>
              <a:buSzPts val="2000"/>
              <a:buNone/>
            </a:pPr>
            <a:r>
              <a:rPr lang="en-US" sz="2000" dirty="0">
                <a:solidFill>
                  <a:srgbClr val="538CD5"/>
                </a:solidFill>
              </a:rPr>
              <a:t>Between October 2021 and April 2022, the government-owned oil &amp; gas extraction company Oil India Ltd. reported cases of cyberattacks.</a:t>
            </a:r>
          </a:p>
          <a:p>
            <a:pPr marL="0" lvl="0" indent="0" algn="l" rtl="0">
              <a:lnSpc>
                <a:spcPct val="100000"/>
              </a:lnSpc>
              <a:spcBef>
                <a:spcPts val="0"/>
              </a:spcBef>
              <a:spcAft>
                <a:spcPts val="0"/>
              </a:spcAft>
              <a:buSzPts val="2000"/>
              <a:buNone/>
            </a:pPr>
            <a:endParaRPr lang="en-US" sz="2000" dirty="0">
              <a:solidFill>
                <a:srgbClr val="538CD5"/>
              </a:solidFill>
            </a:endParaRPr>
          </a:p>
          <a:p>
            <a:pPr marL="0" lvl="0" indent="0" algn="l" rtl="0">
              <a:lnSpc>
                <a:spcPct val="100000"/>
              </a:lnSpc>
              <a:spcBef>
                <a:spcPts val="0"/>
              </a:spcBef>
              <a:spcAft>
                <a:spcPts val="0"/>
              </a:spcAft>
              <a:buSzPts val="2000"/>
              <a:buNone/>
            </a:pPr>
            <a:r>
              <a:rPr lang="en-US" sz="2000" dirty="0">
                <a:solidFill>
                  <a:srgbClr val="538CD5"/>
                </a:solidFill>
              </a:rPr>
              <a:t>It also found a ransom note on one of the infected computers, demanding $7,500,000</a:t>
            </a:r>
          </a:p>
          <a:p>
            <a:pPr marL="0" lvl="0" indent="0" algn="l" rtl="0">
              <a:lnSpc>
                <a:spcPct val="100000"/>
              </a:lnSpc>
              <a:spcBef>
                <a:spcPts val="0"/>
              </a:spcBef>
              <a:spcAft>
                <a:spcPts val="0"/>
              </a:spcAft>
              <a:buSzPts val="2000"/>
              <a:buNone/>
            </a:pPr>
            <a:endParaRPr lang="en-US" sz="2000" dirty="0">
              <a:solidFill>
                <a:srgbClr val="538CD5"/>
              </a:solidFill>
            </a:endParaRPr>
          </a:p>
          <a:p>
            <a:pPr marL="0" lvl="0" indent="0" algn="l" rtl="0">
              <a:lnSpc>
                <a:spcPct val="100000"/>
              </a:lnSpc>
              <a:spcBef>
                <a:spcPts val="0"/>
              </a:spcBef>
              <a:spcAft>
                <a:spcPts val="0"/>
              </a:spcAft>
              <a:buSzPts val="2000"/>
              <a:buNone/>
            </a:pPr>
            <a:r>
              <a:rPr lang="en-US" sz="2000" b="1" dirty="0">
                <a:solidFill>
                  <a:srgbClr val="538CD5"/>
                </a:solidFill>
              </a:rPr>
              <a:t>Tech Mahindra – Loss of ₹35 Crore In Smart City</a:t>
            </a:r>
          </a:p>
          <a:p>
            <a:pPr marL="0" lvl="0" indent="0" algn="l" rtl="0">
              <a:lnSpc>
                <a:spcPct val="100000"/>
              </a:lnSpc>
              <a:spcBef>
                <a:spcPts val="0"/>
              </a:spcBef>
              <a:spcAft>
                <a:spcPts val="0"/>
              </a:spcAft>
              <a:buSzPts val="2000"/>
              <a:buNone/>
            </a:pPr>
            <a:endParaRPr lang="en-US" sz="2000" dirty="0">
              <a:solidFill>
                <a:srgbClr val="538CD5"/>
              </a:solidFill>
            </a:endParaRPr>
          </a:p>
          <a:p>
            <a:pPr marL="0" lvl="0" indent="0" algn="l" rtl="0">
              <a:lnSpc>
                <a:spcPct val="100000"/>
              </a:lnSpc>
              <a:spcBef>
                <a:spcPts val="0"/>
              </a:spcBef>
              <a:spcAft>
                <a:spcPts val="0"/>
              </a:spcAft>
              <a:buSzPts val="2000"/>
              <a:buNone/>
            </a:pPr>
            <a:r>
              <a:rPr lang="en-US" sz="2000" dirty="0">
                <a:solidFill>
                  <a:srgbClr val="538CD5"/>
                </a:solidFill>
              </a:rPr>
              <a:t>In March 2021, Indian IT company Tech Mahindra which manages the Smart city project for Pimpri Chinchwad municipal corporation filed a criminal report about a ransomware attack that resulted in a loss of an estimated 35 crore.</a:t>
            </a:r>
          </a:p>
          <a:p>
            <a:pPr marL="0" lvl="0" indent="0" algn="l" rtl="0">
              <a:lnSpc>
                <a:spcPct val="100000"/>
              </a:lnSpc>
              <a:spcBef>
                <a:spcPts val="0"/>
              </a:spcBef>
              <a:spcAft>
                <a:spcPts val="0"/>
              </a:spcAft>
              <a:buSzPts val="2000"/>
              <a:buNone/>
            </a:pPr>
            <a:endParaRPr lang="en-US" sz="2000" dirty="0">
              <a:solidFill>
                <a:srgbClr val="538CD5"/>
              </a:solidFill>
            </a:endParaRPr>
          </a:p>
          <a:p>
            <a:pPr marL="0" lvl="0" indent="0" algn="l" rtl="0">
              <a:lnSpc>
                <a:spcPct val="100000"/>
              </a:lnSpc>
              <a:spcBef>
                <a:spcPts val="0"/>
              </a:spcBef>
              <a:spcAft>
                <a:spcPts val="0"/>
              </a:spcAft>
              <a:buSzPts val="2000"/>
              <a:buNone/>
            </a:pPr>
            <a:r>
              <a:rPr lang="en-US" sz="2000" b="1" dirty="0">
                <a:solidFill>
                  <a:srgbClr val="538CD5"/>
                </a:solidFill>
              </a:rPr>
              <a:t>Domino’s – 18 Crore Orders Gone Public</a:t>
            </a:r>
          </a:p>
          <a:p>
            <a:pPr marL="0" lvl="0" indent="0" algn="l" rtl="0">
              <a:lnSpc>
                <a:spcPct val="100000"/>
              </a:lnSpc>
              <a:spcBef>
                <a:spcPts val="0"/>
              </a:spcBef>
              <a:spcAft>
                <a:spcPts val="0"/>
              </a:spcAft>
              <a:buSzPts val="2000"/>
              <a:buNone/>
            </a:pPr>
            <a:endParaRPr lang="en-US" sz="2000" dirty="0">
              <a:solidFill>
                <a:srgbClr val="538CD5"/>
              </a:solidFill>
            </a:endParaRPr>
          </a:p>
          <a:p>
            <a:pPr marL="0" lvl="0" indent="0" algn="l" rtl="0">
              <a:lnSpc>
                <a:spcPct val="100000"/>
              </a:lnSpc>
              <a:spcBef>
                <a:spcPts val="0"/>
              </a:spcBef>
              <a:spcAft>
                <a:spcPts val="0"/>
              </a:spcAft>
              <a:buSzPts val="2000"/>
              <a:buNone/>
            </a:pPr>
            <a:r>
              <a:rPr lang="en-US" sz="2000" dirty="0">
                <a:solidFill>
                  <a:srgbClr val="538CD5"/>
                </a:solidFill>
              </a:rPr>
              <a:t>In May 2021, data related to 18 crore orders of Domino’s was made public on the internet. Anyone could see who &amp; how many customers ordered their pizza, on the internet.</a:t>
            </a:r>
            <a:endParaRPr lang="en-IN" sz="2000" dirty="0">
              <a:solidFill>
                <a:srgbClr val="538CD5"/>
              </a:solidFill>
            </a:endParaRPr>
          </a:p>
        </p:txBody>
      </p:sp>
      <p:sp>
        <p:nvSpPr>
          <p:cNvPr id="350" name="Google Shape;350;p49"/>
          <p:cNvSpPr txBox="1">
            <a:spLocks noGrp="1"/>
          </p:cNvSpPr>
          <p:nvPr>
            <p:ph type="sldNum" idx="12"/>
          </p:nvPr>
        </p:nvSpPr>
        <p:spPr>
          <a:xfrm>
            <a:off x="8534400" y="6400800"/>
            <a:ext cx="457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46</a:t>
            </a:fld>
            <a:endParaRPr/>
          </a:p>
        </p:txBody>
      </p:sp>
    </p:spTree>
    <p:extLst>
      <p:ext uri="{BB962C8B-B14F-4D97-AF65-F5344CB8AC3E}">
        <p14:creationId xmlns:p14="http://schemas.microsoft.com/office/powerpoint/2010/main" val="243153868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347"/>
        <p:cNvGrpSpPr/>
        <p:nvPr/>
      </p:nvGrpSpPr>
      <p:grpSpPr>
        <a:xfrm>
          <a:off x="0" y="0"/>
          <a:ext cx="0" cy="0"/>
          <a:chOff x="0" y="0"/>
          <a:chExt cx="0" cy="0"/>
        </a:xfrm>
      </p:grpSpPr>
      <p:sp>
        <p:nvSpPr>
          <p:cNvPr id="348" name="Google Shape;348;p49"/>
          <p:cNvSpPr txBox="1">
            <a:spLocks noGrp="1"/>
          </p:cNvSpPr>
          <p:nvPr>
            <p:ph type="title"/>
          </p:nvPr>
        </p:nvSpPr>
        <p:spPr>
          <a:xfrm>
            <a:off x="0" y="0"/>
            <a:ext cx="9144000" cy="8382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1800"/>
              <a:buNone/>
            </a:pPr>
            <a:r>
              <a:rPr lang="en-US" sz="3200" dirty="0"/>
              <a:t>Latest News</a:t>
            </a:r>
            <a:endParaRPr sz="3200" dirty="0"/>
          </a:p>
        </p:txBody>
      </p:sp>
      <p:sp>
        <p:nvSpPr>
          <p:cNvPr id="349" name="Google Shape;349;p49"/>
          <p:cNvSpPr txBox="1">
            <a:spLocks noGrp="1"/>
          </p:cNvSpPr>
          <p:nvPr>
            <p:ph type="body" idx="1"/>
          </p:nvPr>
        </p:nvSpPr>
        <p:spPr>
          <a:xfrm>
            <a:off x="228600" y="902825"/>
            <a:ext cx="8763000" cy="5863099"/>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2000"/>
              <a:buNone/>
            </a:pPr>
            <a:r>
              <a:rPr lang="en-US" sz="2000" b="1" dirty="0" err="1">
                <a:solidFill>
                  <a:srgbClr val="538CD5"/>
                </a:solidFill>
              </a:rPr>
              <a:t>Mobikwik</a:t>
            </a:r>
            <a:r>
              <a:rPr lang="en-US" sz="2000" b="1" dirty="0">
                <a:solidFill>
                  <a:srgbClr val="538CD5"/>
                </a:solidFill>
              </a:rPr>
              <a:t> – 10 Crore Users Data on Sale</a:t>
            </a:r>
          </a:p>
          <a:p>
            <a:pPr marL="0" lvl="0" indent="0" algn="l" rtl="0">
              <a:lnSpc>
                <a:spcPct val="100000"/>
              </a:lnSpc>
              <a:spcBef>
                <a:spcPts val="0"/>
              </a:spcBef>
              <a:spcAft>
                <a:spcPts val="0"/>
              </a:spcAft>
              <a:buSzPts val="2000"/>
              <a:buNone/>
            </a:pPr>
            <a:endParaRPr lang="en-US" sz="2000" dirty="0">
              <a:solidFill>
                <a:srgbClr val="538CD5"/>
              </a:solidFill>
            </a:endParaRPr>
          </a:p>
          <a:p>
            <a:pPr marL="0" lvl="0" indent="0" algn="l" rtl="0">
              <a:lnSpc>
                <a:spcPct val="100000"/>
              </a:lnSpc>
              <a:spcBef>
                <a:spcPts val="0"/>
              </a:spcBef>
              <a:spcAft>
                <a:spcPts val="0"/>
              </a:spcAft>
              <a:buSzPts val="2000"/>
              <a:buNone/>
            </a:pPr>
            <a:r>
              <a:rPr lang="en-US" sz="2000" dirty="0">
                <a:solidFill>
                  <a:srgbClr val="538CD5"/>
                </a:solidFill>
              </a:rPr>
              <a:t>Reportedly the data of nearly 10 crore users for mobile wallet &amp; payments app </a:t>
            </a:r>
            <a:r>
              <a:rPr lang="en-US" sz="2000" dirty="0" err="1">
                <a:solidFill>
                  <a:srgbClr val="538CD5"/>
                </a:solidFill>
              </a:rPr>
              <a:t>MobiKwik</a:t>
            </a:r>
            <a:r>
              <a:rPr lang="en-US" sz="2000" dirty="0">
                <a:solidFill>
                  <a:srgbClr val="538CD5"/>
                </a:solidFill>
              </a:rPr>
              <a:t> was on sale on a hacker forum on the dark web in early 2021.</a:t>
            </a:r>
          </a:p>
          <a:p>
            <a:pPr marL="0" lvl="0" indent="0" algn="l" rtl="0">
              <a:lnSpc>
                <a:spcPct val="100000"/>
              </a:lnSpc>
              <a:spcBef>
                <a:spcPts val="0"/>
              </a:spcBef>
              <a:spcAft>
                <a:spcPts val="0"/>
              </a:spcAft>
              <a:buSzPts val="2000"/>
              <a:buNone/>
            </a:pPr>
            <a:endParaRPr lang="en-US" sz="2000" dirty="0">
              <a:solidFill>
                <a:srgbClr val="538CD5"/>
              </a:solidFill>
            </a:endParaRPr>
          </a:p>
          <a:p>
            <a:pPr marL="0" lvl="0" indent="0" algn="l" rtl="0">
              <a:lnSpc>
                <a:spcPct val="100000"/>
              </a:lnSpc>
              <a:spcBef>
                <a:spcPts val="0"/>
              </a:spcBef>
              <a:spcAft>
                <a:spcPts val="0"/>
              </a:spcAft>
              <a:buSzPts val="2000"/>
              <a:buNone/>
            </a:pPr>
            <a:r>
              <a:rPr lang="en-US" sz="2000" dirty="0">
                <a:solidFill>
                  <a:srgbClr val="538CD5"/>
                </a:solidFill>
              </a:rPr>
              <a:t>The data is said to have included KYC details for many of the users, and information such as Aadhaar card, signatures, etc.</a:t>
            </a:r>
          </a:p>
          <a:p>
            <a:pPr marL="0" lvl="0" indent="0" algn="l" rtl="0">
              <a:lnSpc>
                <a:spcPct val="100000"/>
              </a:lnSpc>
              <a:spcBef>
                <a:spcPts val="0"/>
              </a:spcBef>
              <a:spcAft>
                <a:spcPts val="0"/>
              </a:spcAft>
              <a:buSzPts val="2000"/>
              <a:buNone/>
            </a:pPr>
            <a:endParaRPr lang="en-US" sz="2000" dirty="0">
              <a:solidFill>
                <a:srgbClr val="538CD5"/>
              </a:solidFill>
            </a:endParaRPr>
          </a:p>
          <a:p>
            <a:pPr marL="0" lvl="0" indent="0" algn="l" rtl="0">
              <a:lnSpc>
                <a:spcPct val="100000"/>
              </a:lnSpc>
              <a:spcBef>
                <a:spcPts val="0"/>
              </a:spcBef>
              <a:spcAft>
                <a:spcPts val="0"/>
              </a:spcAft>
              <a:buSzPts val="2000"/>
              <a:buNone/>
            </a:pPr>
            <a:r>
              <a:rPr lang="en-US" sz="2000" b="1" dirty="0">
                <a:solidFill>
                  <a:srgbClr val="538CD5"/>
                </a:solidFill>
              </a:rPr>
              <a:t>Air India – 45 Lac Passengers Data Hacked</a:t>
            </a:r>
          </a:p>
          <a:p>
            <a:pPr marL="0" lvl="0" indent="0" algn="l" rtl="0">
              <a:lnSpc>
                <a:spcPct val="100000"/>
              </a:lnSpc>
              <a:spcBef>
                <a:spcPts val="0"/>
              </a:spcBef>
              <a:spcAft>
                <a:spcPts val="0"/>
              </a:spcAft>
              <a:buSzPts val="2000"/>
              <a:buNone/>
            </a:pPr>
            <a:endParaRPr lang="en-US" sz="2000" dirty="0">
              <a:solidFill>
                <a:srgbClr val="538CD5"/>
              </a:solidFill>
            </a:endParaRPr>
          </a:p>
          <a:p>
            <a:pPr marL="0" lvl="0" indent="0" algn="l" rtl="0">
              <a:lnSpc>
                <a:spcPct val="100000"/>
              </a:lnSpc>
              <a:spcBef>
                <a:spcPts val="0"/>
              </a:spcBef>
              <a:spcAft>
                <a:spcPts val="0"/>
              </a:spcAft>
              <a:buSzPts val="2000"/>
              <a:buNone/>
            </a:pPr>
            <a:r>
              <a:rPr lang="en-US" sz="2000" dirty="0">
                <a:solidFill>
                  <a:srgbClr val="538CD5"/>
                </a:solidFill>
              </a:rPr>
              <a:t>A sophisticated hacking attack on Air India’s passenger service system provider SITA resulted in the theft of personal data of around 4.5 million passengers in February 2021.</a:t>
            </a:r>
          </a:p>
          <a:p>
            <a:pPr marL="0" lvl="0" indent="0" algn="l" rtl="0">
              <a:lnSpc>
                <a:spcPct val="100000"/>
              </a:lnSpc>
              <a:spcBef>
                <a:spcPts val="0"/>
              </a:spcBef>
              <a:spcAft>
                <a:spcPts val="0"/>
              </a:spcAft>
              <a:buSzPts val="2000"/>
              <a:buNone/>
            </a:pPr>
            <a:endParaRPr lang="en-US" sz="2000" dirty="0">
              <a:solidFill>
                <a:srgbClr val="538CD5"/>
              </a:solidFill>
            </a:endParaRPr>
          </a:p>
          <a:p>
            <a:pPr marL="0" lvl="0" indent="0" algn="l" rtl="0">
              <a:lnSpc>
                <a:spcPct val="100000"/>
              </a:lnSpc>
              <a:spcBef>
                <a:spcPts val="0"/>
              </a:spcBef>
              <a:spcAft>
                <a:spcPts val="0"/>
              </a:spcAft>
              <a:buSzPts val="2000"/>
              <a:buNone/>
            </a:pPr>
            <a:r>
              <a:rPr lang="en-US" sz="2000" dirty="0">
                <a:solidFill>
                  <a:srgbClr val="538CD5"/>
                </a:solidFill>
              </a:rPr>
              <a:t>Frequent flyer data and credit card data were affected due to the breach.</a:t>
            </a:r>
            <a:endParaRPr lang="en-IN" sz="2000" dirty="0">
              <a:solidFill>
                <a:srgbClr val="538CD5"/>
              </a:solidFill>
            </a:endParaRPr>
          </a:p>
        </p:txBody>
      </p:sp>
      <p:sp>
        <p:nvSpPr>
          <p:cNvPr id="350" name="Google Shape;350;p49"/>
          <p:cNvSpPr txBox="1">
            <a:spLocks noGrp="1"/>
          </p:cNvSpPr>
          <p:nvPr>
            <p:ph type="sldNum" idx="12"/>
          </p:nvPr>
        </p:nvSpPr>
        <p:spPr>
          <a:xfrm>
            <a:off x="8534400" y="6400800"/>
            <a:ext cx="457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47</a:t>
            </a:fld>
            <a:endParaRPr/>
          </a:p>
        </p:txBody>
      </p:sp>
    </p:spTree>
    <p:extLst>
      <p:ext uri="{BB962C8B-B14F-4D97-AF65-F5344CB8AC3E}">
        <p14:creationId xmlns:p14="http://schemas.microsoft.com/office/powerpoint/2010/main" val="5240011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347"/>
        <p:cNvGrpSpPr/>
        <p:nvPr/>
      </p:nvGrpSpPr>
      <p:grpSpPr>
        <a:xfrm>
          <a:off x="0" y="0"/>
          <a:ext cx="0" cy="0"/>
          <a:chOff x="0" y="0"/>
          <a:chExt cx="0" cy="0"/>
        </a:xfrm>
      </p:grpSpPr>
      <p:sp>
        <p:nvSpPr>
          <p:cNvPr id="348" name="Google Shape;348;p49"/>
          <p:cNvSpPr txBox="1">
            <a:spLocks noGrp="1"/>
          </p:cNvSpPr>
          <p:nvPr>
            <p:ph type="title"/>
          </p:nvPr>
        </p:nvSpPr>
        <p:spPr>
          <a:xfrm>
            <a:off x="0" y="0"/>
            <a:ext cx="9144000" cy="8382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1800"/>
              <a:buNone/>
            </a:pPr>
            <a:r>
              <a:rPr lang="en-US" sz="3200" dirty="0"/>
              <a:t>Latest News</a:t>
            </a:r>
            <a:endParaRPr sz="3200" dirty="0"/>
          </a:p>
        </p:txBody>
      </p:sp>
      <p:sp>
        <p:nvSpPr>
          <p:cNvPr id="349" name="Google Shape;349;p49"/>
          <p:cNvSpPr txBox="1">
            <a:spLocks noGrp="1"/>
          </p:cNvSpPr>
          <p:nvPr>
            <p:ph type="body" idx="1"/>
          </p:nvPr>
        </p:nvSpPr>
        <p:spPr>
          <a:xfrm>
            <a:off x="228600" y="902825"/>
            <a:ext cx="8763000" cy="5863099"/>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2000"/>
              <a:buNone/>
            </a:pPr>
            <a:endParaRPr lang="en-US" sz="2000" b="1" dirty="0">
              <a:solidFill>
                <a:srgbClr val="538CD5"/>
              </a:solidFill>
            </a:endParaRPr>
          </a:p>
          <a:p>
            <a:pPr marL="0" lvl="0" indent="0" algn="l" rtl="0">
              <a:lnSpc>
                <a:spcPct val="100000"/>
              </a:lnSpc>
              <a:spcBef>
                <a:spcPts val="0"/>
              </a:spcBef>
              <a:spcAft>
                <a:spcPts val="0"/>
              </a:spcAft>
              <a:buSzPts val="2000"/>
              <a:buNone/>
            </a:pPr>
            <a:r>
              <a:rPr lang="en-US" sz="2000" b="1" dirty="0">
                <a:solidFill>
                  <a:srgbClr val="538CD5"/>
                </a:solidFill>
              </a:rPr>
              <a:t>India witnessed 18 million cyber-attacks and 200,000 threats a day in the first quarter of 2022, said Google's VP-Engineering for Privacy, Safety and Security.</a:t>
            </a:r>
            <a:endParaRPr lang="en-IN" sz="2000" dirty="0">
              <a:solidFill>
                <a:srgbClr val="538CD5"/>
              </a:solidFill>
            </a:endParaRPr>
          </a:p>
        </p:txBody>
      </p:sp>
      <p:sp>
        <p:nvSpPr>
          <p:cNvPr id="350" name="Google Shape;350;p49"/>
          <p:cNvSpPr txBox="1">
            <a:spLocks noGrp="1"/>
          </p:cNvSpPr>
          <p:nvPr>
            <p:ph type="sldNum" idx="12"/>
          </p:nvPr>
        </p:nvSpPr>
        <p:spPr>
          <a:xfrm>
            <a:off x="8534400" y="6400800"/>
            <a:ext cx="457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48</a:t>
            </a:fld>
            <a:endParaRPr/>
          </a:p>
        </p:txBody>
      </p:sp>
    </p:spTree>
    <p:extLst>
      <p:ext uri="{BB962C8B-B14F-4D97-AF65-F5344CB8AC3E}">
        <p14:creationId xmlns:p14="http://schemas.microsoft.com/office/powerpoint/2010/main" val="326992556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354"/>
        <p:cNvGrpSpPr/>
        <p:nvPr/>
      </p:nvGrpSpPr>
      <p:grpSpPr>
        <a:xfrm>
          <a:off x="0" y="0"/>
          <a:ext cx="0" cy="0"/>
          <a:chOff x="0" y="0"/>
          <a:chExt cx="0" cy="0"/>
        </a:xfrm>
      </p:grpSpPr>
      <p:sp>
        <p:nvSpPr>
          <p:cNvPr id="355" name="Google Shape;355;p50"/>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4400"/>
              <a:buFont typeface="Calibri"/>
              <a:buNone/>
            </a:pPr>
            <a:endParaRPr/>
          </a:p>
        </p:txBody>
      </p:sp>
      <p:sp>
        <p:nvSpPr>
          <p:cNvPr id="356" name="Google Shape;356;p5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49</a:t>
            </a:fld>
            <a:endParaRPr/>
          </a:p>
        </p:txBody>
      </p:sp>
      <p:sp>
        <p:nvSpPr>
          <p:cNvPr id="357" name="Google Shape;357;p50"/>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Autofit/>
          </a:bodyPr>
          <a:lstStyle/>
          <a:p>
            <a:pPr marL="457200" lvl="0" indent="-228600" algn="l" rtl="0">
              <a:lnSpc>
                <a:spcPct val="100000"/>
              </a:lnSpc>
              <a:spcBef>
                <a:spcPts val="360"/>
              </a:spcBef>
              <a:spcAft>
                <a:spcPts val="0"/>
              </a:spcAft>
              <a:buClr>
                <a:schemeClr val="dk1"/>
              </a:buClr>
              <a:buSzPts val="1800"/>
              <a:buNone/>
            </a:pPr>
            <a:endParaRPr/>
          </a:p>
        </p:txBody>
      </p:sp>
      <p:pic>
        <p:nvPicPr>
          <p:cNvPr id="358" name="Google Shape;358;p50"/>
          <p:cNvPicPr preferRelativeResize="0"/>
          <p:nvPr/>
        </p:nvPicPr>
        <p:blipFill rotWithShape="1">
          <a:blip r:embed="rId3">
            <a:alphaModFix/>
          </a:blip>
          <a:srcRect/>
          <a:stretch/>
        </p:blipFill>
        <p:spPr>
          <a:xfrm>
            <a:off x="2442259" y="2214924"/>
            <a:ext cx="4409954" cy="3292499"/>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686</TotalTime>
  <Words>6161</Words>
  <Application>Microsoft Office PowerPoint</Application>
  <PresentationFormat>On-screen Show (4:3)</PresentationFormat>
  <Paragraphs>417</Paragraphs>
  <Slides>49</Slides>
  <Notes>49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49</vt:i4>
      </vt:variant>
    </vt:vector>
  </HeadingPairs>
  <TitlesOfParts>
    <vt:vector size="52" baseType="lpstr">
      <vt:lpstr>Arial</vt:lpstr>
      <vt:lpstr>Calibri</vt:lpstr>
      <vt:lpstr>Office Theme</vt:lpstr>
      <vt:lpstr>CA 501 : CYBER SECURITY</vt:lpstr>
      <vt:lpstr>Let’s Start</vt:lpstr>
      <vt:lpstr>Introduction</vt:lpstr>
      <vt:lpstr>Cybercrime and the Legal Landscape around the World</vt:lpstr>
      <vt:lpstr>Cybercrime and the Legal Landscape around the World</vt:lpstr>
      <vt:lpstr>Cybercrime and the Legal Landscape around the World</vt:lpstr>
      <vt:lpstr>Cybercrime and the Legal Landscape around the World</vt:lpstr>
      <vt:lpstr>Cybercrime and the Legal Landscape around the World</vt:lpstr>
      <vt:lpstr>Cybercrime and the Legal Landscape around the World</vt:lpstr>
      <vt:lpstr>Cybercrime and the Legal Landscape around the World</vt:lpstr>
      <vt:lpstr>Cybercrime and the Legal Landscape around the World</vt:lpstr>
      <vt:lpstr>Cybercrime and the Legal Landscape around the World</vt:lpstr>
      <vt:lpstr>Cybercrime and the Legal Landscape around the World</vt:lpstr>
      <vt:lpstr>Cybercrime and the Legal Landscape around the World</vt:lpstr>
      <vt:lpstr>Cybercrime and the Legal Landscape around the World</vt:lpstr>
      <vt:lpstr>Why Do We Need Cyber laws: The Indian Context</vt:lpstr>
      <vt:lpstr>Why Do We Need Cyber laws: The Indian Context</vt:lpstr>
      <vt:lpstr>The Indian IT Act</vt:lpstr>
      <vt:lpstr>The Indian IT Act</vt:lpstr>
      <vt:lpstr>The Indian IT Act</vt:lpstr>
      <vt:lpstr>The Indian IT Act</vt:lpstr>
      <vt:lpstr>The Indian IT Act</vt:lpstr>
      <vt:lpstr>The Indian IT Act</vt:lpstr>
      <vt:lpstr>The Indian IT Act</vt:lpstr>
      <vt:lpstr>Amendments to the Indian IT Act</vt:lpstr>
      <vt:lpstr>Challenges to Indian Law and Cybercrime Scenario in India</vt:lpstr>
      <vt:lpstr>Challenges to Indian Law and Cybercrime Scenario in India</vt:lpstr>
      <vt:lpstr>Cybercrime and Punishment</vt:lpstr>
      <vt:lpstr>Cybercrime and Punishment</vt:lpstr>
      <vt:lpstr>Digital Signatures and the Indian IT Act</vt:lpstr>
      <vt:lpstr>Digital Signatures and the Indian IT Act</vt:lpstr>
      <vt:lpstr>Digital Signatures and the Indian IT Act</vt:lpstr>
      <vt:lpstr>Digital Signatures and the Indian IT Act</vt:lpstr>
      <vt:lpstr>Digital Signatures and the Indian IT Act</vt:lpstr>
      <vt:lpstr>Digital Signatures and the Indian IT Act</vt:lpstr>
      <vt:lpstr>Cyber law, Technology and Students: Indian Scenario</vt:lpstr>
      <vt:lpstr>Cyber law, Technology and Students: Indian Scenario</vt:lpstr>
      <vt:lpstr>Cyber law, Technology and Students: Indian Scenario</vt:lpstr>
      <vt:lpstr>Latest News</vt:lpstr>
      <vt:lpstr>Latest News</vt:lpstr>
      <vt:lpstr>Latest News</vt:lpstr>
      <vt:lpstr>Latest News</vt:lpstr>
      <vt:lpstr>Latest News</vt:lpstr>
      <vt:lpstr>Latest News</vt:lpstr>
      <vt:lpstr>Latest News</vt:lpstr>
      <vt:lpstr>Latest News</vt:lpstr>
      <vt:lpstr>Latest News</vt:lpstr>
      <vt:lpstr>Latest News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 501 : CYBER SECURITY</dc:title>
  <dc:creator>Administrator</dc:creator>
  <cp:lastModifiedBy>Darshana Yadav</cp:lastModifiedBy>
  <cp:revision>21</cp:revision>
  <dcterms:modified xsi:type="dcterms:W3CDTF">2022-10-06T05:23:27Z</dcterms:modified>
</cp:coreProperties>
</file>